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-4191000"/>
            <a:ext cx="11239500" cy="11239500"/>
          </a:xfrm>
          <a:prstGeom prst="rect">
            <a:avLst/>
          </a:prstGeom>
        </p:spPr>
      </p:pic>
      <p:pic>
        <p:nvPicPr>
          <p:cNvPr id="3" name="Picture 2" descr="robot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0"/>
            <a:ext cx="74295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2914650"/>
            <a:ext cx="342900" cy="23812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8750" y="2790825"/>
            <a:ext cx="8572500" cy="266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spc="300">
                <a:solidFill>
                  <a:srgbClr val="FA730E"/>
                </a:solidFill>
                <a:latin typeface="Segoe UI"/>
                <a:ea typeface="微软雅黑"/>
              </a:rPr>
              <a:t>SERIES A · A 轮融资路演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90900"/>
            <a:ext cx="9525000" cy="276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7000" b="0">
                <a:solidFill>
                  <a:srgbClr val="1B1C1F"/>
                </a:solidFill>
                <a:latin typeface="微软雅黑"/>
                <a:ea typeface="微软雅黑"/>
              </a:rPr>
              <a:t>让机器人，</a:t>
            </a:r>
          </a:p>
          <a:p>
            <a:pPr algn="l">
              <a:lnSpc>
                <a:spcPct val="130000"/>
              </a:lnSpc>
            </a:pPr>
            <a:r>
              <a:rPr sz="7000" b="0">
                <a:solidFill>
                  <a:srgbClr val="FA730E"/>
                </a:solidFill>
                <a:latin typeface="微软雅黑"/>
                <a:ea typeface="微软雅黑"/>
              </a:rPr>
              <a:t>像人一样</a:t>
            </a:r>
            <a:r>
              <a:rPr sz="7000" b="0">
                <a:solidFill>
                  <a:srgbClr val="1B1C1F"/>
                </a:solidFill>
                <a:latin typeface="微软雅黑"/>
                <a:ea typeface="微软雅黑"/>
              </a:rPr>
              <a:t>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24600"/>
            <a:ext cx="8763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0">
                <a:solidFill>
                  <a:srgbClr val="75726B"/>
                </a:solidFill>
                <a:latin typeface="微软雅黑"/>
                <a:ea typeface="微软雅黑"/>
              </a:rPr>
              <a:t>通用人形机器人 · 从灯塔场景，走向规模化落地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115300"/>
            <a:ext cx="8763000" cy="60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200000"/>
              </a:lnSpc>
            </a:pPr>
            <a:r>
              <a:rPr sz="1050" b="1" spc="150">
                <a:solidFill>
                  <a:srgbClr val="75726B"/>
                </a:solidFill>
                <a:latin typeface="Segoe UI"/>
                <a:ea typeface="微软雅黑"/>
              </a:rPr>
              <a:t>CONFIDENTIAL</a:t>
            </a:r>
            <a:r>
              <a:rPr sz="1050" b="0">
                <a:solidFill>
                  <a:srgbClr val="918E86"/>
                </a:solidFill>
                <a:latin typeface="微软雅黑"/>
                <a:ea typeface="微软雅黑"/>
              </a:rPr>
              <a:t> · 本材料仅供潜在投资人查阅</a:t>
            </a:r>
          </a:p>
          <a:p>
            <a:pPr algn="l"/>
            <a:r>
              <a:rPr sz="1050" b="0" spc="100">
                <a:solidFill>
                  <a:srgbClr val="918E86"/>
                </a:solidFill>
                <a:latin typeface="Segoe UI"/>
                <a:ea typeface="微软雅黑"/>
              </a:rPr>
              <a:t>2026.10 · 含前瞻性陈述，不构成投资建议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876300" y="9886950"/>
            <a:ext cx="76200" cy="76200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3950" y="9810750"/>
            <a:ext cx="6667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spc="180">
                <a:solidFill>
                  <a:srgbClr val="918E86"/>
                </a:solidFill>
                <a:latin typeface="Segoe UI"/>
                <a:ea typeface="微软雅黑"/>
              </a:rPr>
              <a:t>HUMANOID ROBOT · SERIES A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0" y="9810750"/>
            <a:ext cx="3238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200" b="1">
                <a:solidFill>
                  <a:srgbClr val="75726B"/>
                </a:solidFill>
                <a:latin typeface="Segoe UI"/>
                <a:ea typeface="微软雅黑"/>
              </a:rPr>
              <a:t>01</a:t>
            </a:r>
            <a:r>
              <a:rPr sz="1200" b="0">
                <a:solidFill>
                  <a:srgbClr val="918E86"/>
                </a:solidFill>
                <a:latin typeface="Segoe UI"/>
                <a:ea typeface="微软雅黑"/>
              </a:rPr>
              <a:t>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0267950"/>
            <a:ext cx="18288000" cy="1905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0267950"/>
            <a:ext cx="2286000" cy="19050"/>
          </a:xfrm>
          <a:prstGeom prst="rect">
            <a:avLst/>
          </a:prstGeom>
          <a:gradFill rotWithShape="1">
            <a:gsLst>
              <a:gs pos="0">
                <a:srgbClr val="F9C79C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-4191000"/>
            <a:ext cx="11239500" cy="11239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742950"/>
            <a:ext cx="342900" cy="23812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90650" y="619125"/>
            <a:ext cx="8572500" cy="266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spc="300">
                <a:solidFill>
                  <a:srgbClr val="FA730E"/>
                </a:solidFill>
                <a:latin typeface="Segoe UI"/>
                <a:ea typeface="微软雅黑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1028700"/>
            <a:ext cx="13335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1B1C1F"/>
                </a:solidFill>
                <a:latin typeface="微软雅黑"/>
                <a:ea typeface="微软雅黑"/>
              </a:rPr>
              <a:t>三股力量，正把人形机器人推过</a:t>
            </a:r>
            <a:r>
              <a:rPr sz="3600" b="0">
                <a:solidFill>
                  <a:srgbClr val="FA730E"/>
                </a:solidFill>
                <a:latin typeface="微软雅黑"/>
                <a:ea typeface="微软雅黑"/>
              </a:rPr>
              <a:t>商用拐点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809750"/>
            <a:ext cx="12382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>
                <a:solidFill>
                  <a:srgbClr val="75726B"/>
                </a:solidFill>
                <a:latin typeface="微软雅黑"/>
                <a:ea typeface="微软雅黑"/>
              </a:rPr>
              <a:t>技术、成本、需求，在 2025–2026 年首次同时到位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6300" y="2933700"/>
            <a:ext cx="5143500" cy="41148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200" y="3219450"/>
            <a:ext cx="19050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spc="50">
                <a:solidFill>
                  <a:srgbClr val="FA730E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9700" y="3200400"/>
            <a:ext cx="476250" cy="476250"/>
          </a:xfrm>
          <a:prstGeom prst="roundRect">
            <a:avLst>
              <a:gd name="adj" fmla="val 26000"/>
            </a:avLst>
          </a:prstGeom>
          <a:noFill/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25" y="3324225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19200" y="3886200"/>
            <a:ext cx="44767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100" b="1">
                <a:solidFill>
                  <a:srgbClr val="1B1C1F"/>
                </a:solidFill>
                <a:latin typeface="微软雅黑"/>
                <a:ea typeface="微软雅黑"/>
              </a:rPr>
              <a:t>技术拐点 · 认知突破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4343400"/>
            <a:ext cx="44577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多模态大模型 × VLA（Vision-Language-Action）架构成熟，机器人第一次获得对物理世界的理解与泛化能力。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9200" y="6400800"/>
            <a:ext cx="1809174" cy="400050"/>
          </a:xfrm>
          <a:prstGeom prst="roundRect">
            <a:avLst>
              <a:gd name="adj" fmla="val 50000"/>
            </a:avLst>
          </a:prstGeom>
          <a:solidFill>
            <a:srgbClr val="FFFBF6"/>
          </a:solidFill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2550" y="6400800"/>
            <a:ext cx="1599624" cy="4000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FA730E"/>
                </a:solidFill>
                <a:latin typeface="Segoe UI"/>
                <a:ea typeface="微软雅黑"/>
              </a:rPr>
              <a:t>VLA</a:t>
            </a:r>
            <a:r>
              <a:rPr sz="1050" b="0">
                <a:solidFill>
                  <a:srgbClr val="75726B"/>
                </a:solidFill>
                <a:latin typeface="微软雅黑"/>
                <a:ea typeface="微软雅黑"/>
              </a:rPr>
              <a:t> 2025 年成为行业主线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2250" y="2933700"/>
            <a:ext cx="5143500" cy="41148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5150" y="3219450"/>
            <a:ext cx="19050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spc="50">
                <a:solidFill>
                  <a:srgbClr val="FA730E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5650" y="3200400"/>
            <a:ext cx="476250" cy="476250"/>
          </a:xfrm>
          <a:prstGeom prst="roundRect">
            <a:avLst>
              <a:gd name="adj" fmla="val 26000"/>
            </a:avLst>
          </a:prstGeom>
          <a:noFill/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9475" y="3324225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15150" y="3886200"/>
            <a:ext cx="44767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100" b="1">
                <a:solidFill>
                  <a:srgbClr val="1B1C1F"/>
                </a:solidFill>
                <a:latin typeface="微软雅黑"/>
                <a:ea typeface="微软雅黑"/>
              </a:rPr>
              <a:t>成本拐点 · 供应链成熟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5150" y="4343400"/>
            <a:ext cx="44577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谐波减速器、空心杯电机、行星滚柱丝杠全面国产化，核心零部件 5 年降本约 60%，整机进入商业可行区间。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15150" y="6400800"/>
            <a:ext cx="1731850" cy="400050"/>
          </a:xfrm>
          <a:prstGeom prst="roundRect">
            <a:avLst>
              <a:gd name="adj" fmla="val 50000"/>
            </a:avLst>
          </a:prstGeom>
          <a:solidFill>
            <a:srgbClr val="FFFBF6"/>
          </a:solidFill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0" y="6400800"/>
            <a:ext cx="1522300" cy="4000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FA730E"/>
                </a:solidFill>
                <a:latin typeface="Segoe UI"/>
                <a:ea typeface="微软雅黑"/>
              </a:rPr>
              <a:t>BOM</a:t>
            </a:r>
            <a:r>
              <a:rPr sz="1050" b="0">
                <a:solidFill>
                  <a:srgbClr val="75726B"/>
                </a:solidFill>
                <a:latin typeface="微软雅黑"/>
                <a:ea typeface="微软雅黑"/>
              </a:rPr>
              <a:t> 核心部件 5 年 ↓ 60%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268200" y="2933700"/>
            <a:ext cx="5143500" cy="41148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1100" y="3219450"/>
            <a:ext cx="190500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spc="50">
                <a:solidFill>
                  <a:srgbClr val="FA730E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611600" y="3200400"/>
            <a:ext cx="476250" cy="476250"/>
          </a:xfrm>
          <a:prstGeom prst="roundRect">
            <a:avLst>
              <a:gd name="adj" fmla="val 26000"/>
            </a:avLst>
          </a:prstGeom>
          <a:noFill/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5425" y="3324225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611100" y="3886200"/>
            <a:ext cx="44767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100" b="1">
                <a:solidFill>
                  <a:srgbClr val="1B1C1F"/>
                </a:solidFill>
                <a:latin typeface="微软雅黑"/>
                <a:ea typeface="微软雅黑"/>
              </a:rPr>
              <a:t>需求拐点 · 用工倒逼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1100" y="4343400"/>
            <a:ext cx="44577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制造业用工缺口持续扩大，重复、高危岗位招工难；具身智能首次写入国家战略部署，政策窗口全面打开。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611100" y="6400800"/>
            <a:ext cx="2193126" cy="400050"/>
          </a:xfrm>
          <a:prstGeom prst="roundRect">
            <a:avLst>
              <a:gd name="adj" fmla="val 50000"/>
            </a:avLst>
          </a:prstGeom>
          <a:solidFill>
            <a:srgbClr val="FFFBF6"/>
          </a:solidFill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744450" y="6400800"/>
            <a:ext cx="1983576" cy="4000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FA730E"/>
                </a:solidFill>
                <a:latin typeface="Segoe UI"/>
                <a:ea typeface="微软雅黑"/>
              </a:rPr>
              <a:t>政策</a:t>
            </a:r>
            <a:r>
              <a:rPr sz="1050" b="0">
                <a:solidFill>
                  <a:srgbClr val="75726B"/>
                </a:solidFill>
                <a:latin typeface="微软雅黑"/>
                <a:ea typeface="微软雅黑"/>
              </a:rPr>
              <a:t> 具身智能 = 国家战略级议题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" y="8048625"/>
            <a:ext cx="16535400" cy="9525"/>
          </a:xfrm>
          <a:prstGeom prst="rect">
            <a:avLst/>
          </a:prstGeom>
          <a:gradFill rotWithShape="1">
            <a:gsLst>
              <a:gs pos="0">
                <a:srgbClr val="D8D5CE"/>
              </a:gs>
              <a:gs pos="100000">
                <a:srgbClr val="F0C7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41982" y="7996238"/>
            <a:ext cx="114300" cy="114300"/>
          </a:xfrm>
          <a:prstGeom prst="ellipse">
            <a:avLst/>
          </a:prstGeom>
          <a:solidFill>
            <a:srgbClr val="F5F5F3"/>
          </a:solidFill>
          <a:ln w="9525">
            <a:solidFill>
              <a:srgbClr val="918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882" y="8229600"/>
            <a:ext cx="24765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 spc="80">
                <a:solidFill>
                  <a:srgbClr val="75726B"/>
                </a:solidFill>
                <a:latin typeface="Segoe UI"/>
                <a:ea typeface="微软雅黑"/>
              </a:rPr>
              <a:t>2021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257" y="8534400"/>
            <a:ext cx="333375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918E86"/>
                </a:solidFill>
                <a:latin typeface="微软雅黑"/>
                <a:ea typeface="微软雅黑"/>
              </a:rPr>
              <a:t>Tesla AI Day 点燃人形机器人想象</a:t>
            </a:r>
          </a:p>
        </p:txBody>
      </p:sp>
      <p:sp>
        <p:nvSpPr>
          <p:cNvPr id="35" name="Oval 34"/>
          <p:cNvSpPr/>
          <p:nvPr/>
        </p:nvSpPr>
        <p:spPr>
          <a:xfrm>
            <a:off x="6771894" y="7996238"/>
            <a:ext cx="114300" cy="114300"/>
          </a:xfrm>
          <a:prstGeom prst="ellipse">
            <a:avLst/>
          </a:prstGeom>
          <a:solidFill>
            <a:srgbClr val="F5F5F3"/>
          </a:solidFill>
          <a:ln w="9525">
            <a:solidFill>
              <a:srgbClr val="918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90794" y="8229600"/>
            <a:ext cx="24765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 spc="80">
                <a:solidFill>
                  <a:srgbClr val="75726B"/>
                </a:solidFill>
                <a:latin typeface="Segoe UI"/>
                <a:ea typeface="微软雅黑"/>
              </a:rPr>
              <a:t>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2169" y="8534400"/>
            <a:ext cx="333375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918E86"/>
                </a:solidFill>
                <a:latin typeface="微软雅黑"/>
                <a:ea typeface="微软雅黑"/>
              </a:rPr>
              <a:t>多模态大模型元年，AI 学会「看懂」世界</a:t>
            </a:r>
          </a:p>
        </p:txBody>
      </p:sp>
      <p:sp>
        <p:nvSpPr>
          <p:cNvPr id="38" name="Oval 37"/>
          <p:cNvSpPr/>
          <p:nvPr/>
        </p:nvSpPr>
        <p:spPr>
          <a:xfrm>
            <a:off x="11401806" y="7996238"/>
            <a:ext cx="114300" cy="114300"/>
          </a:xfrm>
          <a:prstGeom prst="ellipse">
            <a:avLst/>
          </a:prstGeom>
          <a:solidFill>
            <a:srgbClr val="F5F5F3"/>
          </a:solidFill>
          <a:ln w="9525">
            <a:solidFill>
              <a:srgbClr val="918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20706" y="8229600"/>
            <a:ext cx="24765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 spc="80">
                <a:solidFill>
                  <a:srgbClr val="75726B"/>
                </a:solidFill>
                <a:latin typeface="Segoe UI"/>
                <a:ea typeface="微软雅黑"/>
              </a:rPr>
              <a:t>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2081" y="8534400"/>
            <a:ext cx="333375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918E86"/>
                </a:solidFill>
                <a:latin typeface="微软雅黑"/>
                <a:ea typeface="微软雅黑"/>
              </a:rPr>
              <a:t>具身智能写入国家战略，VLA 成为主线</a:t>
            </a:r>
          </a:p>
        </p:txBody>
      </p:sp>
      <p:sp>
        <p:nvSpPr>
          <p:cNvPr id="41" name="Oval 40"/>
          <p:cNvSpPr/>
          <p:nvPr/>
        </p:nvSpPr>
        <p:spPr>
          <a:xfrm>
            <a:off x="16031718" y="7996238"/>
            <a:ext cx="114300" cy="114300"/>
          </a:xfrm>
          <a:prstGeom prst="ellipse">
            <a:avLst/>
          </a:prstGeom>
          <a:solidFill>
            <a:srgbClr val="FA730E"/>
          </a:solidFill>
          <a:ln w="9525">
            <a:solidFill>
              <a:srgbClr val="FA73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850618" y="8229600"/>
            <a:ext cx="24765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 spc="80">
                <a:solidFill>
                  <a:srgbClr val="FA730E"/>
                </a:solidFill>
                <a:latin typeface="Segoe UI"/>
                <a:ea typeface="微软雅黑"/>
              </a:rPr>
              <a:t>NOW ·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21993" y="8534400"/>
            <a:ext cx="333375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918E86"/>
                </a:solidFill>
                <a:latin typeface="微软雅黑"/>
                <a:ea typeface="微软雅黑"/>
              </a:rPr>
              <a:t>规模化商用前夜，卡位正当时</a:t>
            </a:r>
          </a:p>
        </p:txBody>
      </p:sp>
      <p:sp>
        <p:nvSpPr>
          <p:cNvPr id="44" name="Rectangle 43"/>
          <p:cNvSpPr/>
          <p:nvPr/>
        </p:nvSpPr>
        <p:spPr>
          <a:xfrm rot="2700000">
            <a:off x="876300" y="9886950"/>
            <a:ext cx="76200" cy="76200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3950" y="9810750"/>
            <a:ext cx="6667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spc="180">
                <a:solidFill>
                  <a:srgbClr val="918E86"/>
                </a:solidFill>
                <a:latin typeface="Segoe UI"/>
                <a:ea typeface="微软雅黑"/>
              </a:rPr>
              <a:t>HUMANOID ROBOT · SERIES A DECK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0" y="9810750"/>
            <a:ext cx="3238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200" b="1">
                <a:solidFill>
                  <a:srgbClr val="75726B"/>
                </a:solidFill>
                <a:latin typeface="Segoe UI"/>
                <a:ea typeface="微软雅黑"/>
              </a:rPr>
              <a:t>02</a:t>
            </a:r>
            <a:r>
              <a:rPr sz="1200" b="0">
                <a:solidFill>
                  <a:srgbClr val="918E86"/>
                </a:solidFill>
                <a:latin typeface="Segoe UI"/>
                <a:ea typeface="微软雅黑"/>
              </a:rPr>
              <a:t> / 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10267950"/>
            <a:ext cx="18288000" cy="1905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10267950"/>
            <a:ext cx="4572000" cy="19050"/>
          </a:xfrm>
          <a:prstGeom prst="rect">
            <a:avLst/>
          </a:prstGeom>
          <a:gradFill rotWithShape="1">
            <a:gsLst>
              <a:gs pos="0">
                <a:srgbClr val="F9C79C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91000" y="3619500"/>
            <a:ext cx="11239500" cy="11239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742950"/>
            <a:ext cx="342900" cy="23812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90650" y="619125"/>
            <a:ext cx="8572500" cy="266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spc="300">
                <a:solidFill>
                  <a:srgbClr val="FA730E"/>
                </a:solidFill>
                <a:latin typeface="Segoe UI"/>
                <a:ea typeface="微软雅黑"/>
              </a:rPr>
              <a:t>THE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1028700"/>
            <a:ext cx="13335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1B1C1F"/>
                </a:solidFill>
                <a:latin typeface="微软雅黑"/>
                <a:ea typeface="微软雅黑"/>
              </a:rPr>
              <a:t>刚需，不需要被教育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809750"/>
            <a:ext cx="12382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>
                <a:solidFill>
                  <a:srgbClr val="75726B"/>
                </a:solidFill>
                <a:latin typeface="微软雅黑"/>
                <a:ea typeface="微软雅黑"/>
              </a:rPr>
              <a:t>劳动力市场的三个结构性事实，决定了人形机器人的需求上限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876300" y="3067050"/>
            <a:ext cx="5143500" cy="9525"/>
          </a:xfrm>
          <a:prstGeom prst="rect">
            <a:avLst/>
          </a:prstGeom>
          <a:solidFill>
            <a:srgbClr val="F0C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3409950"/>
            <a:ext cx="5143500" cy="1238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600" b="1">
                <a:solidFill>
                  <a:srgbClr val="FA730E"/>
                </a:solidFill>
                <a:latin typeface="Segoe UI"/>
                <a:ea typeface="微软雅黑"/>
              </a:rPr>
              <a:t>3,000</a:t>
            </a:r>
            <a:r>
              <a:rPr sz="4000" b="1">
                <a:solidFill>
                  <a:srgbClr val="FA730E"/>
                </a:solidFill>
                <a:latin typeface="微软雅黑"/>
                <a:ea typeface="微软雅黑"/>
              </a:rPr>
              <a:t>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762500"/>
            <a:ext cx="4857750" cy="666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B1C1F"/>
                </a:solidFill>
                <a:latin typeface="微软雅黑"/>
                <a:ea typeface="微软雅黑"/>
              </a:rPr>
              <a:t>2025 年制造业技能人才缺口预测，招工难已成产能瓶颈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5505450"/>
            <a:ext cx="48577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spc="80">
                <a:solidFill>
                  <a:srgbClr val="918E86"/>
                </a:solidFill>
                <a:latin typeface="Segoe UI"/>
                <a:ea typeface="微软雅黑"/>
              </a:rPr>
              <a:t>SOURCE · 人社部及行业公开预测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72250" y="3067050"/>
            <a:ext cx="5143500" cy="9525"/>
          </a:xfrm>
          <a:prstGeom prst="rect">
            <a:avLst/>
          </a:prstGeom>
          <a:solidFill>
            <a:srgbClr val="F0C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2250" y="3409950"/>
            <a:ext cx="5143500" cy="1238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600" b="1">
                <a:solidFill>
                  <a:srgbClr val="FA730E"/>
                </a:solidFill>
                <a:latin typeface="Segoe UI"/>
                <a:ea typeface="微软雅黑"/>
              </a:rPr>
              <a:t>52</a:t>
            </a:r>
            <a:r>
              <a:rPr sz="4000" b="1">
                <a:solidFill>
                  <a:srgbClr val="FA730E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4762500"/>
            <a:ext cx="4857750" cy="666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B1C1F"/>
                </a:solidFill>
                <a:latin typeface="微软雅黑"/>
                <a:ea typeface="微软雅黑"/>
              </a:rPr>
              <a:t>一线重复 / 高危岗位年流失率，留不住人是产线常态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5505450"/>
            <a:ext cx="48577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spc="80">
                <a:solidFill>
                  <a:srgbClr val="918E86"/>
                </a:solidFill>
                <a:latin typeface="Segoe UI"/>
                <a:ea typeface="微软雅黑"/>
              </a:rPr>
              <a:t>SOURCE · 制造业用工调研均值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68200" y="3067050"/>
            <a:ext cx="5143500" cy="9525"/>
          </a:xfrm>
          <a:prstGeom prst="rect">
            <a:avLst/>
          </a:prstGeom>
          <a:solidFill>
            <a:srgbClr val="F0C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68200" y="3409950"/>
            <a:ext cx="5143500" cy="1238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600" b="1">
                <a:solidFill>
                  <a:srgbClr val="FA730E"/>
                </a:solidFill>
                <a:latin typeface="Segoe UI"/>
                <a:ea typeface="微软雅黑"/>
              </a:rPr>
              <a:t>+9</a:t>
            </a:r>
            <a:r>
              <a:rPr sz="4000" b="1">
                <a:solidFill>
                  <a:srgbClr val="FA730E"/>
                </a:solidFill>
                <a:latin typeface="微软雅黑"/>
                <a:ea typeface="微软雅黑"/>
              </a:rPr>
              <a:t>%/年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68200" y="4762500"/>
            <a:ext cx="4857750" cy="666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B1C1F"/>
                </a:solidFill>
                <a:latin typeface="微软雅黑"/>
                <a:ea typeface="微软雅黑"/>
              </a:rPr>
              <a:t>制造业人均用工成本近 5 年复合增速，机器经济性反超临界点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68200" y="5505450"/>
            <a:ext cx="485775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spc="80">
                <a:solidFill>
                  <a:srgbClr val="918E86"/>
                </a:solidFill>
                <a:latin typeface="Segoe UI"/>
                <a:ea typeface="微软雅黑"/>
              </a:rPr>
              <a:t>SOURCE · 国家统计局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6300" y="7239000"/>
            <a:ext cx="16535400" cy="1181100"/>
          </a:xfrm>
          <a:prstGeom prst="roundRect">
            <a:avLst>
              <a:gd name="adj" fmla="val 9677"/>
            </a:avLst>
          </a:prstGeom>
          <a:solidFill>
            <a:srgbClr val="FCF0E1"/>
          </a:solidFill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0600" y="7353300"/>
            <a:ext cx="28575" cy="952500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7239000"/>
            <a:ext cx="15240000" cy="11811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1B1C1F"/>
                </a:solidFill>
                <a:latin typeface="微软雅黑"/>
                <a:ea typeface="微软雅黑"/>
              </a:rPr>
              <a:t>真正的刚需，不是「机器人有多先进」，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1B1C1F"/>
                </a:solidFill>
                <a:latin typeface="微软雅黑"/>
                <a:ea typeface="微软雅黑"/>
              </a:rPr>
              <a:t>而是</a:t>
            </a:r>
            <a:r>
              <a:rPr sz="1900" b="0">
                <a:solidFill>
                  <a:srgbClr val="FA730E"/>
                </a:solidFill>
                <a:latin typeface="微软雅黑"/>
                <a:ea typeface="微软雅黑"/>
              </a:rPr>
              <a:t>人不愿意做、也招不到人</a:t>
            </a:r>
            <a:r>
              <a:rPr sz="1900" b="0">
                <a:solidFill>
                  <a:srgbClr val="1B1C1F"/>
                </a:solidFill>
                <a:latin typeface="微软雅黑"/>
                <a:ea typeface="微软雅黑"/>
              </a:rPr>
              <a:t>的岗位，必须被先填上。</a:t>
            </a:r>
          </a:p>
        </p:txBody>
      </p:sp>
      <p:sp>
        <p:nvSpPr>
          <p:cNvPr id="22" name="Rectangle 21"/>
          <p:cNvSpPr/>
          <p:nvPr/>
        </p:nvSpPr>
        <p:spPr>
          <a:xfrm rot="2700000">
            <a:off x="876300" y="9886950"/>
            <a:ext cx="76200" cy="76200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3950" y="9810750"/>
            <a:ext cx="6667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spc="180">
                <a:solidFill>
                  <a:srgbClr val="918E86"/>
                </a:solidFill>
                <a:latin typeface="Segoe UI"/>
                <a:ea typeface="微软雅黑"/>
              </a:rPr>
              <a:t>HUMANOID ROBOT · SERIES A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0" y="9810750"/>
            <a:ext cx="3238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200" b="1">
                <a:solidFill>
                  <a:srgbClr val="75726B"/>
                </a:solidFill>
                <a:latin typeface="Segoe UI"/>
                <a:ea typeface="微软雅黑"/>
              </a:rPr>
              <a:t>03</a:t>
            </a:r>
            <a:r>
              <a:rPr sz="1200" b="0">
                <a:solidFill>
                  <a:srgbClr val="918E86"/>
                </a:solidFill>
                <a:latin typeface="Segoe UI"/>
                <a:ea typeface="微软雅黑"/>
              </a:rPr>
              <a:t> / 08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0267950"/>
            <a:ext cx="18288000" cy="1905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10267950"/>
            <a:ext cx="6858000" cy="19050"/>
          </a:xfrm>
          <a:prstGeom prst="rect">
            <a:avLst/>
          </a:prstGeom>
          <a:gradFill rotWithShape="1">
            <a:gsLst>
              <a:gs pos="0">
                <a:srgbClr val="F9C79C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-4191000"/>
            <a:ext cx="11239500" cy="11239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742950"/>
            <a:ext cx="342900" cy="23812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90650" y="619125"/>
            <a:ext cx="8572500" cy="266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spc="300">
                <a:solidFill>
                  <a:srgbClr val="FA730E"/>
                </a:solidFill>
                <a:latin typeface="Segoe UI"/>
                <a:ea typeface="微软雅黑"/>
              </a:rP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1028700"/>
            <a:ext cx="13335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1B1C1F"/>
                </a:solidFill>
                <a:latin typeface="微软雅黑"/>
                <a:ea typeface="微软雅黑"/>
              </a:rPr>
              <a:t>一条刚刚抬头的</a:t>
            </a:r>
            <a:r>
              <a:rPr sz="3600" b="0">
                <a:solidFill>
                  <a:srgbClr val="FA730E"/>
                </a:solidFill>
                <a:latin typeface="微软雅黑"/>
                <a:ea typeface="微软雅黑"/>
              </a:rPr>
              <a:t>指数曲线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00400"/>
            <a:ext cx="6286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spc="180">
                <a:solidFill>
                  <a:srgbClr val="75726B"/>
                </a:solidFill>
                <a:latin typeface="Segoe UI"/>
                <a:ea typeface="微软雅黑"/>
              </a:rPr>
              <a:t>TAM · 2035E 全球人形机器人市场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43300"/>
            <a:ext cx="62865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>
                <a:solidFill>
                  <a:srgbClr val="FA730E"/>
                </a:solidFill>
                <a:latin typeface="Segoe UI"/>
                <a:ea typeface="微软雅黑"/>
              </a:rPr>
              <a:t>$</a:t>
            </a:r>
            <a:r>
              <a:rPr sz="7600" b="1">
                <a:solidFill>
                  <a:srgbClr val="FA730E"/>
                </a:solidFill>
                <a:latin typeface="Segoe UI"/>
                <a:ea typeface="微软雅黑"/>
              </a:rPr>
              <a:t>750</a:t>
            </a:r>
            <a:r>
              <a:rPr sz="4000" b="1">
                <a:solidFill>
                  <a:srgbClr val="FA730E"/>
                </a:solidFill>
                <a:latin typeface="微软雅黑"/>
                <a:ea typeface="微软雅黑"/>
              </a:rPr>
              <a:t>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6300" y="4991100"/>
            <a:ext cx="29718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5219700"/>
            <a:ext cx="2514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75726B"/>
                </a:solidFill>
                <a:latin typeface="微软雅黑"/>
                <a:ea typeface="微软雅黑"/>
              </a:rPr>
              <a:t>2050E 长期空间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5505450"/>
            <a:ext cx="25146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>
                <a:solidFill>
                  <a:srgbClr val="FA730E"/>
                </a:solidFill>
                <a:latin typeface="Segoe UI"/>
                <a:ea typeface="微软雅黑"/>
              </a:rPr>
              <a:t>$5T+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5886450"/>
            <a:ext cx="2514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75726B"/>
                </a:solidFill>
                <a:latin typeface="微软雅黑"/>
                <a:ea typeface="微软雅黑"/>
              </a:rPr>
              <a:t>Morgan Stanley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7650" y="4991100"/>
            <a:ext cx="29718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6250" y="5219700"/>
            <a:ext cx="2514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75726B"/>
                </a:solidFill>
                <a:latin typeface="微软雅黑"/>
                <a:ea typeface="微软雅黑"/>
              </a:rPr>
              <a:t>CAGR 2025–2035E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0" y="5505450"/>
            <a:ext cx="25146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>
                <a:solidFill>
                  <a:srgbClr val="FA730E"/>
                </a:solidFill>
                <a:latin typeface="Segoe UI"/>
                <a:ea typeface="微软雅黑"/>
              </a:rPr>
              <a:t>≈ 44%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6250" y="5886450"/>
            <a:ext cx="2514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75726B"/>
                </a:solidFill>
                <a:latin typeface="微软雅黑"/>
                <a:ea typeface="微软雅黑"/>
              </a:rPr>
              <a:t>综合机构预测区间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700" y="27813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918E86"/>
                </a:solidFill>
                <a:latin typeface="Segoe UI"/>
                <a:ea typeface="微软雅黑"/>
              </a:rPr>
              <a:t>全球市场规模 · 单位：十亿美元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2450" y="7620000"/>
            <a:ext cx="1524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75726B"/>
                </a:solidFill>
                <a:latin typeface="Segoe UI"/>
                <a:ea typeface="微软雅黑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01050" y="7981950"/>
            <a:ext cx="1066800" cy="1143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A730E"/>
              </a:gs>
              <a:gs pos="100000">
                <a:srgbClr val="F9C79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2450" y="8267700"/>
            <a:ext cx="1524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spc="50">
                <a:solidFill>
                  <a:srgbClr val="918E86"/>
                </a:solidFill>
                <a:latin typeface="Segoe UI"/>
                <a:ea typeface="微软雅黑"/>
              </a:rPr>
              <a:t>2025E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8350" y="7143750"/>
            <a:ext cx="1524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75726B"/>
                </a:solidFill>
                <a:latin typeface="Segoe UI"/>
                <a:ea typeface="微软雅黑"/>
              </a:rPr>
              <a:t>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86950" y="7505700"/>
            <a:ext cx="1066800" cy="590550"/>
          </a:xfrm>
          <a:prstGeom prst="roundRect">
            <a:avLst>
              <a:gd name="adj" fmla="val 9677"/>
            </a:avLst>
          </a:prstGeom>
          <a:gradFill rotWithShape="1">
            <a:gsLst>
              <a:gs pos="0">
                <a:srgbClr val="FA730E"/>
              </a:gs>
              <a:gs pos="100000">
                <a:srgbClr val="F9C79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8350" y="8267700"/>
            <a:ext cx="1524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spc="50">
                <a:solidFill>
                  <a:srgbClr val="918E86"/>
                </a:solidFill>
                <a:latin typeface="Segoe UI"/>
                <a:ea typeface="微软雅黑"/>
              </a:rPr>
              <a:t>2027E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0" y="6324600"/>
            <a:ext cx="1524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75726B"/>
                </a:solidFill>
                <a:latin typeface="Segoe UI"/>
                <a:ea typeface="微软雅黑"/>
              </a:rPr>
              <a:t>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72850" y="6686550"/>
            <a:ext cx="1066800" cy="1409700"/>
          </a:xfrm>
          <a:prstGeom prst="roundRect">
            <a:avLst>
              <a:gd name="adj" fmla="val 5357"/>
            </a:avLst>
          </a:prstGeom>
          <a:gradFill rotWithShape="1">
            <a:gsLst>
              <a:gs pos="0">
                <a:srgbClr val="FA730E"/>
              </a:gs>
              <a:gs pos="100000">
                <a:srgbClr val="F9C79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44250" y="8267700"/>
            <a:ext cx="1524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spc="50">
                <a:solidFill>
                  <a:srgbClr val="918E86"/>
                </a:solidFill>
                <a:latin typeface="Segoe UI"/>
                <a:ea typeface="微软雅黑"/>
              </a:rPr>
              <a:t>2029E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30150" y="5391150"/>
            <a:ext cx="1524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75726B"/>
                </a:solidFill>
                <a:latin typeface="Segoe UI"/>
                <a:ea typeface="微软雅黑"/>
              </a:rPr>
              <a:t>40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58750" y="5753100"/>
            <a:ext cx="1066800" cy="2343150"/>
          </a:xfrm>
          <a:prstGeom prst="roundRect">
            <a:avLst>
              <a:gd name="adj" fmla="val 5357"/>
            </a:avLst>
          </a:prstGeom>
          <a:gradFill rotWithShape="1">
            <a:gsLst>
              <a:gs pos="0">
                <a:srgbClr val="FA730E"/>
              </a:gs>
              <a:gs pos="100000">
                <a:srgbClr val="F9C79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30150" y="8267700"/>
            <a:ext cx="1524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spc="50">
                <a:solidFill>
                  <a:srgbClr val="918E86"/>
                </a:solidFill>
                <a:latin typeface="Segoe UI"/>
                <a:ea typeface="微软雅黑"/>
              </a:rPr>
              <a:t>2031E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16050" y="4486275"/>
            <a:ext cx="1524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75726B"/>
                </a:solidFill>
                <a:latin typeface="Segoe UI"/>
                <a:ea typeface="微软雅黑"/>
              </a:rPr>
              <a:t>55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344650" y="4848225"/>
            <a:ext cx="1066800" cy="3248025"/>
          </a:xfrm>
          <a:prstGeom prst="roundRect">
            <a:avLst>
              <a:gd name="adj" fmla="val 5357"/>
            </a:avLst>
          </a:prstGeom>
          <a:gradFill rotWithShape="1">
            <a:gsLst>
              <a:gs pos="0">
                <a:srgbClr val="FA730E"/>
              </a:gs>
              <a:gs pos="100000">
                <a:srgbClr val="F9C79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16050" y="8267700"/>
            <a:ext cx="1524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spc="50">
                <a:solidFill>
                  <a:srgbClr val="918E86"/>
                </a:solidFill>
                <a:latin typeface="Segoe UI"/>
                <a:ea typeface="微软雅黑"/>
              </a:rPr>
              <a:t>2033E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01950" y="3333750"/>
            <a:ext cx="1524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FA730E"/>
                </a:solidFill>
                <a:latin typeface="Segoe UI"/>
                <a:ea typeface="微软雅黑"/>
              </a:rPr>
              <a:t>75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830550" y="3695700"/>
            <a:ext cx="1066800" cy="4400550"/>
          </a:xfrm>
          <a:prstGeom prst="roundRect">
            <a:avLst>
              <a:gd name="adj" fmla="val 5357"/>
            </a:avLst>
          </a:prstGeom>
          <a:solidFill>
            <a:srgbClr val="FA730E"/>
          </a:solidFill>
          <a:ln>
            <a:noFill/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601950" y="8267700"/>
            <a:ext cx="1524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spc="50">
                <a:solidFill>
                  <a:srgbClr val="75726B"/>
                </a:solidFill>
                <a:latin typeface="Segoe UI"/>
                <a:ea typeface="微软雅黑"/>
              </a:rPr>
              <a:t>2035E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2450" y="8096250"/>
            <a:ext cx="8953500" cy="9525"/>
          </a:xfrm>
          <a:prstGeom prst="rect">
            <a:avLst/>
          </a:prstGeom>
          <a:solidFill>
            <a:srgbClr val="E0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6700" y="8724900"/>
            <a:ext cx="9525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60000"/>
              </a:lnSpc>
            </a:pPr>
            <a:r>
              <a:rPr sz="1000" b="0">
                <a:solidFill>
                  <a:srgbClr val="918E86"/>
                </a:solidFill>
                <a:latin typeface="微软雅黑"/>
                <a:ea typeface="微软雅黑"/>
              </a:rPr>
              <a:t>综合 Goldman Sachs、Morgan Stanley、中国信通院等公开研究整理</a:t>
            </a:r>
          </a:p>
          <a:p>
            <a:pPr algn="r">
              <a:lnSpc>
                <a:spcPct val="160000"/>
              </a:lnSpc>
            </a:pPr>
            <a:r>
              <a:rPr sz="1000" b="0">
                <a:solidFill>
                  <a:srgbClr val="918E86"/>
                </a:solidFill>
                <a:latin typeface="微软雅黑"/>
                <a:ea typeface="微软雅黑"/>
              </a:rPr>
              <a:t>前瞻性预测仅供示意，不构成收益承诺</a:t>
            </a:r>
          </a:p>
        </p:txBody>
      </p:sp>
      <p:sp>
        <p:nvSpPr>
          <p:cNvPr id="37" name="Rectangle 36"/>
          <p:cNvSpPr/>
          <p:nvPr/>
        </p:nvSpPr>
        <p:spPr>
          <a:xfrm rot="2700000">
            <a:off x="876300" y="9886950"/>
            <a:ext cx="76200" cy="76200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3950" y="9810750"/>
            <a:ext cx="6667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spc="180">
                <a:solidFill>
                  <a:srgbClr val="918E86"/>
                </a:solidFill>
                <a:latin typeface="Segoe UI"/>
                <a:ea typeface="微软雅黑"/>
              </a:rPr>
              <a:t>HUMANOID ROBOT · SERIES A DECK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0" y="9810750"/>
            <a:ext cx="3238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200" b="1">
                <a:solidFill>
                  <a:srgbClr val="75726B"/>
                </a:solidFill>
                <a:latin typeface="Segoe UI"/>
                <a:ea typeface="微软雅黑"/>
              </a:rPr>
              <a:t>04</a:t>
            </a:r>
            <a:r>
              <a:rPr sz="1200" b="0">
                <a:solidFill>
                  <a:srgbClr val="918E86"/>
                </a:solidFill>
                <a:latin typeface="Segoe UI"/>
                <a:ea typeface="微软雅黑"/>
              </a:rPr>
              <a:t> / 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10267950"/>
            <a:ext cx="18288000" cy="1905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10267950"/>
            <a:ext cx="9144000" cy="19050"/>
          </a:xfrm>
          <a:prstGeom prst="rect">
            <a:avLst/>
          </a:prstGeom>
          <a:gradFill rotWithShape="1">
            <a:gsLst>
              <a:gs pos="0">
                <a:srgbClr val="F9C79C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91000" y="3619500"/>
            <a:ext cx="11239500" cy="11239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742950"/>
            <a:ext cx="342900" cy="23812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90650" y="619125"/>
            <a:ext cx="8572500" cy="266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spc="300">
                <a:solidFill>
                  <a:srgbClr val="FA730E"/>
                </a:solidFill>
                <a:latin typeface="Segoe UI"/>
                <a:ea typeface="微软雅黑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1028700"/>
            <a:ext cx="13335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1B1C1F"/>
                </a:solidFill>
                <a:latin typeface="微软雅黑"/>
                <a:ea typeface="微软雅黑"/>
              </a:rPr>
              <a:t>从灯塔场景，走向千行百业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809750"/>
            <a:ext cx="12382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>
                <a:solidFill>
                  <a:srgbClr val="75726B"/>
                </a:solidFill>
                <a:latin typeface="微软雅黑"/>
                <a:ea typeface="微软雅黑"/>
              </a:rPr>
              <a:t>首发聚焦</a:t>
            </a:r>
            <a:r>
              <a:rPr sz="1600" b="0">
                <a:solidFill>
                  <a:srgbClr val="FA730E"/>
                </a:solidFill>
                <a:latin typeface="微软雅黑"/>
                <a:ea typeface="微软雅黑"/>
              </a:rPr>
              <a:t>汽车 + 3C 制造</a:t>
            </a:r>
            <a:r>
              <a:rPr sz="1600" b="0">
                <a:solidFill>
                  <a:srgbClr val="75726B"/>
                </a:solidFill>
                <a:latin typeface="微软雅黑"/>
                <a:ea typeface="微软雅黑"/>
              </a:rPr>
              <a:t>：24 个月验证 PMF，再横向复制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6300" y="2781300"/>
            <a:ext cx="7239000" cy="200025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00150" y="3067050"/>
            <a:ext cx="476250" cy="476250"/>
          </a:xfrm>
          <a:prstGeom prst="roundRect">
            <a:avLst>
              <a:gd name="adj" fmla="val 26000"/>
            </a:avLst>
          </a:prstGeom>
          <a:noFill/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5" y="319087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4050" y="308610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1B1C1F"/>
                </a:solidFill>
                <a:latin typeface="微软雅黑"/>
                <a:ea typeface="微软雅黑"/>
              </a:rPr>
              <a:t>3C 电子装配</a:t>
            </a:r>
            <a:r>
              <a:rPr sz="1050" b="0" spc="120">
                <a:solidFill>
                  <a:srgbClr val="918E86"/>
                </a:solidFill>
                <a:latin typeface="Segoe UI"/>
                <a:ea typeface="微软雅黑"/>
              </a:rPr>
              <a:t>  PRECISION ASSEMBLY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4050" y="3467100"/>
            <a:ext cx="5810250" cy="742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柔性上下料、精密插接、在线质检，节拍与产线 OM 对齐，换型 15 分钟完成。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4050" y="4267200"/>
            <a:ext cx="754639" cy="400050"/>
          </a:xfrm>
          <a:prstGeom prst="roundRect">
            <a:avLst>
              <a:gd name="adj" fmla="val 50000"/>
            </a:avLst>
          </a:prstGeom>
          <a:solidFill>
            <a:srgbClr val="FFFBF6"/>
          </a:solidFill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4267200"/>
            <a:ext cx="545089" cy="4000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FA730E"/>
                </a:solidFill>
                <a:latin typeface="Segoe UI"/>
                <a:ea typeface="微软雅黑"/>
              </a:rPr>
              <a:t>CT</a:t>
            </a:r>
            <a:r>
              <a:rPr sz="1050" b="0">
                <a:solidFill>
                  <a:srgbClr val="75726B"/>
                </a:solidFill>
                <a:latin typeface="微软雅黑"/>
                <a:ea typeface="微软雅黑"/>
              </a:rPr>
              <a:t> 4.5s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2989" y="4267200"/>
            <a:ext cx="1227913" cy="400050"/>
          </a:xfrm>
          <a:prstGeom prst="roundRect">
            <a:avLst>
              <a:gd name="adj" fmla="val 50000"/>
            </a:avLst>
          </a:prstGeom>
          <a:solidFill>
            <a:srgbClr val="FFFBF6"/>
          </a:solidFill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339" y="4267200"/>
            <a:ext cx="1018363" cy="4000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FA730E"/>
                </a:solidFill>
                <a:latin typeface="Segoe UI"/>
                <a:ea typeface="微软雅黑"/>
              </a:rPr>
              <a:t>直通率</a:t>
            </a:r>
            <a:r>
              <a:rPr sz="1050" b="0">
                <a:solidFill>
                  <a:srgbClr val="75726B"/>
                </a:solidFill>
                <a:latin typeface="微软雅黑"/>
                <a:ea typeface="微软雅黑"/>
              </a:rPr>
              <a:t> +2.1pct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4933950"/>
            <a:ext cx="7239000" cy="200025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00150" y="5219700"/>
            <a:ext cx="476250" cy="476250"/>
          </a:xfrm>
          <a:prstGeom prst="roundRect">
            <a:avLst>
              <a:gd name="adj" fmla="val 26000"/>
            </a:avLst>
          </a:prstGeom>
          <a:noFill/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975" y="5343525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24050" y="523875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1B1C1F"/>
                </a:solidFill>
                <a:latin typeface="微软雅黑"/>
                <a:ea typeface="微软雅黑"/>
              </a:rPr>
              <a:t>仓储物流</a:t>
            </a:r>
            <a:r>
              <a:rPr sz="1050" b="0" spc="120">
                <a:solidFill>
                  <a:srgbClr val="918E86"/>
                </a:solidFill>
                <a:latin typeface="Segoe UI"/>
                <a:ea typeface="微软雅黑"/>
              </a:rPr>
              <a:t>  24/7 LOGISTICS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4050" y="5619750"/>
            <a:ext cx="5810250" cy="742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拣选、搬运、码垛全流程覆盖，7×24h 连续作业，替代高强度重复人工作业。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4050" y="6419850"/>
            <a:ext cx="1275907" cy="400050"/>
          </a:xfrm>
          <a:prstGeom prst="roundRect">
            <a:avLst>
              <a:gd name="adj" fmla="val 50000"/>
            </a:avLst>
          </a:prstGeom>
          <a:solidFill>
            <a:srgbClr val="FFFBF6"/>
          </a:solidFill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6419850"/>
            <a:ext cx="1066357" cy="4000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FA730E"/>
                </a:solidFill>
                <a:latin typeface="Segoe UI"/>
                <a:ea typeface="微软雅黑"/>
              </a:rPr>
              <a:t>拣选</a:t>
            </a:r>
            <a:r>
              <a:rPr sz="1050" b="0">
                <a:solidFill>
                  <a:srgbClr val="75726B"/>
                </a:solidFill>
                <a:latin typeface="微软雅黑"/>
                <a:ea typeface="微软雅黑"/>
              </a:rPr>
              <a:t> 1,200 件/h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4257" y="6419850"/>
            <a:ext cx="723976" cy="400050"/>
          </a:xfrm>
          <a:prstGeom prst="roundRect">
            <a:avLst>
              <a:gd name="adj" fmla="val 50000"/>
            </a:avLst>
          </a:prstGeom>
          <a:solidFill>
            <a:srgbClr val="FFFBF6"/>
          </a:solidFill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607" y="6419850"/>
            <a:ext cx="514426" cy="4000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FA730E"/>
                </a:solidFill>
                <a:latin typeface="Segoe UI"/>
                <a:ea typeface="微软雅黑"/>
              </a:rPr>
              <a:t>人效</a:t>
            </a:r>
            <a:r>
              <a:rPr sz="1050" b="0">
                <a:solidFill>
                  <a:srgbClr val="75726B"/>
                </a:solidFill>
                <a:latin typeface="微软雅黑"/>
                <a:ea typeface="微软雅黑"/>
              </a:rPr>
              <a:t> ×3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6300" y="7086600"/>
            <a:ext cx="7239000" cy="200025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00150" y="7372350"/>
            <a:ext cx="476250" cy="476250"/>
          </a:xfrm>
          <a:prstGeom prst="roundRect">
            <a:avLst>
              <a:gd name="adj" fmla="val 26000"/>
            </a:avLst>
          </a:prstGeom>
          <a:noFill/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975" y="7496175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24050" y="7391400"/>
            <a:ext cx="5715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1B1C1F"/>
                </a:solidFill>
                <a:latin typeface="微软雅黑"/>
                <a:ea typeface="微软雅黑"/>
              </a:rPr>
              <a:t>特种与高危作业</a:t>
            </a:r>
            <a:r>
              <a:rPr sz="1050" b="0" spc="120">
                <a:solidFill>
                  <a:srgbClr val="918E86"/>
                </a:solidFill>
                <a:latin typeface="Segoe UI"/>
                <a:ea typeface="微软雅黑"/>
              </a:rPr>
              <a:t>  HAZARD-FREE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4050" y="7772400"/>
            <a:ext cx="5810250" cy="742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电力巡检、危化园区值守，替代人进入危险区域，事故暴露风险降为零。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4050" y="8572500"/>
            <a:ext cx="917285" cy="400050"/>
          </a:xfrm>
          <a:prstGeom prst="roundRect">
            <a:avLst>
              <a:gd name="adj" fmla="val 50000"/>
            </a:avLst>
          </a:prstGeom>
          <a:solidFill>
            <a:srgbClr val="FFFBF6"/>
          </a:solidFill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8572500"/>
            <a:ext cx="707735" cy="4000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FA730E"/>
                </a:solidFill>
                <a:latin typeface="Segoe UI"/>
                <a:ea typeface="微软雅黑"/>
              </a:rPr>
              <a:t>高危暴露</a:t>
            </a:r>
            <a:r>
              <a:rPr sz="1050" b="0">
                <a:solidFill>
                  <a:srgbClr val="75726B"/>
                </a:solidFill>
                <a:latin typeface="微软雅黑"/>
                <a:ea typeface="微软雅黑"/>
              </a:rPr>
              <a:t> 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55635" y="8572500"/>
            <a:ext cx="973278" cy="400050"/>
          </a:xfrm>
          <a:prstGeom prst="roundRect">
            <a:avLst>
              <a:gd name="adj" fmla="val 50000"/>
            </a:avLst>
          </a:prstGeom>
          <a:solidFill>
            <a:srgbClr val="FFFBF6"/>
          </a:solidFill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88985" y="8572500"/>
            <a:ext cx="763728" cy="4000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>
                <a:solidFill>
                  <a:srgbClr val="FA730E"/>
                </a:solidFill>
                <a:latin typeface="Segoe UI"/>
                <a:ea typeface="微软雅黑"/>
              </a:rPr>
              <a:t>值守</a:t>
            </a:r>
            <a:r>
              <a:rPr sz="1050" b="0">
                <a:solidFill>
                  <a:srgbClr val="75726B"/>
                </a:solidFill>
                <a:latin typeface="微软雅黑"/>
                <a:ea typeface="微软雅黑"/>
              </a:rPr>
              <a:t> 全天候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8700" y="2781300"/>
            <a:ext cx="8763000" cy="6324600"/>
          </a:xfrm>
          <a:prstGeom prst="roundRect">
            <a:avLst>
              <a:gd name="adj" fmla="val 2409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s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8700" y="2781300"/>
            <a:ext cx="8763000" cy="5448300"/>
          </a:xfrm>
          <a:prstGeom prst="roundRect">
            <a:avLst>
              <a:gd name="adj" fmla="val 2797"/>
            </a:avLst>
          </a:prstGeom>
        </p:spPr>
      </p:pic>
      <p:sp>
        <p:nvSpPr>
          <p:cNvPr id="36" name="TextBox 35"/>
          <p:cNvSpPr txBox="1"/>
          <p:nvPr/>
        </p:nvSpPr>
        <p:spPr>
          <a:xfrm>
            <a:off x="8934450" y="8610600"/>
            <a:ext cx="47625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75726B"/>
                </a:solidFill>
                <a:latin typeface="微软雅黑"/>
                <a:ea typeface="微软雅黑"/>
              </a:rPr>
              <a:t>智能制造柔性产线 · 场景示意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15700" y="8610600"/>
            <a:ext cx="5334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918E86"/>
                </a:solidFill>
                <a:latin typeface="Segoe UI"/>
                <a:ea typeface="微软雅黑"/>
              </a:rPr>
              <a:t>ISOMETRIC CONCEPT</a:t>
            </a:r>
          </a:p>
        </p:txBody>
      </p:sp>
      <p:sp>
        <p:nvSpPr>
          <p:cNvPr id="38" name="Rectangle 37"/>
          <p:cNvSpPr/>
          <p:nvPr/>
        </p:nvSpPr>
        <p:spPr>
          <a:xfrm rot="2700000">
            <a:off x="876300" y="9886950"/>
            <a:ext cx="76200" cy="76200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3950" y="9810750"/>
            <a:ext cx="6667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spc="180">
                <a:solidFill>
                  <a:srgbClr val="918E86"/>
                </a:solidFill>
                <a:latin typeface="Segoe UI"/>
                <a:ea typeface="微软雅黑"/>
              </a:rPr>
              <a:t>HUMANOID ROBOT · SERIES A DECK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0" y="9810750"/>
            <a:ext cx="3238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200" b="1">
                <a:solidFill>
                  <a:srgbClr val="75726B"/>
                </a:solidFill>
                <a:latin typeface="Segoe UI"/>
                <a:ea typeface="微软雅黑"/>
              </a:rPr>
              <a:t>05</a:t>
            </a:r>
            <a:r>
              <a:rPr sz="1200" b="0">
                <a:solidFill>
                  <a:srgbClr val="918E86"/>
                </a:solidFill>
                <a:latin typeface="Segoe UI"/>
                <a:ea typeface="微软雅黑"/>
              </a:rPr>
              <a:t> / 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10267950"/>
            <a:ext cx="18288000" cy="1905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10267950"/>
            <a:ext cx="11430000" cy="19050"/>
          </a:xfrm>
          <a:prstGeom prst="rect">
            <a:avLst/>
          </a:prstGeom>
          <a:gradFill rotWithShape="1">
            <a:gsLst>
              <a:gs pos="0">
                <a:srgbClr val="F9C79C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-4191000"/>
            <a:ext cx="11239500" cy="11239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742950"/>
            <a:ext cx="342900" cy="23812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90650" y="619125"/>
            <a:ext cx="8572500" cy="266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spc="300">
                <a:solidFill>
                  <a:srgbClr val="FA730E"/>
                </a:solidFill>
                <a:latin typeface="Segoe UI"/>
                <a:ea typeface="微软雅黑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1028700"/>
            <a:ext cx="13335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1B1C1F"/>
                </a:solidFill>
                <a:latin typeface="微软雅黑"/>
                <a:ea typeface="微软雅黑"/>
              </a:rPr>
              <a:t>不止卖硬件：</a:t>
            </a:r>
            <a:r>
              <a:rPr sz="3600" b="0">
                <a:solidFill>
                  <a:srgbClr val="FA730E"/>
                </a:solidFill>
                <a:latin typeface="微软雅黑"/>
                <a:ea typeface="微软雅黑"/>
              </a:rPr>
              <a:t>四条收入曲线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2857500"/>
            <a:ext cx="8153400" cy="9525"/>
          </a:xfrm>
          <a:prstGeom prst="rect">
            <a:avLst/>
          </a:prstGeom>
          <a:solidFill>
            <a:srgbClr val="E8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3238500"/>
            <a:ext cx="57150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>
                <a:solidFill>
                  <a:srgbClr val="FA730E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2100" y="320040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1B1C1F"/>
                </a:solidFill>
                <a:latin typeface="微软雅黑"/>
                <a:ea typeface="微软雅黑"/>
              </a:rPr>
              <a:t>整机销售</a:t>
            </a:r>
            <a:r>
              <a:rPr sz="1050" b="0" spc="120">
                <a:solidFill>
                  <a:srgbClr val="918E86"/>
                </a:solidFill>
                <a:latin typeface="Segoe UI"/>
                <a:ea typeface="微软雅黑"/>
              </a:rPr>
              <a:t>  HARDWARE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2100" y="3562350"/>
            <a:ext cx="70866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行业版一次性销售，ASP ¥58 万；规模量产带动边际成本持续下降。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6300" y="4114800"/>
            <a:ext cx="8153400" cy="9525"/>
          </a:xfrm>
          <a:prstGeom prst="rect">
            <a:avLst/>
          </a:prstGeom>
          <a:solidFill>
            <a:srgbClr val="E8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300" y="4495800"/>
            <a:ext cx="57150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>
                <a:solidFill>
                  <a:srgbClr val="FA730E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445770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1B1C1F"/>
                </a:solidFill>
                <a:latin typeface="微软雅黑"/>
                <a:ea typeface="微软雅黑"/>
              </a:rPr>
              <a:t>RaaS 租赁订阅</a:t>
            </a:r>
            <a:r>
              <a:rPr sz="1050" b="0" spc="120">
                <a:solidFill>
                  <a:srgbClr val="918E86"/>
                </a:solidFill>
                <a:latin typeface="Segoe UI"/>
                <a:ea typeface="微软雅黑"/>
              </a:rPr>
              <a:t>  ROBOT AS A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100" y="4819650"/>
            <a:ext cx="70866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¥1.2 万 / 台 / 月，客户 CAPEX 转 OPEX，约 14 个月回本，大幅降低采用门槛。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300" y="5372100"/>
            <a:ext cx="8153400" cy="9525"/>
          </a:xfrm>
          <a:prstGeom prst="rect">
            <a:avLst/>
          </a:prstGeom>
          <a:solidFill>
            <a:srgbClr val="E8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5753100"/>
            <a:ext cx="57150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>
                <a:solidFill>
                  <a:srgbClr val="FA730E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2100" y="571500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1B1C1F"/>
                </a:solidFill>
                <a:latin typeface="微软雅黑"/>
                <a:ea typeface="微软雅黑"/>
              </a:rPr>
              <a:t>技能市场分成</a:t>
            </a:r>
            <a:r>
              <a:rPr sz="1050" b="0" spc="120">
                <a:solidFill>
                  <a:srgbClr val="918E86"/>
                </a:solidFill>
                <a:latin typeface="Segoe UI"/>
                <a:ea typeface="微软雅黑"/>
              </a:rPr>
              <a:t>  SKILL MARKETPLACE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100" y="6076950"/>
            <a:ext cx="70866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第三方开发者上架技能包，平台分成 15%，生态价值随部署量复利增长。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6300" y="6629400"/>
            <a:ext cx="8153400" cy="9525"/>
          </a:xfrm>
          <a:prstGeom prst="rect">
            <a:avLst/>
          </a:prstGeom>
          <a:solidFill>
            <a:srgbClr val="E8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300" y="7010400"/>
            <a:ext cx="57150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>
                <a:solidFill>
                  <a:srgbClr val="FA730E"/>
                </a:solidFill>
                <a:latin typeface="Segoe UI"/>
                <a:ea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2100" y="6972300"/>
            <a:ext cx="6667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1B1C1F"/>
                </a:solidFill>
                <a:latin typeface="微软雅黑"/>
                <a:ea typeface="微软雅黑"/>
              </a:rPr>
              <a:t>运维与备件</a:t>
            </a:r>
            <a:r>
              <a:rPr sz="1050" b="0" spc="120">
                <a:solidFill>
                  <a:srgbClr val="918E86"/>
                </a:solidFill>
                <a:latin typeface="Segoe UI"/>
                <a:ea typeface="微软雅黑"/>
              </a:rPr>
              <a:t>  LIFECYCLE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2100" y="7334250"/>
            <a:ext cx="70866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5 年全生命周期服务合约，预测性维护 + 备件供应，续约率 90%+。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6300" y="7886700"/>
            <a:ext cx="8153400" cy="9525"/>
          </a:xfrm>
          <a:prstGeom prst="rect">
            <a:avLst/>
          </a:prstGeom>
          <a:solidFill>
            <a:srgbClr val="E8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0700" y="2857500"/>
            <a:ext cx="8001000" cy="5524500"/>
          </a:xfrm>
          <a:prstGeom prst="roundRect">
            <a:avLst>
              <a:gd name="adj" fmla="val 2758"/>
            </a:avLst>
          </a:prstGeom>
          <a:solidFill>
            <a:srgbClr val="FCF0E1"/>
          </a:solidFill>
          <a:ln w="9525">
            <a:solidFill>
              <a:srgbClr val="F0C79E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3238500"/>
            <a:ext cx="66675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spc="200">
                <a:solidFill>
                  <a:srgbClr val="FA730E"/>
                </a:solidFill>
                <a:latin typeface="Segoe UI"/>
                <a:ea typeface="微软雅黑"/>
              </a:rPr>
              <a:t>UNIT ECONOMICS · 单台经济模型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543300"/>
            <a:ext cx="6667500" cy="323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50" b="1">
                <a:solidFill>
                  <a:srgbClr val="1B1C1F"/>
                </a:solidFill>
                <a:latin typeface="微软雅黑"/>
                <a:ea typeface="微软雅黑"/>
              </a:rPr>
              <a:t>行业版单台，量产稳态口径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4038600"/>
            <a:ext cx="38100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75726B"/>
                </a:solidFill>
                <a:latin typeface="微软雅黑"/>
                <a:ea typeface="微软雅黑"/>
              </a:rPr>
              <a:t>售价 ASP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82600" y="4019550"/>
            <a:ext cx="3810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900" b="1">
                <a:solidFill>
                  <a:srgbClr val="1B1C1F"/>
                </a:solidFill>
                <a:latin typeface="Segoe UI"/>
                <a:ea typeface="微软雅黑"/>
              </a:rPr>
              <a:t>¥58 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800" y="4419600"/>
            <a:ext cx="7162800" cy="9525"/>
          </a:xfrm>
          <a:prstGeom prst="rect">
            <a:avLst/>
          </a:prstGeom>
          <a:noFill/>
          <a:ln w="9525">
            <a:solidFill>
              <a:srgbClr val="F0D9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4533900"/>
            <a:ext cx="38100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75726B"/>
                </a:solidFill>
                <a:latin typeface="微软雅黑"/>
                <a:ea typeface="微软雅黑"/>
              </a:rPr>
              <a:t>单台成本 BOM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82600" y="4514850"/>
            <a:ext cx="3810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900" b="1">
                <a:solidFill>
                  <a:srgbClr val="1B1C1F"/>
                </a:solidFill>
                <a:latin typeface="Segoe UI"/>
                <a:ea typeface="微软雅黑"/>
              </a:rPr>
              <a:t>¥26 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4914900"/>
            <a:ext cx="7162800" cy="9525"/>
          </a:xfrm>
          <a:prstGeom prst="rect">
            <a:avLst/>
          </a:prstGeom>
          <a:noFill/>
          <a:ln w="9525">
            <a:solidFill>
              <a:srgbClr val="F0D9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5029200"/>
            <a:ext cx="38100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75726B"/>
                </a:solidFill>
                <a:latin typeface="微软雅黑"/>
                <a:ea typeface="微软雅黑"/>
              </a:rPr>
              <a:t>单台毛利 · 毛利率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82600" y="5010150"/>
            <a:ext cx="3810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900" b="1">
                <a:solidFill>
                  <a:srgbClr val="FA730E"/>
                </a:solidFill>
                <a:latin typeface="Segoe UI"/>
                <a:ea typeface="微软雅黑"/>
              </a:rPr>
              <a:t>¥32 万 · 55%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5410200"/>
            <a:ext cx="7162800" cy="9525"/>
          </a:xfrm>
          <a:prstGeom prst="rect">
            <a:avLst/>
          </a:prstGeom>
          <a:noFill/>
          <a:ln w="9525">
            <a:solidFill>
              <a:srgbClr val="F0D9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5524500"/>
            <a:ext cx="38100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75726B"/>
                </a:solidFill>
                <a:latin typeface="微软雅黑"/>
                <a:ea typeface="微软雅黑"/>
              </a:rPr>
              <a:t>RaaS 客户回本周期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82600" y="5505450"/>
            <a:ext cx="3810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900" b="1">
                <a:solidFill>
                  <a:srgbClr val="1B1C1F"/>
                </a:solidFill>
                <a:latin typeface="Segoe UI"/>
                <a:ea typeface="微软雅黑"/>
              </a:rPr>
              <a:t>≈ 14 个月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5905500"/>
            <a:ext cx="7162800" cy="9525"/>
          </a:xfrm>
          <a:prstGeom prst="rect">
            <a:avLst/>
          </a:prstGeom>
          <a:noFill/>
          <a:ln w="9525">
            <a:solidFill>
              <a:srgbClr val="F0D9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6019800"/>
            <a:ext cx="38100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0">
                <a:solidFill>
                  <a:srgbClr val="75726B"/>
                </a:solidFill>
                <a:latin typeface="微软雅黑"/>
                <a:ea typeface="微软雅黑"/>
              </a:rPr>
              <a:t>LTV / CAC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82600" y="6000750"/>
            <a:ext cx="3810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900" b="1">
                <a:solidFill>
                  <a:srgbClr val="1B1C1F"/>
                </a:solidFill>
                <a:latin typeface="Segoe UI"/>
                <a:ea typeface="微软雅黑"/>
              </a:rPr>
              <a:t>6.8×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6591300"/>
            <a:ext cx="7162800" cy="152400"/>
          </a:xfrm>
          <a:prstGeom prst="roundRect">
            <a:avLst>
              <a:gd name="adj" fmla="val 50000"/>
            </a:avLst>
          </a:prstGeom>
          <a:solidFill>
            <a:srgbClr val="F4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829800" y="6591300"/>
            <a:ext cx="3208934" cy="152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5D9BC"/>
              </a:gs>
              <a:gs pos="100000">
                <a:srgbClr val="F0C7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038734" y="6591300"/>
            <a:ext cx="3953866" cy="152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9B87A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9800" y="6858000"/>
            <a:ext cx="3048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75726B"/>
                </a:solidFill>
                <a:latin typeface="微软雅黑"/>
                <a:ea typeface="微软雅黑"/>
              </a:rPr>
              <a:t>成本占比 </a:t>
            </a:r>
            <a:r>
              <a:rPr sz="1200" b="1">
                <a:solidFill>
                  <a:srgbClr val="FA730E"/>
                </a:solidFill>
                <a:latin typeface="Segoe UI"/>
                <a:ea typeface="微软雅黑"/>
              </a:rPr>
              <a:t>44.8%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44600" y="6858000"/>
            <a:ext cx="30480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200" b="0">
                <a:solidFill>
                  <a:srgbClr val="75726B"/>
                </a:solidFill>
                <a:latin typeface="微软雅黑"/>
                <a:ea typeface="微软雅黑"/>
              </a:rPr>
              <a:t>毛利占比 </a:t>
            </a:r>
            <a:r>
              <a:rPr sz="1200" b="1">
                <a:solidFill>
                  <a:srgbClr val="FA730E"/>
                </a:solidFill>
                <a:latin typeface="Segoe UI"/>
                <a:ea typeface="微软雅黑"/>
              </a:rPr>
              <a:t>55.2%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7277100"/>
            <a:ext cx="7162800" cy="628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918E86"/>
                </a:solidFill>
                <a:latin typeface="微软雅黑"/>
                <a:ea typeface="微软雅黑"/>
              </a:rPr>
              <a:t>口径说明：ASP 与 BOM 为量产第 2 年稳态测算；RaaS 按 ¥1.2 万/台/月、14 个月覆盖整机成本计。</a:t>
            </a:r>
          </a:p>
        </p:txBody>
      </p:sp>
      <p:sp>
        <p:nvSpPr>
          <p:cNvPr id="46" name="Rectangle 45"/>
          <p:cNvSpPr/>
          <p:nvPr/>
        </p:nvSpPr>
        <p:spPr>
          <a:xfrm rot="2700000">
            <a:off x="876300" y="9886950"/>
            <a:ext cx="76200" cy="76200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3950" y="9810750"/>
            <a:ext cx="6667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spc="180">
                <a:solidFill>
                  <a:srgbClr val="918E86"/>
                </a:solidFill>
                <a:latin typeface="Segoe UI"/>
                <a:ea typeface="微软雅黑"/>
              </a:rPr>
              <a:t>HUMANOID ROBOT · SERIES A DECK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0" y="9810750"/>
            <a:ext cx="3238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200" b="1">
                <a:solidFill>
                  <a:srgbClr val="75726B"/>
                </a:solidFill>
                <a:latin typeface="Segoe UI"/>
                <a:ea typeface="微软雅黑"/>
              </a:rPr>
              <a:t>06</a:t>
            </a:r>
            <a:r>
              <a:rPr sz="1200" b="0">
                <a:solidFill>
                  <a:srgbClr val="918E86"/>
                </a:solidFill>
                <a:latin typeface="Segoe UI"/>
                <a:ea typeface="微软雅黑"/>
              </a:rPr>
              <a:t> / 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10267950"/>
            <a:ext cx="18288000" cy="1905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10267950"/>
            <a:ext cx="13716000" cy="19050"/>
          </a:xfrm>
          <a:prstGeom prst="rect">
            <a:avLst/>
          </a:prstGeom>
          <a:gradFill rotWithShape="1">
            <a:gsLst>
              <a:gs pos="0">
                <a:srgbClr val="F9C79C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91000" y="3619500"/>
            <a:ext cx="11239500" cy="11239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742950"/>
            <a:ext cx="342900" cy="23812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90650" y="619125"/>
            <a:ext cx="8572500" cy="266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spc="300">
                <a:solidFill>
                  <a:srgbClr val="FA730E"/>
                </a:solidFill>
                <a:latin typeface="Segoe UI"/>
                <a:ea typeface="微软雅黑"/>
              </a:rPr>
              <a:t>WHY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1028700"/>
            <a:ext cx="13335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1B1C1F"/>
                </a:solidFill>
                <a:latin typeface="微软雅黑"/>
                <a:ea typeface="微软雅黑"/>
              </a:rPr>
              <a:t>壁垒，长在</a:t>
            </a:r>
            <a:r>
              <a:rPr sz="3600" b="0">
                <a:solidFill>
                  <a:srgbClr val="FA730E"/>
                </a:solidFill>
                <a:latin typeface="微软雅黑"/>
                <a:ea typeface="微软雅黑"/>
              </a:rPr>
              <a:t>本体与数据闭环</a:t>
            </a:r>
            <a:r>
              <a:rPr sz="3600" b="0">
                <a:solidFill>
                  <a:srgbClr val="1B1C1F"/>
                </a:solidFill>
                <a:latin typeface="微软雅黑"/>
                <a:ea typeface="微软雅黑"/>
              </a:rPr>
              <a:t>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2857500"/>
            <a:ext cx="8172450" cy="2552700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8250" y="3181350"/>
            <a:ext cx="476250" cy="476250"/>
          </a:xfrm>
          <a:prstGeom prst="roundRect">
            <a:avLst>
              <a:gd name="adj" fmla="val 26000"/>
            </a:avLst>
          </a:prstGeom>
          <a:noFill/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75" y="3305175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8250" y="38100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100" b="1">
                <a:solidFill>
                  <a:srgbClr val="1B1C1F"/>
                </a:solidFill>
                <a:latin typeface="微软雅黑"/>
                <a:ea typeface="微软雅黑"/>
              </a:rPr>
              <a:t>全栈自研本体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4229100"/>
            <a:ext cx="744855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关节模组、灵巧手、躯干结构自研率 85%，关键性能指标对齐国际旗舰水平。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4876800"/>
            <a:ext cx="744855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spc="50">
                <a:solidFill>
                  <a:srgbClr val="FA730E"/>
                </a:solidFill>
                <a:latin typeface="Segoe UI"/>
                <a:ea typeface="微软雅黑"/>
              </a:rPr>
              <a:t>自研率 85% · 核心指标行业第一梯队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9250" y="2857500"/>
            <a:ext cx="8172450" cy="2552700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3181350"/>
            <a:ext cx="476250" cy="476250"/>
          </a:xfrm>
          <a:prstGeom prst="roundRect">
            <a:avLst>
              <a:gd name="adj" fmla="val 26000"/>
            </a:avLst>
          </a:prstGeom>
          <a:noFill/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025" y="3305175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38100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100" b="1">
                <a:solidFill>
                  <a:srgbClr val="1B1C1F"/>
                </a:solidFill>
                <a:latin typeface="微软雅黑"/>
                <a:ea typeface="微软雅黑"/>
              </a:rPr>
              <a:t>VLA 具身大脑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229100"/>
            <a:ext cx="744855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多模态大模型 × 强化学习，Sim2Real 仿真数据飞轮驱动，模型能力周级迭代。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876800"/>
            <a:ext cx="744855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spc="50">
                <a:solidFill>
                  <a:srgbClr val="FA730E"/>
                </a:solidFill>
                <a:latin typeface="Segoe UI"/>
                <a:ea typeface="微软雅黑"/>
              </a:rPr>
              <a:t>周级迭代 · 泛化能力持续领先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6300" y="5600700"/>
            <a:ext cx="8172450" cy="2552700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8250" y="5924550"/>
            <a:ext cx="476250" cy="476250"/>
          </a:xfrm>
          <a:prstGeom prst="roundRect">
            <a:avLst>
              <a:gd name="adj" fmla="val 26000"/>
            </a:avLst>
          </a:prstGeom>
          <a:noFill/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c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075" y="6048375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8250" y="6553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100" b="1">
                <a:solidFill>
                  <a:srgbClr val="1B1C1F"/>
                </a:solidFill>
                <a:latin typeface="微软雅黑"/>
                <a:ea typeface="微软雅黑"/>
              </a:rPr>
              <a:t>供应链深度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250" y="6972300"/>
            <a:ext cx="744855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核心部件国产化叠加规模议价能力，整机成本较进口方案低约 40%，交付周期可控。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7620000"/>
            <a:ext cx="744855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spc="50">
                <a:solidFill>
                  <a:srgbClr val="FA730E"/>
                </a:solidFill>
                <a:latin typeface="Segoe UI"/>
                <a:ea typeface="微软雅黑"/>
              </a:rPr>
              <a:t>成本低 40% · 供应安全自主可控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9250" y="5600700"/>
            <a:ext cx="8172450" cy="2552700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0" y="5924550"/>
            <a:ext cx="476250" cy="476250"/>
          </a:xfrm>
          <a:prstGeom prst="roundRect">
            <a:avLst>
              <a:gd name="adj" fmla="val 26000"/>
            </a:avLst>
          </a:prstGeom>
          <a:noFill/>
          <a:ln w="9525">
            <a:solidFill>
              <a:srgbClr val="F0C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5025" y="6048375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01200" y="6553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100" b="1">
                <a:solidFill>
                  <a:srgbClr val="1B1C1F"/>
                </a:solidFill>
                <a:latin typeface="微软雅黑"/>
                <a:ea typeface="微软雅黑"/>
              </a:rPr>
              <a:t>场景数据闭环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972300"/>
            <a:ext cx="744855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75726B"/>
                </a:solidFill>
                <a:latin typeface="微软雅黑"/>
                <a:ea typeface="微软雅黑"/>
              </a:rPr>
              <a:t>灯塔客户真机数据持续回流训练，部署越深、数据资产越厚，后来者难以追赶。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7620000"/>
            <a:ext cx="744855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spc="50">
                <a:solidFill>
                  <a:srgbClr val="FA730E"/>
                </a:solidFill>
                <a:latin typeface="Segoe UI"/>
                <a:ea typeface="微软雅黑"/>
              </a:rPr>
              <a:t>数据飞轮 · 部署即壁垒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6300" y="8534400"/>
            <a:ext cx="16535400" cy="9525"/>
          </a:xfrm>
          <a:prstGeom prst="rect">
            <a:avLst/>
          </a:prstGeom>
          <a:solidFill>
            <a:srgbClr val="E8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6300" y="9410700"/>
            <a:ext cx="16535400" cy="9525"/>
          </a:xfrm>
          <a:prstGeom prst="rect">
            <a:avLst/>
          </a:prstGeom>
          <a:solidFill>
            <a:srgbClr val="E8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8225" y="8686800"/>
            <a:ext cx="381000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800" b="1">
                <a:solidFill>
                  <a:srgbClr val="FA730E"/>
                </a:solidFill>
                <a:latin typeface="Segoe UI"/>
                <a:ea typeface="微软雅黑"/>
              </a:rPr>
              <a:t>120+</a:t>
            </a:r>
            <a:r>
              <a:rPr sz="2800" b="1">
                <a:solidFill>
                  <a:srgbClr val="1B1C1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225" y="9124950"/>
            <a:ext cx="3810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>
                <a:solidFill>
                  <a:srgbClr val="918E86"/>
                </a:solidFill>
                <a:latin typeface="微软雅黑"/>
                <a:ea typeface="微软雅黑"/>
              </a:rPr>
              <a:t>授权专利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2075" y="8686800"/>
            <a:ext cx="381000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800" b="1">
                <a:solidFill>
                  <a:srgbClr val="FA730E"/>
                </a:solidFill>
                <a:latin typeface="Segoe UI"/>
                <a:ea typeface="微软雅黑"/>
              </a:rPr>
              <a:t>200+</a:t>
            </a:r>
            <a:r>
              <a:rPr sz="2800" b="1">
                <a:solidFill>
                  <a:srgbClr val="1B1C1F"/>
                </a:solidFill>
                <a:latin typeface="微软雅黑"/>
                <a:ea typeface="微软雅黑"/>
              </a:rPr>
              <a:t> 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2075" y="9124950"/>
            <a:ext cx="3810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>
                <a:solidFill>
                  <a:srgbClr val="918E86"/>
                </a:solidFill>
                <a:latin typeface="微软雅黑"/>
                <a:ea typeface="微软雅黑"/>
              </a:rPr>
              <a:t>真机部署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10150" y="8667750"/>
            <a:ext cx="9525" cy="609600"/>
          </a:xfrm>
          <a:prstGeom prst="rect">
            <a:avLst/>
          </a:prstGeom>
          <a:solidFill>
            <a:srgbClr val="E8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05925" y="8686800"/>
            <a:ext cx="381000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800" b="1">
                <a:solidFill>
                  <a:srgbClr val="FA730E"/>
                </a:solidFill>
                <a:latin typeface="Segoe UI"/>
                <a:ea typeface="微软雅黑"/>
              </a:rPr>
              <a:t>100万+</a:t>
            </a:r>
            <a:r>
              <a:rPr sz="2800" b="1">
                <a:solidFill>
                  <a:srgbClr val="1B1C1F"/>
                </a:solidFill>
                <a:latin typeface="微软雅黑"/>
                <a:ea typeface="微软雅黑"/>
              </a:rPr>
              <a:t> 小时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5925" y="9124950"/>
            <a:ext cx="3810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>
                <a:solidFill>
                  <a:srgbClr val="918E86"/>
                </a:solidFill>
                <a:latin typeface="微软雅黑"/>
                <a:ea typeface="微软雅黑"/>
              </a:rPr>
              <a:t>连续运行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8667750"/>
            <a:ext cx="9525" cy="609600"/>
          </a:xfrm>
          <a:prstGeom prst="rect">
            <a:avLst/>
          </a:prstGeom>
          <a:solidFill>
            <a:srgbClr val="E8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439775" y="8686800"/>
            <a:ext cx="381000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800" b="1">
                <a:solidFill>
                  <a:srgbClr val="FA730E"/>
                </a:solidFill>
                <a:latin typeface="Segoe UI"/>
                <a:ea typeface="微软雅黑"/>
              </a:rPr>
              <a:t>150+</a:t>
            </a:r>
            <a:r>
              <a:rPr sz="2800" b="1">
                <a:solidFill>
                  <a:srgbClr val="1B1C1F"/>
                </a:solidFill>
                <a:latin typeface="微软雅黑"/>
                <a:ea typeface="微软雅黑"/>
              </a:rPr>
              <a:t> 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39775" y="9124950"/>
            <a:ext cx="3810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>
                <a:solidFill>
                  <a:srgbClr val="918E86"/>
                </a:solidFill>
                <a:latin typeface="微软雅黑"/>
                <a:ea typeface="微软雅黑"/>
              </a:rPr>
              <a:t>团队 · 硕博占比 60%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277850" y="8667750"/>
            <a:ext cx="9525" cy="609600"/>
          </a:xfrm>
          <a:prstGeom prst="rect">
            <a:avLst/>
          </a:prstGeom>
          <a:solidFill>
            <a:srgbClr val="E8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2700000">
            <a:off x="876300" y="9886950"/>
            <a:ext cx="76200" cy="76200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3950" y="9810750"/>
            <a:ext cx="6667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spc="180">
                <a:solidFill>
                  <a:srgbClr val="918E86"/>
                </a:solidFill>
                <a:latin typeface="Segoe UI"/>
                <a:ea typeface="微软雅黑"/>
              </a:rPr>
              <a:t>HUMANOID ROBOT · SERIES A DECK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0" y="9810750"/>
            <a:ext cx="3238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200" b="1">
                <a:solidFill>
                  <a:srgbClr val="75726B"/>
                </a:solidFill>
                <a:latin typeface="Segoe UI"/>
                <a:ea typeface="微软雅黑"/>
              </a:rPr>
              <a:t>07</a:t>
            </a:r>
            <a:r>
              <a:rPr sz="1200" b="0">
                <a:solidFill>
                  <a:srgbClr val="918E86"/>
                </a:solidFill>
                <a:latin typeface="Segoe UI"/>
                <a:ea typeface="微软雅黑"/>
              </a:rPr>
              <a:t> / 08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10267950"/>
            <a:ext cx="18288000" cy="1905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0267950"/>
            <a:ext cx="16002000" cy="19050"/>
          </a:xfrm>
          <a:prstGeom prst="rect">
            <a:avLst/>
          </a:prstGeom>
          <a:gradFill rotWithShape="1">
            <a:gsLst>
              <a:gs pos="0">
                <a:srgbClr val="F9C79C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-4191000"/>
            <a:ext cx="11239500" cy="11239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742950"/>
            <a:ext cx="342900" cy="23812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90650" y="619125"/>
            <a:ext cx="8572500" cy="266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spc="300">
                <a:solidFill>
                  <a:srgbClr val="FA730E"/>
                </a:solidFill>
                <a:latin typeface="Segoe UI"/>
                <a:ea typeface="微软雅黑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1028700"/>
            <a:ext cx="13335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1B1C1F"/>
                </a:solidFill>
                <a:latin typeface="微软雅黑"/>
                <a:ea typeface="微软雅黑"/>
              </a:rPr>
              <a:t>本轮融资：与我们定义</a:t>
            </a:r>
            <a:r>
              <a:rPr sz="3600" b="0">
                <a:solidFill>
                  <a:srgbClr val="FA730E"/>
                </a:solidFill>
                <a:latin typeface="微软雅黑"/>
                <a:ea typeface="微软雅黑"/>
              </a:rPr>
              <a:t>下一个计算平台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067050"/>
            <a:ext cx="6667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spc="180">
                <a:solidFill>
                  <a:srgbClr val="75726B"/>
                </a:solidFill>
                <a:latin typeface="Segoe UI"/>
                <a:ea typeface="微软雅黑"/>
              </a:rPr>
              <a:t>A 轮融资额 · SERIES A RAISE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09950"/>
            <a:ext cx="66675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>
                <a:solidFill>
                  <a:srgbClr val="FA730E"/>
                </a:solidFill>
                <a:latin typeface="Segoe UI"/>
                <a:ea typeface="微软雅黑"/>
              </a:rPr>
              <a:t>¥</a:t>
            </a:r>
            <a:r>
              <a:rPr sz="7600" b="1">
                <a:solidFill>
                  <a:srgbClr val="FA730E"/>
                </a:solidFill>
                <a:latin typeface="Segoe UI"/>
                <a:ea typeface="微软雅黑"/>
              </a:rPr>
              <a:t>4.0</a:t>
            </a:r>
            <a:r>
              <a:rPr sz="4000" b="1">
                <a:solidFill>
                  <a:srgbClr val="FA730E"/>
                </a:solidFill>
                <a:latin typeface="微软雅黑"/>
                <a:ea typeface="微软雅黑"/>
              </a:rPr>
              <a:t>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6300" y="4991100"/>
            <a:ext cx="20574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800" y="518160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75726B"/>
                </a:solidFill>
                <a:latin typeface="微软雅黑"/>
                <a:ea typeface="微软雅黑"/>
              </a:rPr>
              <a:t>投前估值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5429250"/>
            <a:ext cx="1714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FA730E"/>
                </a:solidFill>
                <a:latin typeface="Segoe UI"/>
                <a:ea typeface="微软雅黑"/>
              </a:rPr>
              <a:t>¥16 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86100" y="4991100"/>
            <a:ext cx="20574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6600" y="518160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75726B"/>
                </a:solidFill>
                <a:latin typeface="微软雅黑"/>
                <a:ea typeface="微软雅黑"/>
              </a:rPr>
              <a:t>出让股权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5429250"/>
            <a:ext cx="1714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FA730E"/>
                </a:solidFill>
                <a:latin typeface="Segoe UI"/>
                <a:ea typeface="微软雅黑"/>
              </a:rPr>
              <a:t>20%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95900" y="4991100"/>
            <a:ext cx="20574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518160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75726B"/>
                </a:solidFill>
                <a:latin typeface="微软雅黑"/>
                <a:ea typeface="微软雅黑"/>
              </a:rPr>
              <a:t>投后估值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429250"/>
            <a:ext cx="1714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1B1C1F"/>
                </a:solidFill>
                <a:latin typeface="Segoe UI"/>
                <a:ea typeface="微软雅黑"/>
              </a:rPr>
              <a:t>¥20 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6300" y="6248400"/>
            <a:ext cx="28575" cy="742950"/>
          </a:xfrm>
          <a:prstGeom prst="rect">
            <a:avLst/>
          </a:prstGeom>
          <a:solidFill>
            <a:srgbClr val="F0C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3950" y="6248400"/>
            <a:ext cx="6286500" cy="742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80000"/>
              </a:lnSpc>
            </a:pPr>
            <a:r>
              <a:rPr sz="1450" b="0">
                <a:solidFill>
                  <a:srgbClr val="75726B"/>
                </a:solidFill>
                <a:latin typeface="微软雅黑"/>
                <a:ea typeface="微软雅黑"/>
              </a:rPr>
              <a:t>资金支撑 </a:t>
            </a:r>
            <a:r>
              <a:rPr sz="1450" b="1">
                <a:solidFill>
                  <a:srgbClr val="1B1C1F"/>
                </a:solidFill>
                <a:latin typeface="微软雅黑"/>
                <a:ea typeface="微软雅黑"/>
              </a:rPr>
              <a:t>24 个月</a:t>
            </a:r>
            <a:r>
              <a:rPr sz="1450" b="0">
                <a:solidFill>
                  <a:srgbClr val="75726B"/>
                </a:solidFill>
                <a:latin typeface="微软雅黑"/>
                <a:ea typeface="微软雅黑"/>
              </a:rPr>
              <a:t>研发与交付节奏，达成累计 </a:t>
            </a:r>
            <a:r>
              <a:rPr sz="1450" b="1">
                <a:solidFill>
                  <a:srgbClr val="1B1C1F"/>
                </a:solidFill>
                <a:latin typeface="微软雅黑"/>
                <a:ea typeface="微软雅黑"/>
              </a:rPr>
              <a:t>500 台</a:t>
            </a:r>
            <a:r>
              <a:rPr sz="1450" b="0">
                <a:solidFill>
                  <a:srgbClr val="75726B"/>
                </a:solidFill>
                <a:latin typeface="微软雅黑"/>
                <a:ea typeface="微软雅黑"/>
              </a:rPr>
              <a:t>部署，</a:t>
            </a:r>
          </a:p>
          <a:p>
            <a:pPr algn="l">
              <a:lnSpc>
                <a:spcPct val="180000"/>
              </a:lnSpc>
            </a:pPr>
            <a:r>
              <a:rPr sz="1450" b="0">
                <a:solidFill>
                  <a:srgbClr val="75726B"/>
                </a:solidFill>
                <a:latin typeface="微软雅黑"/>
                <a:ea typeface="微软雅黑"/>
              </a:rPr>
              <a:t>2028 年冲刺</a:t>
            </a:r>
            <a:r>
              <a:rPr sz="1450" b="1">
                <a:solidFill>
                  <a:srgbClr val="1B1C1F"/>
                </a:solidFill>
                <a:latin typeface="微软雅黑"/>
                <a:ea typeface="微软雅黑"/>
              </a:rPr>
              <a:t>单月盈亏平衡</a:t>
            </a:r>
            <a:r>
              <a:rPr sz="1450" b="0">
                <a:solidFill>
                  <a:srgbClr val="75726B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1500" y="2819400"/>
            <a:ext cx="9220200" cy="5562600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9525">
            <a:solidFill>
              <a:srgbClr val="E8E6E0"/>
            </a:solidFill>
          </a:ln>
          <a:effectLst>
            <a:outerShdw blurRad="82296" dist="16459" dir="5400000" rotWithShape="0">
              <a:srgbClr val="1B1C1F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8700" y="3219450"/>
            <a:ext cx="66675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spc="200">
                <a:solidFill>
                  <a:srgbClr val="FA730E"/>
                </a:solidFill>
                <a:latin typeface="Segoe UI"/>
                <a:ea typeface="微软雅黑"/>
              </a:rPr>
              <a:t>USE OF FUNDS · 资金用途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8700" y="3524250"/>
            <a:ext cx="6667500" cy="323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50" b="1">
                <a:solidFill>
                  <a:srgbClr val="1B1C1F"/>
                </a:solidFill>
                <a:latin typeface="微软雅黑"/>
                <a:ea typeface="微软雅黑"/>
              </a:rPr>
              <a:t>每一分钱，都花在壁垒与交付上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8700" y="4210050"/>
            <a:ext cx="6096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1B1C1F"/>
                </a:solidFill>
                <a:latin typeface="微软雅黑"/>
                <a:ea typeface="微软雅黑"/>
              </a:rPr>
              <a:t>研发投入</a:t>
            </a:r>
            <a:r>
              <a:rPr sz="1150" b="0">
                <a:solidFill>
                  <a:srgbClr val="918E86"/>
                </a:solidFill>
                <a:latin typeface="微软雅黑"/>
                <a:ea typeface="微软雅黑"/>
              </a:rPr>
              <a:t>  VLA 模型 / 灵巧手 / 新一代关节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35200" y="4191000"/>
            <a:ext cx="2095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400" b="1">
                <a:solidFill>
                  <a:srgbClr val="FA730E"/>
                </a:solidFill>
                <a:latin typeface="Segoe UI"/>
                <a:ea typeface="微软雅黑"/>
              </a:rPr>
              <a:t>45%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8700" y="4610100"/>
            <a:ext cx="8382000" cy="95250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48700" y="4610100"/>
            <a:ext cx="377190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95F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8700" y="5219700"/>
            <a:ext cx="6096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1B1C1F"/>
                </a:solidFill>
                <a:latin typeface="微软雅黑"/>
                <a:ea typeface="微软雅黑"/>
              </a:rPr>
              <a:t>供应链与产能</a:t>
            </a:r>
            <a:r>
              <a:rPr sz="1150" b="0">
                <a:solidFill>
                  <a:srgbClr val="918E86"/>
                </a:solidFill>
                <a:latin typeface="微软雅黑"/>
                <a:ea typeface="微软雅黑"/>
              </a:rPr>
              <a:t>  产线建设 / 核心部件备货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35200" y="5200650"/>
            <a:ext cx="2095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400" b="1">
                <a:solidFill>
                  <a:srgbClr val="FA730E"/>
                </a:solidFill>
                <a:latin typeface="Segoe UI"/>
                <a:ea typeface="微软雅黑"/>
              </a:rPr>
              <a:t>25%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8700" y="5619750"/>
            <a:ext cx="8382000" cy="95250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48700" y="5619750"/>
            <a:ext cx="209550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95F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8700" y="6229350"/>
            <a:ext cx="6096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1B1C1F"/>
                </a:solidFill>
                <a:latin typeface="微软雅黑"/>
                <a:ea typeface="微软雅黑"/>
              </a:rPr>
              <a:t>市场与交付</a:t>
            </a:r>
            <a:r>
              <a:rPr sz="1150" b="0">
                <a:solidFill>
                  <a:srgbClr val="918E86"/>
                </a:solidFill>
                <a:latin typeface="微软雅黑"/>
                <a:ea typeface="微软雅黑"/>
              </a:rPr>
              <a:t>  灯塔客户拓展 / 交付与运维体系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35200" y="6210300"/>
            <a:ext cx="2095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400" b="1">
                <a:solidFill>
                  <a:srgbClr val="FA730E"/>
                </a:solidFill>
                <a:latin typeface="Segoe UI"/>
                <a:ea typeface="微软雅黑"/>
              </a:rPr>
              <a:t>20%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8700" y="6629400"/>
            <a:ext cx="8382000" cy="95250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48700" y="6629400"/>
            <a:ext cx="167640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95F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8700" y="7239000"/>
            <a:ext cx="6096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1B1C1F"/>
                </a:solidFill>
                <a:latin typeface="微软雅黑"/>
                <a:ea typeface="微软雅黑"/>
              </a:rPr>
              <a:t>运营与储备</a:t>
            </a:r>
            <a:r>
              <a:rPr sz="1150" b="0">
                <a:solidFill>
                  <a:srgbClr val="918E86"/>
                </a:solidFill>
                <a:latin typeface="微软雅黑"/>
                <a:ea typeface="微软雅黑"/>
              </a:rPr>
              <a:t>  团队 / 合规 / 现金储备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35200" y="7219950"/>
            <a:ext cx="20955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2400" b="1">
                <a:solidFill>
                  <a:srgbClr val="FA730E"/>
                </a:solidFill>
                <a:latin typeface="Segoe UI"/>
                <a:ea typeface="微软雅黑"/>
              </a:rPr>
              <a:t>10%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8700" y="7639050"/>
            <a:ext cx="8382000" cy="95250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48700" y="7639050"/>
            <a:ext cx="83820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95F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8705850"/>
            <a:ext cx="18288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000" b="1">
                <a:solidFill>
                  <a:srgbClr val="1B1C1F"/>
                </a:solidFill>
                <a:latin typeface="微软雅黑"/>
                <a:ea typeface="微软雅黑"/>
              </a:rPr>
              <a:t>让机器人，</a:t>
            </a:r>
            <a:r>
              <a:rPr sz="3000" b="1">
                <a:solidFill>
                  <a:srgbClr val="FA730E"/>
                </a:solidFill>
                <a:latin typeface="微软雅黑"/>
                <a:ea typeface="微软雅黑"/>
              </a:rPr>
              <a:t>像人一样</a:t>
            </a:r>
            <a:r>
              <a:rPr sz="3000" b="1">
                <a:solidFill>
                  <a:srgbClr val="1B1C1F"/>
                </a:solidFill>
                <a:latin typeface="微软雅黑"/>
                <a:ea typeface="微软雅黑"/>
              </a:rPr>
              <a:t>工作。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9239250"/>
            <a:ext cx="18288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0" spc="250">
                <a:solidFill>
                  <a:srgbClr val="918E86"/>
                </a:solidFill>
                <a:latin typeface="Segoe UI"/>
                <a:ea typeface="微软雅黑"/>
              </a:rPr>
              <a:t>THANKS · 期待与您进一步交流</a:t>
            </a:r>
          </a:p>
        </p:txBody>
      </p:sp>
      <p:sp>
        <p:nvSpPr>
          <p:cNvPr id="40" name="Rectangle 39"/>
          <p:cNvSpPr/>
          <p:nvPr/>
        </p:nvSpPr>
        <p:spPr>
          <a:xfrm rot="2700000">
            <a:off x="876300" y="9886950"/>
            <a:ext cx="76200" cy="76200"/>
          </a:xfrm>
          <a:prstGeom prst="rect">
            <a:avLst/>
          </a:prstGeom>
          <a:solidFill>
            <a:srgbClr val="FA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3950" y="9810750"/>
            <a:ext cx="6667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spc="180">
                <a:solidFill>
                  <a:srgbClr val="918E86"/>
                </a:solidFill>
                <a:latin typeface="Segoe UI"/>
                <a:ea typeface="微软雅黑"/>
              </a:rPr>
              <a:t>HUMANOID ROBOT · SERIES A DECK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0" y="9810750"/>
            <a:ext cx="3238500" cy="2095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1200" b="1">
                <a:solidFill>
                  <a:srgbClr val="75726B"/>
                </a:solidFill>
                <a:latin typeface="Segoe UI"/>
                <a:ea typeface="微软雅黑"/>
              </a:rPr>
              <a:t>08</a:t>
            </a:r>
            <a:r>
              <a:rPr sz="1200" b="0">
                <a:solidFill>
                  <a:srgbClr val="918E86"/>
                </a:solidFill>
                <a:latin typeface="Segoe UI"/>
                <a:ea typeface="微软雅黑"/>
              </a:rPr>
              <a:t> / 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10267950"/>
            <a:ext cx="18288000" cy="1905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10267950"/>
            <a:ext cx="18288000" cy="19050"/>
          </a:xfrm>
          <a:prstGeom prst="rect">
            <a:avLst/>
          </a:prstGeom>
          <a:gradFill rotWithShape="1">
            <a:gsLst>
              <a:gs pos="0">
                <a:srgbClr val="F9C79C"/>
              </a:gs>
              <a:gs pos="100000">
                <a:srgbClr val="FA730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人形机器人 A 轮融资路演</dc:title>
  <dc:subject/>
  <dc:creator>WorkBuddy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