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Default Extension="jpg" ContentType="image/jpeg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tableStyles" Target="tableStyles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4" Type="http://schemas.openxmlformats.org/officeDocument/2006/relationships/presProps" Target="presProps.xml" /><Relationship Id="rId4" Type="http://schemas.openxmlformats.org/officeDocument/2006/relationships/slide" Target="slides/slide4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7.jp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10.jpg" /><Relationship Id="rId2" Type="http://schemas.openxmlformats.org/officeDocument/2006/relationships/image" Target="media/image9.jp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Relationship Id="rId6" Type="http://schemas.openxmlformats.org/officeDocument/2006/relationships/image" Target="media/image13.jpg" /><Relationship Id="rId4" Type="http://schemas.openxmlformats.org/officeDocument/2006/relationships/image" Target="media/image11.jpg" /><Relationship Id="rId5" Type="http://schemas.openxmlformats.org/officeDocument/2006/relationships/image" Target="media/image12.jpg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14.sv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16.svg" /><Relationship Id="rId1" Type="http://schemas.openxmlformats.org/officeDocument/2006/relationships/image" Target="media/image5.png" /><Relationship Id="rId3" Type="http://schemas.openxmlformats.org/officeDocument/2006/relationships/image" Target="media/image15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jp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Relationship Id="rId2" Type="http://schemas.openxmlformats.org/officeDocument/2006/relationships/image" Target="media/image18.jp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Relationship Id="rId2" Type="http://schemas.openxmlformats.org/officeDocument/2006/relationships/image" Target="media/image19.jp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Relationship Id="rId3" Type="http://schemas.openxmlformats.org/officeDocument/2006/relationships/image" Target="media/image4.svg" /><Relationship Id="rId2" Type="http://schemas.openxmlformats.org/officeDocument/2006/relationships/image" Target="media/image3.jp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jpg" /><Relationship Id="rId2" Type="http://schemas.openxmlformats.org/officeDocument/2006/relationships/hyperlink" Target="ppaction://hlinkshowjump?jump=firstslide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Color: '#F3EBDC', position: 'relative', padding: 0 }}&gt;&#13;&#10;    &lt;Image src=&quot;assets/01_cover_peak.jpg&quot; style={{ position: 'absolute', left: 0, top: 0, width: 1280, height: 720, objectFit: 'cover' }} /&gt;&#13;&#10;    &lt;Box style={{ position: 'absolute', left: 0, top: 0, width: 1280, height: 720, background: 'linear-gradient(100deg, #F3EBDC 0%, rgba(243,235,220,0.97) 26%, rgba(243,235,220,0.86) 42%, rgba(243,235,220,0.34) 60%, rgba(243,235,220,0) 76%)' }} /&gt;&#13;&#10;    &lt;Box style={{ position: 'absolute', left: 0, top: 0, width: 1280, height: 720, background: 'linear-gradient(180deg, rgba(243,235,220,0.55) 0%, rgba(243,235,220,0) 16%, rgba(243,235,220,0) 84%, rgba(243,235,220,0.42) 100%)' }} /&gt;&#13;&#10;&#13;&#10;    &lt;Animation animType=&quot;fadeIn&quot; duration={600} startType=&quot;withPrevious&quot; delay={0}&gt;&lt;Box style={{ position: 'absolute', left: 72, top: 50, flexDirection: 'row', alignItems: 'center', gap: 14 }}&gt;&#13;&#10;        &lt;Box style={{ width: 34, height: 34, backgroundColor: '#A6361B', alignItems: 'center', justifyContent: 'center' }}&gt;&#13;&#10;            &lt;Text style={{ fontFamily: 'STKaiti', fontSize: 20, color: '#F3EBDC', lineHeight: 1 }}&gt;劍&lt;/Text&gt;&#13;&#10;        &lt;/Box&gt;&#13;&#10;        &lt;Text style={{ fontFamily: 'LXGW WenKai', fontSize: 11, color: '#8B8175', letterSpacing: 6 }}&gt;2026 全球首曝　·　WORLD PREMIERE&lt;/Text&gt;&#13;&#10;    &lt;/Box&gt;&lt;/Animation&gt;&#13;&#10;&#13;&#10;    &lt;Animation animType=&quot;flyIn&quot; duration={900} startType=&quot;afterPrevious&quot; delay={100}&gt;&lt;Text style={{ position: 'absolute', left: 68, top: 132, fontFamily: 'STKaiti', fontSize: 102, fontWeight: 'bold', color: '#15120E', letterSpacing: 14, lineHeight: 1.08 }}&gt;剑隐山河&lt;/Text&gt;&lt;/Animation&gt;&#13;&#10;&#13;&#10;    &lt;Animation animType=&quot;fadeIn&quot; duration={800} startType=&quot;afterPrevious&quot; delay={150}&gt;&lt;Box style={{ position: 'absolute', left: 76, top: 286, flexDirection: 'column' }}&gt;&#13;&#10;        &lt;Text style={{ fontFamily: 'LXGW WenKai', fontSize: 12, color: '#A6361B', letterSpacing: 7 }}&gt;JIAN YIN SHAN HE　·　AN OPEN-WORLD WUXIA&lt;/Text&gt;&#13;&#10;        &lt;Box style={{ width: 118, height: 2, backgroundColor: '#A6361B', marginTop: 26, opacity: 0.9 }} /&gt;&#13;&#10;        &lt;Text style={{ fontFamily: 'LXGW WenKai', fontSize: 22, color: '#15120E', lineHeight: 2.05, letterSpacing: 2, marginTop: 30 }}&gt;山河是一卷未干的墨，&lt;br /&gt;江湖，是落笔处那一点朱砂。&lt;/Text&gt;&#13;&#10;        &lt;Box style={{ flexDirection: 'row', alignItems: 'center', gap: 12, marginTop: 30 }}&gt;&#13;&#10;            &lt;Box style={{ width: 5, height: 5, backgroundColor: '#A6361B' }} /&gt;&#13;&#10;            &lt;Text style={{ fontFamily: 'LXGW WenKai', fontSize: 12, color: '#5C5245', letterSpacing: 3 }}&gt;首部实机演示 · 三分钟 · 全程手绘&lt;/Text&gt;&#13;&#10;        &lt;/Box&gt;&#13;&#10;    &lt;/Box&gt;&lt;/Animation&gt;&#13;&#10;&#13;&#10;    &lt;Animation animType=&quot;fadeIn&quot; duration={800} startType=&quot;afterPrevious&quot; delay={200}&gt;&lt;Box style={{ position: 'absolute', left: 76, top: 574, width: 540, flexDirection: 'column' }}&gt;&#13;&#10;        &lt;Box style={{ width: 540, height: 1, backgroundColor: 'rgba(21,18,14,0.22)' }} /&gt;&#13;&#10;        &lt;Box style={{ flexDirection: 'row', alignItems: 'center', gap: 22, marginTop: 14 }}&gt;&#13;&#10;            &lt;Text style={{ fontFamily: 'LXGW WenKai', fontSize: 11, color: '#3B342B', letterSpacing: 2.5 }}&gt;PC / 主机 / 云游戏&lt;/Text&gt;&#13;&#10;            &lt;Box style={{ width: 1, height: 10, backgroundColor: 'rgba(21,18,14,0.22)' }} /&gt;&#13;&#10;            &lt;Text style={{ fontFamily: 'LXGW WenKai', fontSize: 11, color: '#3B342B', letterSpacing: 2.5 }}&gt;2026.10.20 首曝&lt;/Text&gt;&#13;&#10;            &lt;Box style={{ width: 1, height: 10, backgroundColor: 'rgba(21,18,14,0.22)' }} /&gt;&#13;&#10;            &lt;Text style={{ fontFamily: 'LXGW WenKai', fontSize: 11, color: '#A6361B', letterSpacing: 2.5 }}&gt;2027.09.09 公测&lt;/Text&gt;&#13;&#10;        &lt;/Box&gt;&#13;&#10;    &lt;/Box&gt;&lt;/Animation&gt;&#13;&#10;&#13;&#10;    &lt;Text style={{position: 'absolute', left: 664, top: 322, fontFamily: 'STKaiti', fontSize: 17, color: '#15120E', lineHeight: 2.0, letterSpacing: 2, textAlign: 'center', opacity: 0.52}}&gt;提&lt;br /&gt;剑&lt;br /&gt;入&lt;br /&gt;江&lt;br /&gt;湖&lt;/Text&gt;&#13;&#10;&#13;&#10;    &lt;Text style={{fontFamily: 'LXGW WenKai', fontSize: 10.5, color: '#5C5245', letterSpacing: 3, position: 'absolute', left: 76, top: 677}}&gt;拾墨工作室　STUDIO SHIMO&lt;/Text&gt;&#13;&#10;    &lt;Text style={{fontFamily: 'LXGW WenKai', fontSize: 11, color: 'rgba(21,18,14,0.50)', letterSpacing: 4, position: 'absolute', right: 72, top: 676}}&gt;01 / 12&lt;/Text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3EBD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5093" r="0" b="5093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EBDC"/>
              </a:gs>
              <a:gs pos="26000">
                <a:srgbClr val="F3EBDC">
                  <a:alpha val="97000"/>
                </a:srgbClr>
              </a:gs>
              <a:gs pos="42000">
                <a:srgbClr val="F3EBDC">
                  <a:alpha val="86000"/>
                </a:srgbClr>
              </a:gs>
              <a:gs pos="60000">
                <a:srgbClr val="F3EBDC">
                  <a:alpha val="34000"/>
                </a:srgbClr>
              </a:gs>
              <a:gs pos="76000">
                <a:srgbClr val="F3EBDC">
                  <a:alpha val="0"/>
                </a:srgbClr>
              </a:gs>
            </a:gsLst>
            <a:lin ang="6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EBDC">
                  <a:alpha val="55000"/>
                </a:srgbClr>
              </a:gs>
              <a:gs pos="16000">
                <a:srgbClr val="F3EBDC">
                  <a:alpha val="0"/>
                </a:srgbClr>
              </a:gs>
              <a:gs pos="84000">
                <a:srgbClr val="F3EBDC">
                  <a:alpha val="0"/>
                </a:srgbClr>
              </a:gs>
              <a:gs pos="100000">
                <a:srgbClr val="F3EBDC">
                  <a:alpha val="4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685800" y="476250"/>
            <a:ext cx="323850" cy="3238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52475" y="5238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3EBDC"/>
                </a:solidFill>
                <a:latin typeface="STKaiti"/>
                <a:ea typeface="STKaiti"/>
              </a:rPr>
              <a:t>劍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143000" y="571500"/>
            <a:ext cx="3371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450">
                <a:solidFill>
                  <a:srgbClr val="8B8175"/>
                </a:solidFill>
                <a:latin typeface="LXGW WenKai"/>
                <a:ea typeface="LXGW WenKai"/>
              </a:rPr>
              <a:t xml:space="preserve">2026 </a:t>
            </a:r>
            <a:r>
              <a:rPr lang="zh-CN" sz="825" spc="450">
                <a:solidFill>
                  <a:srgbClr val="8B8175"/>
                </a:solidFill>
                <a:latin typeface="LXGW WenKai"/>
                <a:ea typeface="LXGW WenKai"/>
              </a:rPr>
              <a:t>全球首曝　·　</a:t>
            </a:r>
            <a:r>
              <a:rPr lang="en-US" sz="825" spc="450">
                <a:solidFill>
                  <a:srgbClr val="8B8175"/>
                </a:solidFill>
                <a:latin typeface="LXGW WenKai"/>
                <a:ea typeface="LXGW WenKai"/>
              </a:rPr>
              <a:t>WORLD PREMIERE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47700" y="1257300"/>
            <a:ext cx="4419600" cy="1266825"/>
          </a:xfrm>
          <a:prstGeom prst="rect"/>
        </p:spPr>
        <p:txBody>
          <a:bodyPr wrap="none" lIns="0" tIns="0" rIns="0" bIns="0"/>
          <a:p>
            <a:pPr>
              <a:lnSpc>
                <a:spcPct val="108000"/>
              </a:lnSpc>
            </a:pPr>
            <a:r>
              <a:rPr lang="zh-CN" sz="7650" b="1" spc="1050">
                <a:solidFill>
                  <a:srgbClr val="15120E"/>
                </a:solidFill>
                <a:latin typeface="STKaiti"/>
                <a:ea typeface="STKaiti"/>
              </a:rPr>
              <a:t>剑隐山河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23900" y="2724150"/>
            <a:ext cx="5200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525">
                <a:solidFill>
                  <a:srgbClr val="A6361B"/>
                </a:solidFill>
                <a:latin typeface="LXGW WenKai"/>
                <a:ea typeface="LXGW WenKai"/>
              </a:rPr>
              <a:t>JIAN YIN SHAN HE</a:t>
            </a:r>
            <a:r>
              <a:rPr lang="zh-CN" sz="900" spc="525">
                <a:solidFill>
                  <a:srgbClr val="A6361B"/>
                </a:solidFill>
                <a:latin typeface="LXGW WenKai"/>
                <a:ea typeface="LXGW WenKai"/>
              </a:rPr>
              <a:t>　·　</a:t>
            </a:r>
            <a:r>
              <a:rPr lang="en-US" sz="900" spc="525">
                <a:solidFill>
                  <a:srgbClr val="A6361B"/>
                </a:solidFill>
                <a:latin typeface="LXGW WenKai"/>
                <a:ea typeface="LXGW WenKai"/>
              </a:rPr>
              <a:t>AN OPEN-WORLD WUXIA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23900" y="3419475"/>
            <a:ext cx="5200650" cy="1038225"/>
          </a:xfrm>
          <a:prstGeom prst="rect"/>
        </p:spPr>
        <p:txBody>
          <a:bodyPr wrap="none" lIns="0" tIns="0" rIns="0" bIns="0"/>
          <a:p>
            <a:pPr>
              <a:lnSpc>
                <a:spcPct val="204999"/>
              </a:lnSpc>
            </a:pPr>
            <a:r>
              <a:rPr lang="zh-CN" sz="1650" spc="150">
                <a:solidFill>
                  <a:srgbClr val="15120E"/>
                </a:solidFill>
                <a:latin typeface="LXGW WenKai"/>
                <a:ea typeface="LXGW WenKai"/>
              </a:rPr>
              <a:t>山河是一卷未干的墨，</a:t>
            </a:r>
            <a:endParaRPr/>
          </a:p>
          <a:p>
            <a:pPr>
              <a:lnSpc>
                <a:spcPct val="204999"/>
              </a:lnSpc>
            </a:pPr>
            <a:r>
              <a:rPr lang="zh-CN" sz="1650" spc="150">
                <a:solidFill>
                  <a:srgbClr val="15120E"/>
                </a:solidFill>
                <a:latin typeface="LXGW WenKai"/>
                <a:ea typeface="LXGW WenKai"/>
              </a:rPr>
              <a:t>江湖，是落笔处那一点朱砂。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723900" y="4791075"/>
            <a:ext cx="47625" cy="4762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85825" y="4743450"/>
            <a:ext cx="2276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5">
                <a:solidFill>
                  <a:srgbClr val="5C5245"/>
                </a:solidFill>
                <a:latin typeface="LXGW WenKai"/>
                <a:ea typeface="LXGW WenKai"/>
              </a:rPr>
              <a:t>首部实机演示</a:t>
            </a:r>
            <a:r>
              <a:rPr lang="en-US" sz="900" spc="225">
                <a:solidFill>
                  <a:srgbClr val="5C524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900" spc="225">
                <a:solidFill>
                  <a:srgbClr val="5C5245"/>
                </a:solidFill>
                <a:latin typeface="LXGW WenKai"/>
                <a:ea typeface="LXGW WenKai"/>
              </a:rPr>
              <a:t>三分钟</a:t>
            </a:r>
            <a:r>
              <a:rPr lang="en-US" sz="900" spc="225">
                <a:solidFill>
                  <a:srgbClr val="5C524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900" spc="225">
                <a:solidFill>
                  <a:srgbClr val="5C5245"/>
                </a:solidFill>
                <a:latin typeface="LXGW WenKai"/>
                <a:ea typeface="LXGW WenKai"/>
              </a:rPr>
              <a:t>全程手绘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723900" y="3114675"/>
            <a:ext cx="1123950" cy="19050"/>
          </a:xfrm>
          <a:prstGeom prst="rect">
            <a:avLst/>
          </a:prstGeom>
          <a:solidFill>
            <a:srgbClr val="A6361B">
              <a:alpha val="90000"/>
            </a:srgbClr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723900" y="5467350"/>
            <a:ext cx="5143500" cy="9525"/>
          </a:xfrm>
          <a:prstGeom prst="rect">
            <a:avLst/>
          </a:prstGeom>
          <a:solidFill>
            <a:srgbClr val="15120E">
              <a:alpha val="22000"/>
            </a:srgbClr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23900" y="5610225"/>
            <a:ext cx="1200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3B342B"/>
                </a:solidFill>
                <a:latin typeface="LXGW WenKai"/>
                <a:ea typeface="LXGW WenKai"/>
              </a:rPr>
              <a:t xml:space="preserve">PC / </a:t>
            </a:r>
            <a:r>
              <a:rPr lang="zh-CN" sz="825" spc="188">
                <a:solidFill>
                  <a:srgbClr val="3B342B"/>
                </a:solidFill>
                <a:latin typeface="LXGW WenKai"/>
                <a:ea typeface="LXGW WenKai"/>
              </a:rPr>
              <a:t>主机</a:t>
            </a:r>
            <a:r>
              <a:rPr lang="en-US" sz="825" spc="188">
                <a:solidFill>
                  <a:srgbClr val="3B342B"/>
                </a:solidFill>
                <a:latin typeface="LXGW WenKai"/>
                <a:ea typeface="LXGW WenKai"/>
              </a:rPr>
              <a:t xml:space="preserve"> / </a:t>
            </a:r>
            <a:r>
              <a:rPr lang="zh-CN" sz="825" spc="188">
                <a:solidFill>
                  <a:srgbClr val="3B342B"/>
                </a:solidFill>
                <a:latin typeface="LXGW WenKai"/>
                <a:ea typeface="LXGW WenKai"/>
              </a:rPr>
              <a:t>云游戏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2133600" y="5629275"/>
            <a:ext cx="9525" cy="95250"/>
          </a:xfrm>
          <a:prstGeom prst="rect">
            <a:avLst/>
          </a:prstGeom>
          <a:solidFill>
            <a:srgbClr val="15120E">
              <a:alpha val="22000"/>
            </a:srgbClr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2352675" y="5610225"/>
            <a:ext cx="11334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3B342B"/>
                </a:solidFill>
                <a:latin typeface="LXGW WenKai"/>
                <a:ea typeface="LXGW WenKai"/>
              </a:rPr>
              <a:t xml:space="preserve">2026.10.20 </a:t>
            </a:r>
            <a:r>
              <a:rPr lang="zh-CN" sz="825" spc="188">
                <a:solidFill>
                  <a:srgbClr val="3B342B"/>
                </a:solidFill>
                <a:latin typeface="LXGW WenKai"/>
                <a:ea typeface="LXGW WenKai"/>
              </a:rPr>
              <a:t>首曝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3695700" y="5629275"/>
            <a:ext cx="9525" cy="95250"/>
          </a:xfrm>
          <a:prstGeom prst="rect">
            <a:avLst/>
          </a:prstGeom>
          <a:solidFill>
            <a:srgbClr val="15120E">
              <a:alpha val="22000"/>
            </a:srgbClr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914775" y="5610225"/>
            <a:ext cx="11334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A6361B"/>
                </a:solidFill>
                <a:latin typeface="LXGW WenKai"/>
                <a:ea typeface="LXGW WenKai"/>
              </a:rPr>
              <a:t xml:space="preserve">2027.09.09 </a:t>
            </a:r>
            <a:r>
              <a:rPr lang="zh-CN" sz="825" spc="188">
                <a:solidFill>
                  <a:srgbClr val="A6361B"/>
                </a:solidFill>
                <a:latin typeface="LXGW WenKai"/>
                <a:ea typeface="LXGW WenKai"/>
              </a:rPr>
              <a:t>公测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324600" y="3067050"/>
            <a:ext cx="180975" cy="1943100"/>
          </a:xfrm>
          <a:prstGeom prst="rect"/>
        </p:spPr>
        <p:txBody>
          <a:bodyPr wrap="none" lIns="0" tIns="0" rIns="0" bIns="0"/>
          <a:p>
            <a:pPr algn="ctr">
              <a:lnSpc>
                <a:spcPct val="200000"/>
              </a:lnSpc>
            </a:pPr>
            <a:r>
              <a:rPr lang="zh-CN" sz="1275" spc="150">
                <a:solidFill>
                  <a:srgbClr val="15120E">
                    <a:alpha val="52000"/>
                  </a:srgbClr>
                </a:solidFill>
                <a:latin typeface="STKaiti"/>
                <a:ea typeface="STKaiti"/>
              </a:rPr>
              <a:t>提</a:t>
            </a:r>
            <a:endParaRPr/>
          </a:p>
          <a:p>
            <a:pPr algn="ctr">
              <a:lnSpc>
                <a:spcPct val="200000"/>
              </a:lnSpc>
            </a:pPr>
            <a:r>
              <a:rPr lang="zh-CN" sz="1275" spc="150">
                <a:solidFill>
                  <a:srgbClr val="15120E">
                    <a:alpha val="52000"/>
                  </a:srgbClr>
                </a:solidFill>
                <a:latin typeface="STKaiti"/>
                <a:ea typeface="STKaiti"/>
              </a:rPr>
              <a:t>剑</a:t>
            </a:r>
            <a:endParaRPr/>
          </a:p>
          <a:p>
            <a:pPr algn="ctr">
              <a:lnSpc>
                <a:spcPct val="200000"/>
              </a:lnSpc>
            </a:pPr>
            <a:r>
              <a:rPr lang="zh-CN" sz="1275" spc="150">
                <a:solidFill>
                  <a:srgbClr val="15120E">
                    <a:alpha val="52000"/>
                  </a:srgbClr>
                </a:solidFill>
                <a:latin typeface="STKaiti"/>
                <a:ea typeface="STKaiti"/>
              </a:rPr>
              <a:t>入</a:t>
            </a:r>
            <a:endParaRPr/>
          </a:p>
          <a:p>
            <a:pPr algn="ctr">
              <a:lnSpc>
                <a:spcPct val="200000"/>
              </a:lnSpc>
            </a:pPr>
            <a:r>
              <a:rPr lang="zh-CN" sz="1275" spc="150">
                <a:solidFill>
                  <a:srgbClr val="15120E">
                    <a:alpha val="52000"/>
                  </a:srgbClr>
                </a:solidFill>
                <a:latin typeface="STKaiti"/>
                <a:ea typeface="STKaiti"/>
              </a:rPr>
              <a:t>江</a:t>
            </a:r>
            <a:endParaRPr/>
          </a:p>
          <a:p>
            <a:pPr algn="ctr">
              <a:lnSpc>
                <a:spcPct val="200000"/>
              </a:lnSpc>
            </a:pPr>
            <a:r>
              <a:rPr lang="zh-CN" sz="1275" spc="150">
                <a:solidFill>
                  <a:srgbClr val="15120E">
                    <a:alpha val="52000"/>
                  </a:srgbClr>
                </a:solidFill>
                <a:latin typeface="STKaiti"/>
                <a:ea typeface="STKaiti"/>
              </a:rPr>
              <a:t>湖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23900" y="6448425"/>
            <a:ext cx="18478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225">
                <a:solidFill>
                  <a:srgbClr val="5C5245"/>
                </a:solidFill>
                <a:latin typeface="LXGW WenKai"/>
                <a:ea typeface="LXGW WenKai"/>
              </a:rPr>
              <a:t>拾墨工作室　</a:t>
            </a:r>
            <a:r>
              <a:rPr lang="en-US" sz="788" spc="225">
                <a:solidFill>
                  <a:srgbClr val="5C5245"/>
                </a:solidFill>
                <a:latin typeface="LXGW WenKai"/>
                <a:ea typeface="LXGW WenKai"/>
              </a:rPr>
              <a:t>STUDIO SHIMO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877550" y="6438900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300">
                <a:solidFill>
                  <a:srgbClr val="15120E">
                    <a:alpha val="50000"/>
                  </a:srgbClr>
                </a:solidFill>
                <a:latin typeface="LXGW WenKai"/>
                <a:ea typeface="LXGW WenKai"/>
              </a:rPr>
              <a:t>01 / 12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2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2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2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2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37" presetID="2" presetClass="entr" presetSubtype="4" fill="hold" grpId="1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41" presetID="10" presetClass="entr" presetSubtype="0" fill="hold" grpId="2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"/>
                            </p:stCondLst>
                            <p:childTnLst>
                              <p:par>
                                <p:cTn id="44" presetID="10" presetClass="entr" presetSubtype="0" fill="hold" grpId="3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26" name="" descr="&lt;Slide style={{ width: 1280, height: 720, backgroundColor: '#F3EBDC', position: 'relative', padding: 0 }}&gt;&#13;&#10;    &lt;Image src=&quot;assets/paper_1280.png&quot; style={{ position: 'absolute', left: 0, top: 0, width: 1280, height: 720 }} /&gt;&#13;&#10;    &lt;Image src=&quot;assets/02_town_rain.jpg&quot; style={{ position: 'absolute', left: 0, top: 0, width: 648, height: 720, objectFit: 'cover' }} /&gt;&#13;&#10;    &lt;Box style={{ position: 'absolute', left: 0, top: 0, width: 648, height: 720, background: 'linear-gradient(90deg, rgba(21,18,14,0.30) 0%, rgba(21,18,14,0.02) 40%, rgba(243,235,220,0.10) 72%, rgba(243,235,220,0.96) 96%, #F3EBDC 100%)' }} /&gt;&#13;&#10;    &lt;Box style={{ position: 'absolute', left: 0, top: 0, width: 648, height: 720, background: 'linear-gradient(180deg, rgba(21,18,14,0.34) 0%, rgba(21,18,14,0) 26%, rgba(21,18,14,0) 74%, rgba(21,18,14,0.40) 100%)' }} /&gt;&#13;&#10;    &lt;Box style={{position: 'absolute', left: 648, top: 0, width: 1, height: 720, backgroundColor: 'rgba(21,18,14,0.18)'}} /&gt;&#13;&#10;&#13;&#10;    &lt;Box style={{ position: 'absolute', left: 40, top: 38, backgroundColor: 'rgba(243,235,220,0.88)', paddingLeft: 12, paddingRight: 12, paddingTop: 5, paddingBottom: 5 }}&gt;&lt;Text style={{fontFamily: 'LXGW WenKai', fontSize: 10.5, color: '#3B342B', letterSpacing: 5}}&gt;壹 · 天下&lt;/Text&gt;&lt;/Box&gt;&#13;&#10;    &#13;&#10;    &lt;Text style={{fontFamily: 'STKaiti', fontSize: 38, fontWeight: 'bold', color: '#15120E', letterSpacing: 3, position: 'absolute', left: 700, top: 62}}&gt;天下失序，江湖自生&lt;/Text&gt;&#13;&#10;    &lt;Box style={{ position: 'absolute', left: 700, top: 132, width: 508, height: 1, backgroundColor: 'rgba(21,18,14,0.14)' }} /&gt;&#13;&#10;    &lt;Box style={{ position: 'absolute', left: 700, top: 132, width: 64, height: 2, backgroundColor: '#A6361B' }} /&gt;&#13;&#10;&#13;&#10;    &lt;Text style={{fontFamily: 'LXGW WenKai', fontSize: 14.5, color: '#3B342B', lineHeight: 2.0, letterSpacing: 0.8, position: 'absolute', left: 700, top: 170, width: 508}}&gt;景和六年，朝廷的水师在沉沙渡尽没。三年之后，驿道上再没有换马的官吏——山河，交还给了拿刀的人。&lt;/Text&gt;&#13;&#10;&#13;&#10;    &lt;Text style={{fontFamily: 'STKaiti', fontSize: 12, color: '#A6361B', letterSpacing: 2, position: 'absolute', left: 700, top: 304}}&gt;01&lt;/Text&gt;&#13;&#10;    &lt;Text style={{fontFamily: 'STKaiti', fontSize: 19, fontWeight: 'bold', color: '#15120E', letterSpacing: 1.5, position: 'absolute', left: 736, top: 298}}&gt;景和六年 · 沉沙渡&lt;/Text&gt;&#13;&#10;    &lt;Text style={{fontFamily: 'LXGW WenKai', fontSize: 12.5, color: '#3B342B', lineHeight: 1.95, letterSpacing: 0.5, position: 'absolute', left: 736, top: 332, width: 470}}&gt;水师尽没，漕运断绝。中原的粮价，在四十天里涨了七倍。&lt;/Text&gt;&#13;&#10;    &lt;Box style={{position: 'absolute', left: 700, top: 374, width: 508, height: 1, backgroundColor: 'rgba(21,18,14,0.14)'}} /&gt;&#13;&#10;    &lt;Text style={{fontFamily: 'STKaiti', fontSize: 12, color: '#A6361B', letterSpacing: 2, position: 'absolute', left: 700, top: 400}}&gt;02&lt;/Text&gt;&#13;&#10;    &lt;Text style={{fontFamily: 'STKaiti', fontSize: 19, fontWeight: 'bold', color: '#15120E', letterSpacing: 1.5, position: 'absolute', left: 736, top: 394}}&gt;景和七年 · 各立门规&lt;/Text&gt;&#13;&#10;    &lt;Text style={{fontFamily: 'LXGW WenKai', fontSize: 12.5, color: '#3B342B', lineHeight: 1.95, letterSpacing: 0.5, position: 'absolute', left: 736, top: 428, width: 470}}&gt;官府的手退回城墙以内。镖旗、乡约与门派戒律，成了新的律法。&lt;/Text&gt;&#13;&#10;    &lt;Box style={{position: 'absolute', left: 700, top: 470, width: 508, height: 1, backgroundColor: 'rgba(21,18,14,0.14)'}} /&gt;&#13;&#10;    &lt;Text style={{fontFamily: 'STKaiti', fontSize: 12, color: '#A6361B', letterSpacing: 2, position: 'absolute', left: 700, top: 496}}&gt;03&lt;/Text&gt;&#13;&#10;    &lt;Text style={{fontFamily: 'STKaiti', fontSize: 19, fontWeight: 'bold', color: '#15120E', letterSpacing: 1.5, position: 'absolute', left: 736, top: 490}}&gt;景和九年 · 山河令&lt;/Text&gt;&#13;&#10;    &lt;Text style={{fontFamily: 'LXGW WenKai', fontSize: 12.5, color: '#3B342B', lineHeight: 1.95, letterSpacing: 0.5, position: 'absolute', left: 736, top: 524, width: 470}}&gt;七派在苍岭立碑划定地界。碑上留着一行空位——没有人知道该写谁的名字。&lt;/Text&gt;&#13;&#10;    &lt;Box style={{position: 'absolute', left: 700, top: 566, width: 508, height: 1, backgroundColor: 'rgba(21,18,14,0.14)'}} /&gt;&#13;&#10;&#13;&#10;    &lt;Text style={{fontFamily: 'STKaiti', fontSize: 14, color: '#A6361B', lineHeight: 1.9, letterSpacing: 1, position: 'absolute', left: 700, top: 600, width: 508}}&gt;「乱世不是背景板。正因为没有秩序，你做的每一件事，才都算数。」&lt;/Text&gt;&#13;&#10;&#13;&#10;    &lt;Text style={{fontFamily: 'LXGW WenKai', fontSize: 10, color: 'rgba(243,235,220,0.80)', letterSpacing: 2, position: 'absolute', left: 44, top: 676}}&gt;雨夜 · 云渡镇　景和九年冬&lt;/Text&gt;&#13;&#10;    &lt;Text style={{fontFamily: 'LXGW WenKai', fontSize: 10.5, color: '#8B8175', letterSpacing: 3, position: 'absolute', right: 72, top: 677}}&gt;02 / 12&lt;/Text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3EBDC"/>
          </a:solidFill>
          <a:ln/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129" name=""/>
          <p:cNvPicPr>
            <a:picLocks noChangeAspect="1"/>
          </p:cNvPicPr>
          <p:nvPr/>
        </p:nvPicPr>
        <p:blipFill>
          <a:blip r:embed="rId2"/>
          <a:srcRect l="21816" t="0" r="21816" b="0"/>
          <a:stretch>
            <a:fillRect/>
          </a:stretch>
        </p:blipFill>
        <p:spPr>
          <a:xfrm rot="0" flipH="0" flipV="0">
            <a:off x="0" y="0"/>
            <a:ext cx="6172200" cy="6858000"/>
          </a:xfrm>
          <a:prstGeom prst="rect">
            <a:avLst/>
          </a:prstGeom>
          <a:ln/>
        </p:spPr>
      </p:pic>
      <p:sp>
        <p:nvSpPr>
          <p:cNvPr id="130" name=""/>
          <p:cNvSpPr/>
          <p:nvPr/>
        </p:nvSpPr>
        <p:spPr>
          <a:xfrm rot="0" flipH="0" flipV="0">
            <a:off x="0" y="0"/>
            <a:ext cx="6172200" cy="6858000"/>
          </a:xfrm>
          <a:prstGeom prst="rect">
            <a:avLst/>
          </a:prstGeom>
          <a:gradFill>
            <a:gsLst>
              <a:gs pos="0">
                <a:srgbClr val="15120E">
                  <a:alpha val="30000"/>
                </a:srgbClr>
              </a:gs>
              <a:gs pos="40000">
                <a:srgbClr val="15120E">
                  <a:alpha val="2000"/>
                </a:srgbClr>
              </a:gs>
              <a:gs pos="72000">
                <a:srgbClr val="F3EBDC">
                  <a:alpha val="10000"/>
                </a:srgbClr>
              </a:gs>
              <a:gs pos="96000">
                <a:srgbClr val="F3EBDC">
                  <a:alpha val="96000"/>
                </a:srgbClr>
              </a:gs>
              <a:gs pos="100000">
                <a:srgbClr val="F3EBDC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0" y="0"/>
            <a:ext cx="6172200" cy="6858000"/>
          </a:xfrm>
          <a:prstGeom prst="rect">
            <a:avLst/>
          </a:prstGeom>
          <a:gradFill>
            <a:gsLst>
              <a:gs pos="0">
                <a:srgbClr val="15120E">
                  <a:alpha val="34000"/>
                </a:srgbClr>
              </a:gs>
              <a:gs pos="26000">
                <a:srgbClr val="15120E">
                  <a:alpha val="0"/>
                </a:srgbClr>
              </a:gs>
              <a:gs pos="74000">
                <a:srgbClr val="15120E">
                  <a:alpha val="0"/>
                </a:srgbClr>
              </a:gs>
              <a:gs pos="100000">
                <a:srgbClr val="15120E">
                  <a:alpha val="40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6172200" y="0"/>
            <a:ext cx="9525" cy="6858000"/>
          </a:xfrm>
          <a:prstGeom prst="rect">
            <a:avLst/>
          </a:prstGeom>
          <a:solidFill>
            <a:srgbClr val="15120E">
              <a:alpha val="18000"/>
            </a:srgbClr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381000" y="361950"/>
            <a:ext cx="923925" cy="219075"/>
          </a:xfrm>
          <a:prstGeom prst="rect">
            <a:avLst/>
          </a:prstGeom>
          <a:solidFill>
            <a:srgbClr val="F3EBDC">
              <a:alpha val="88000"/>
            </a:srgbClr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95300" y="409575"/>
            <a:ext cx="6953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375">
                <a:solidFill>
                  <a:srgbClr val="3B342B"/>
                </a:solidFill>
                <a:latin typeface="LXGW WenKai"/>
                <a:ea typeface="LXGW WenKai"/>
              </a:rPr>
              <a:t>壹</a:t>
            </a:r>
            <a:r>
              <a:rPr lang="en-US" sz="788" spc="375">
                <a:solidFill>
                  <a:srgbClr val="3B342B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788" spc="375">
                <a:solidFill>
                  <a:srgbClr val="3B342B"/>
                </a:solidFill>
                <a:latin typeface="LXGW WenKai"/>
                <a:ea typeface="LXGW WenKai"/>
              </a:rPr>
              <a:t>天下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667500" y="590550"/>
            <a:ext cx="35147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 spc="225">
                <a:solidFill>
                  <a:srgbClr val="15120E"/>
                </a:solidFill>
                <a:latin typeface="STKaiti"/>
                <a:ea typeface="STKaiti"/>
              </a:rPr>
              <a:t>天下失序，江湖自生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667500" y="1257300"/>
            <a:ext cx="48387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6667500" y="1257300"/>
            <a:ext cx="609600" cy="190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667500" y="1619250"/>
            <a:ext cx="48387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088" spc="60">
                <a:solidFill>
                  <a:srgbClr val="3B342B"/>
                </a:solidFill>
                <a:latin typeface="LXGW WenKai"/>
                <a:ea typeface="LXGW WenKai"/>
              </a:rPr>
              <a:t>景和六年，朝廷的水师在沉沙渡尽没。三年之后，驿道上再没有换马的官吏——山河，交还给了拿刀的人。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667500" y="2895600"/>
            <a:ext cx="15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A6361B"/>
                </a:solidFill>
                <a:latin typeface="STKaiti"/>
                <a:ea typeface="STKaiti"/>
              </a:rPr>
              <a:t>01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010400" y="2838450"/>
            <a:ext cx="1685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 spc="113">
                <a:solidFill>
                  <a:srgbClr val="15120E"/>
                </a:solidFill>
                <a:latin typeface="STKaiti"/>
                <a:ea typeface="STKaiti"/>
              </a:rPr>
              <a:t>景和六年</a:t>
            </a:r>
            <a:r>
              <a:rPr lang="en-US" sz="1425" b="1" spc="113">
                <a:solidFill>
                  <a:srgbClr val="15120E"/>
                </a:solidFill>
                <a:latin typeface="STKaiti"/>
                <a:ea typeface="STKaiti"/>
              </a:rPr>
              <a:t xml:space="preserve"> · </a:t>
            </a:r>
            <a:r>
              <a:rPr lang="zh-CN" sz="1425" b="1" spc="113">
                <a:solidFill>
                  <a:srgbClr val="15120E"/>
                </a:solidFill>
                <a:latin typeface="STKaiti"/>
                <a:ea typeface="STKaiti"/>
              </a:rPr>
              <a:t>沉沙渡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010400" y="3162300"/>
            <a:ext cx="4476750" cy="285750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938" spc="38">
                <a:solidFill>
                  <a:srgbClr val="3B342B"/>
                </a:solidFill>
                <a:latin typeface="LXGW WenKai"/>
                <a:ea typeface="LXGW WenKai"/>
              </a:rPr>
              <a:t>水师尽没，漕运断绝。中原的粮价，在四十天里涨了七倍。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667500" y="3562350"/>
            <a:ext cx="48387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667500" y="3810000"/>
            <a:ext cx="15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A6361B"/>
                </a:solidFill>
                <a:latin typeface="STKaiti"/>
                <a:ea typeface="STKaiti"/>
              </a:rPr>
              <a:t>02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010400" y="3752850"/>
            <a:ext cx="1876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 spc="113">
                <a:solidFill>
                  <a:srgbClr val="15120E"/>
                </a:solidFill>
                <a:latin typeface="STKaiti"/>
                <a:ea typeface="STKaiti"/>
              </a:rPr>
              <a:t>景和七年</a:t>
            </a:r>
            <a:r>
              <a:rPr lang="en-US" sz="1425" b="1" spc="113">
                <a:solidFill>
                  <a:srgbClr val="15120E"/>
                </a:solidFill>
                <a:latin typeface="STKaiti"/>
                <a:ea typeface="STKaiti"/>
              </a:rPr>
              <a:t xml:space="preserve"> · </a:t>
            </a:r>
            <a:r>
              <a:rPr lang="zh-CN" sz="1425" b="1" spc="113">
                <a:solidFill>
                  <a:srgbClr val="15120E"/>
                </a:solidFill>
                <a:latin typeface="STKaiti"/>
                <a:ea typeface="STKaiti"/>
              </a:rPr>
              <a:t>各立门规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010400" y="4076700"/>
            <a:ext cx="4476750" cy="285750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938" spc="38">
                <a:solidFill>
                  <a:srgbClr val="3B342B"/>
                </a:solidFill>
                <a:latin typeface="LXGW WenKai"/>
                <a:ea typeface="LXGW WenKai"/>
              </a:rPr>
              <a:t>官府的手退回城墙以内。镖旗、乡约与门派戒律，成了新的律法。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667500" y="4476750"/>
            <a:ext cx="48387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667500" y="4724400"/>
            <a:ext cx="15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A6361B"/>
                </a:solidFill>
                <a:latin typeface="STKaiti"/>
                <a:ea typeface="STKaiti"/>
              </a:rPr>
              <a:t>03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010400" y="4667250"/>
            <a:ext cx="1685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 spc="113">
                <a:solidFill>
                  <a:srgbClr val="15120E"/>
                </a:solidFill>
                <a:latin typeface="STKaiti"/>
                <a:ea typeface="STKaiti"/>
              </a:rPr>
              <a:t>景和九年</a:t>
            </a:r>
            <a:r>
              <a:rPr lang="en-US" sz="1425" b="1" spc="113">
                <a:solidFill>
                  <a:srgbClr val="15120E"/>
                </a:solidFill>
                <a:latin typeface="STKaiti"/>
                <a:ea typeface="STKaiti"/>
              </a:rPr>
              <a:t xml:space="preserve"> · </a:t>
            </a:r>
            <a:r>
              <a:rPr lang="zh-CN" sz="1425" b="1" spc="113">
                <a:solidFill>
                  <a:srgbClr val="15120E"/>
                </a:solidFill>
                <a:latin typeface="STKaiti"/>
                <a:ea typeface="STKaiti"/>
              </a:rPr>
              <a:t>山河令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010400" y="4991100"/>
            <a:ext cx="4476750" cy="285750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938" spc="38">
                <a:solidFill>
                  <a:srgbClr val="3B342B"/>
                </a:solidFill>
                <a:latin typeface="LXGW WenKai"/>
                <a:ea typeface="LXGW WenKai"/>
              </a:rPr>
              <a:t>七派在苍岭立碑划定地界。碑上留着一行空位——没有人知道该写谁的名字。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667500" y="5391150"/>
            <a:ext cx="48387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667500" y="5715000"/>
            <a:ext cx="48387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50" spc="75">
                <a:solidFill>
                  <a:srgbClr val="A6361B"/>
                </a:solidFill>
                <a:latin typeface="STKaiti"/>
                <a:ea typeface="STKaiti"/>
              </a:rPr>
              <a:t>「乱世不是背景板。正因为没有秩序，你做的每一件事，才都算数。」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19100" y="6438900"/>
            <a:ext cx="1419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150">
                <a:solidFill>
                  <a:srgbClr val="F3EBDC">
                    <a:alpha val="80000"/>
                  </a:srgbClr>
                </a:solidFill>
                <a:latin typeface="LXGW WenKai"/>
                <a:ea typeface="LXGW WenKai"/>
              </a:rPr>
              <a:t>雨夜</a:t>
            </a:r>
            <a:r>
              <a:rPr lang="en-US" sz="750" spc="150">
                <a:solidFill>
                  <a:srgbClr val="F3EBDC">
                    <a:alpha val="80000"/>
                  </a:srgbClr>
                </a:solidFill>
                <a:latin typeface="LXGW WenKai"/>
                <a:ea typeface="LXGW WenKai"/>
              </a:rPr>
              <a:t xml:space="preserve"> · </a:t>
            </a:r>
            <a:r>
              <a:rPr lang="zh-CN" sz="750" spc="150">
                <a:solidFill>
                  <a:srgbClr val="F3EBDC">
                    <a:alpha val="80000"/>
                  </a:srgbClr>
                </a:solidFill>
                <a:latin typeface="LXGW WenKai"/>
                <a:ea typeface="LXGW WenKai"/>
              </a:rPr>
              <a:t>云渡镇　景和九年冬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953750" y="6448425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25">
                <a:solidFill>
                  <a:srgbClr val="8B8175"/>
                </a:solidFill>
                <a:latin typeface="LXGW WenKai"/>
                <a:ea typeface="LXGW WenKa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54" name="" descr="&lt;Slide style={{ width: 1280, height: 720, backgroundColor: '#F3EBDC', position: 'relative', padding: 0 }}&gt;&#13;&#10;    &lt;Image src=&quot;assets/03_map_jianghu.jpg&quot; style={{ position: 'absolute', left: 0, top: 0, width: 1280, height: 720, objectFit: 'cover' }} /&gt;&#13;&#10;    &lt;Box style={{ position: 'absolute', left: 0, top: 0, width: 1280, height: 720, background: 'linear-gradient(180deg, rgba(243,235,220,0.99) 0%, rgba(243,235,220,0.95) 14%, rgba(243,235,220,0.55) 22%, rgba(243,235,220,0.05) 32%, rgba(243,235,220,0) 46%, rgba(243,235,220,0.10) 80%, rgba(243,235,220,0.30) 100%)' }} /&gt;&#13;&#10;&#13;&#10;    &#13;&#10;    &lt;Box style={{position: 'absolute', left: 72, top: 46, flexDirection: 'row', alignItems: 'center', gap: 10}}&gt;&#13;&#10;        &lt;Box style={{width: 5, height: 5, backgroundColor: '#A6361B'}} /&gt;&#13;&#10;        &lt;Text style={{fontFamily: 'LXGW WenKai', fontSize: 11.5, color: '#8B8175', letterSpacing: 6}}&gt;贰 · 山河&lt;/Text&gt;&#13;&#10;    &lt;/Box&gt;&#13;&#10;    &lt;Text style={{fontFamily: 'STKaiti', fontSize: 38, fontWeight: 'bold', color: '#15120E', letterSpacing: 3, lineHeight: 1.2, position: 'absolute', left: 72, top: 64}}&gt;一张宣纸，五处江湖&lt;/Text&gt;&#13;&#10;    &lt;Text style={{fontFamily: 'LXGW WenKai', fontSize: 10.5, color: '#A79B8A', letterSpacing: 3.5, position: 'absolute', right: 72, top: 90}}&gt;FIVE REGIONS　·　ONE CONTINUOUS LAND&lt;/Text&gt;&#13;&#10;    &lt;Box style={{position: 'absolute', left: 72, top: 134, width: 1136, height: 1, backgroundColor: 'rgba(21,18,14,0.14)'}} /&gt;&#13;&#10;    &lt;Box style={{position: 'absolute', left: 72, top: 134, width: 64, height: 2, backgroundColor: '#A6361B'}} /&gt;&#13;&#10;&#13;&#10;&lt;Animation animType=&quot;fadeIn&quot; duration={480} startType=&quot;afterPrevious&quot; delay={0}&gt;&#13;&#10;    &lt;Box style={{ position: 'absolute', left: 148, top: 232, backgroundColor: 'rgba(243,235,220,0.91)', border: '1px solid rgba(21,18,14,0.24)', paddingLeft: 12, paddingRight: 14, paddingTop: 8, paddingBottom: 9, flexDirection: 'column' }}&gt;&#13;&#10;        &lt;Box style={{ flexDirection: 'row', alignItems: 'center', gap: 7 }}&gt;&#13;&#10;            &lt;Box style={{ width: 6, height: 6, backgroundColor: '#A6361B' }} /&gt;&#13;&#10;            &lt;Text style={{ fontFamily: 'LXGW WenKai', fontSize: 8.5, color: '#A6361B', letterSpacing: 2.5 }}&gt;CANG LING&lt;/Text&gt;&#13;&#10;        &lt;/Box&gt;&#13;&#10;        &lt;Text style={{ fontFamily: 'STKaiti', fontSize: 21, fontWeight: 'bold', color: '#15120E', letterSpacing: 2, marginTop: 3 }}&gt;苍岭&lt;/Text&gt;&#13;&#10;        &lt;Text style={{ fontFamily: 'LXGW WenKai', fontSize: 9.5, color: '#5C5245', letterSpacing: 0.5, marginTop: 2 }}&gt;雪线以上 · 剑冢与听雪台&lt;/Text&gt;&#13;&#10;    &lt;/Box&gt;&lt;/Animation&gt;&lt;Animation animType=&quot;fadeIn&quot; duration={480} startType=&quot;afterPrevious&quot; delay={0}&gt;&#13;&#10;    &lt;Box style={{ position: 'absolute', left: 590, top: 206, backgroundColor: 'rgba(243,235,220,0.91)', border: '1px solid rgba(21,18,14,0.24)', paddingLeft: 12, paddingRight: 14, paddingTop: 8, paddingBottom: 9, flexDirection: 'column' }}&gt;&#13;&#10;        &lt;Box style={{ flexDirection: 'row', alignItems: 'center', gap: 7 }}&gt;&#13;&#10;            &lt;Box style={{ width: 6, height: 6, backgroundColor: '#A6361B' }} /&gt;&#13;&#10;            &lt;Text style={{ fontFamily: 'LXGW WenKai', fontSize: 8.5, color: '#A6361B', letterSpacing: 2.5 }}&gt;YUN DU&lt;/Text&gt;&#13;&#10;        &lt;/Box&gt;&#13;&#10;        &lt;Text style={{ fontFamily: 'STKaiti', fontSize: 21, fontWeight: 'bold', color: '#15120E', letterSpacing: 2, marginTop: 3 }}&gt;云渡&lt;/Text&gt;&#13;&#10;        &lt;Text style={{ fontFamily: 'LXGW WenKai', fontSize: 9.5, color: '#5C5245', letterSpacing: 0.5, marginTop: 2 }}&gt;云海渡口 · 商路与水路交汇&lt;/Text&gt;&#13;&#10;    &lt;/Box&gt;&lt;/Animation&gt;&lt;Animation animType=&quot;fadeIn&quot; duration={480} startType=&quot;afterPrevious&quot; delay={0}&gt;&#13;&#10;    &lt;Box style={{ position: 'absolute', left: 952, top: 336, backgroundColor: 'rgba(243,235,220,0.91)', border: '1px solid rgba(21,18,14,0.24)', paddingLeft: 12, paddingRight: 14, paddingTop: 8, paddingBottom: 9, flexDirection: 'column' }}&gt;&#13;&#10;        &lt;Box style={{ flexDirection: 'row', alignItems: 'center', gap: 7 }}&gt;&#13;&#10;            &lt;Box style={{ width: 6, height: 6, backgroundColor: '#A6361B' }} /&gt;&#13;&#10;            &lt;Text style={{ fontFamily: 'LXGW WenKai', fontSize: 8.5, color: '#A6361B', letterSpacing: 2.5 }}&gt;LUO XIA&lt;/Text&gt;&#13;&#10;        &lt;/Box&gt;&#13;&#10;        &lt;Text style={{ fontFamily: 'STKaiti', fontSize: 21, fontWeight: 'bold', color: '#15120E', letterSpacing: 2, marginTop: 3 }}&gt;落霞原&lt;/Text&gt;&#13;&#10;        &lt;Text style={{ fontFamily: 'LXGW WenKai', fontSize: 9.5, color: '#5C5245', letterSpacing: 0.5, marginTop: 2 }}&gt;高原草场 · 马帮与烽燧&lt;/Text&gt;&#13;&#10;    &lt;/Box&gt;&lt;/Animation&gt;&lt;Animation animType=&quot;fadeIn&quot; duration={480} startType=&quot;afterPrevious&quot; delay={0}&gt;&#13;&#10;    &lt;Box style={{ position: 'absolute', left: 148, top: 420, backgroundColor: 'rgba(243,235,220,0.91)', border: '1px solid rgba(21,18,14,0.24)', paddingLeft: 12, paddingRight: 14, paddingTop: 8, paddingBottom: 9, flexDirection: 'column' }}&gt;&#13;&#10;        &lt;Box style={{ flexDirection: 'row', alignItems: 'center', gap: 7 }}&gt;&#13;&#10;            &lt;Box style={{ width: 6, height: 6, backgroundColor: '#A6361B' }} /&gt;&#13;&#10;            &lt;Text style={{ fontFamily: 'LXGW WenKai', fontSize: 8.5, color: '#A6361B', letterSpacing: 2.5 }}&gt;CHANG YE&lt;/Text&gt;&#13;&#10;        &lt;/Box&gt;&#13;&#10;        &lt;Text style={{ fontFamily: 'STKaiti', fontSize: 21, fontWeight: 'bold', color: '#15120E', letterSpacing: 2, marginTop: 3 }}&gt;长夜司&lt;/Text&gt;&#13;&#10;        &lt;Text style={{ fontFamily: 'LXGW WenKai', fontSize: 9.5, color: '#5C5245', letterSpacing: 0.5, marginTop: 2 }}&gt;旧都高墙 · 提灯巡夜&lt;/Text&gt;&#13;&#10;    &lt;/Box&gt;&lt;/Animation&gt;&lt;Animation animType=&quot;fadeIn&quot; duration={480} startType=&quot;afterPrevious&quot; delay={0}&gt;&#13;&#10;    &lt;Box style={{ position: 'absolute', left: 604, top: 436, backgroundColor: 'rgba(243,235,220,0.91)', border: '1px solid rgba(21,18,14,0.24)', paddingLeft: 12, paddingRight: 14, paddingTop: 8, paddingBottom: 9, flexDirection: 'column' }}&gt;&#13;&#10;        &lt;Box style={{ flexDirection: 'row', alignItems: 'center', gap: 7 }}&gt;&#13;&#10;            &lt;Box style={{ width: 6, height: 6, backgroundColor: '#A6361B' }} /&gt;&#13;&#10;            &lt;Text style={{ fontFamily: 'LXGW WenKai', fontSize: 8.5, color: '#A6361B', letterSpacing: 2.5 }}&gt;CHEN SHA&lt;/Text&gt;&#13;&#10;        &lt;/Box&gt;&#13;&#10;        &lt;Text style={{ fontFamily: 'STKaiti', fontSize: 21, fontWeight: 'bold', color: '#15120E', letterSpacing: 2, marginTop: 3 }}&gt;沉沙渡&lt;/Text&gt;&#13;&#10;        &lt;Text style={{ fontFamily: 'LXGW WenKai', fontSize: 9.5, color: '#5C5245', letterSpacing: 0.5, marginTop: 2 }}&gt;干涸沙洲 · 三年前的战场&lt;/Text&gt;&#13;&#10;    &lt;/Box&gt;&lt;/Animation&gt;&#13;&#10;&#13;&#10;    &lt;Box style={{ position: 'absolute', left: 72, top: 548, width: 1136, height: 96, backgroundColor: 'rgba(243,235,220,0.93)', border: '1px solid rgba(21,18,14,0.20)' }}&gt;&#13;&#10;        &lt;Box style={{ flexDirection: 'row', alignItems: 'center', justifyContent: 'space-between', width: 1092, height: 94, marginLeft: 22 }}&gt;&#13;&#10;            &lt;Box style={{ flexDirection: 'column', width: 560 }}&gt;&#13;&#10;                &lt;Text style={{ fontFamily: 'LXGW WenKai', fontSize: 12, color: '#3B342B', letterSpacing: 0.8, lineHeight: 1.85 }}&gt;五片区域不是五个关卡，是一张连续的地形。&lt;br /&gt;从水乡走到雪岭，中间没有一次读条，也没有一堵看不见的墙。&lt;/Text&gt;&#13;&#10;            &lt;/Box&gt;&#13;&#10;            &lt;Box style={{ flexDirection: 'row', alignItems: 'center', gap: 26 }}&gt;&#13;&#10;&#13;&#10;            &lt;Box style={{ flexDirection: 'column' }}&gt;&#13;&#10;                &lt;Text style={{ fontFamily: 'STKaiti', fontSize: 25, fontWeight: 'bold', color: '#15120E', letterSpacing: 1.5 }}&gt;一千二百里&lt;/Text&gt;&#13;&#10;                &lt;Text style={{ fontFamily: 'LXGW WenKai', fontSize: 8, color: '#8B8175', letterSpacing: 2.2, marginTop: 4 }}&gt;WALKABLE, NO LOADING&lt;/Text&gt;&#13;&#10;            &lt;/Box&gt;&lt;Box style={{ width: 1, height: 30, backgroundColor: 'rgba(21,18,14,0.20)' }} /&gt;&#13;&#10;            &lt;Box style={{ flexDirection: 'column' }}&gt;&#13;&#10;                &lt;Text style={{ fontFamily: 'STKaiti', fontSize: 25, fontWeight: 'bold', color: '#15120E', letterSpacing: 1.5 }}&gt;五域无缝&lt;/Text&gt;&#13;&#10;                &lt;Text style={{ fontFamily: 'LXGW WenKai', fontSize: 8, color: '#8B8175', letterSpacing: 2.2, marginTop: 4 }}&gt;ONE LAND&lt;/Text&gt;&#13;&#10;            &lt;/Box&gt;&lt;Box style={{ width: 1, height: 30, backgroundColor: 'rgba(21,18,14,0.20)' }} /&gt;&#13;&#10;            &lt;Box style={{ flexDirection: 'column' }}&gt;&#13;&#10;                &lt;Text style={{ fontFamily: 'STKaiti', fontSize: 25, fontWeight: 'bold', color: '#15120E', letterSpacing: 1.5 }}&gt;七十二处&lt;/Text&gt;&#13;&#10;                &lt;Text style={{ fontFamily: 'LXGW WenKai', fontSize: 8, color: '#8B8175', letterSpacing: 2.2, marginTop: 4 }}&gt;HAND-PLACED SITES&lt;/Text&gt;&#13;&#10;            &lt;/Box&gt;&#13;&#10;            &lt;/Box&gt;&#13;&#10;        &lt;/Box&gt;&#13;&#10;    &lt;/Box&gt;&#13;&#10;&#13;&#10;    &lt;Text style={{fontFamily: 'LXGW WenKai', fontSize: 10.5, color: '#8B8175', letterSpacing: 3, position: 'absolute', right: 72, top: 677}}&gt;03 / 12&lt;/Text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3EBDC"/>
          </a:solidFill>
          <a:ln/>
        </p:spPr>
        <p:txBody>
          <a:bodyPr/>
          <a:p/>
        </p:txBody>
      </p:sp>
      <p:pic>
        <p:nvPicPr>
          <p:cNvPr id="156" name=""/>
          <p:cNvPicPr>
            <a:picLocks noChangeAspect="1"/>
          </p:cNvPicPr>
          <p:nvPr/>
        </p:nvPicPr>
        <p:blipFill>
          <a:blip r:embed="rId1"/>
          <a:srcRect l="0" t="5093" r="0" b="5093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EBDC">
                  <a:alpha val="99000"/>
                </a:srgbClr>
              </a:gs>
              <a:gs pos="14000">
                <a:srgbClr val="F3EBDC">
                  <a:alpha val="95000"/>
                </a:srgbClr>
              </a:gs>
              <a:gs pos="22000">
                <a:srgbClr val="F3EBDC">
                  <a:alpha val="55000"/>
                </a:srgbClr>
              </a:gs>
              <a:gs pos="32000">
                <a:srgbClr val="F3EBDC">
                  <a:alpha val="5000"/>
                </a:srgbClr>
              </a:gs>
              <a:gs pos="46000">
                <a:srgbClr val="F3EBDC">
                  <a:alpha val="0"/>
                </a:srgbClr>
              </a:gs>
              <a:gs pos="80000">
                <a:srgbClr val="F3EBDC">
                  <a:alpha val="10000"/>
                </a:srgbClr>
              </a:gs>
              <a:gs pos="100000">
                <a:srgbClr val="F3EBDC">
                  <a:alpha val="30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685800" y="485775"/>
            <a:ext cx="47625" cy="4762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28675" y="438150"/>
            <a:ext cx="790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贰</a:t>
            </a:r>
            <a:r>
              <a:rPr lang="en-US" sz="863" spc="450">
                <a:solidFill>
                  <a:srgbClr val="8B817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山河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85800" y="609600"/>
            <a:ext cx="3514725" cy="5238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850" b="1" spc="225">
                <a:solidFill>
                  <a:srgbClr val="15120E"/>
                </a:solidFill>
                <a:latin typeface="STKaiti"/>
                <a:ea typeface="STKaiti"/>
              </a:rPr>
              <a:t>一张宣纸，五处江湖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229600" y="857250"/>
            <a:ext cx="3276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63">
                <a:solidFill>
                  <a:srgbClr val="A79B8A"/>
                </a:solidFill>
                <a:latin typeface="LXGW WenKai"/>
                <a:ea typeface="LXGW WenKai"/>
              </a:rPr>
              <a:t>FIVE REGIONS</a:t>
            </a:r>
            <a:r>
              <a:rPr lang="zh-CN" sz="788" spc="263">
                <a:solidFill>
                  <a:srgbClr val="A79B8A"/>
                </a:solidFill>
                <a:latin typeface="LXGW WenKai"/>
                <a:ea typeface="LXGW WenKai"/>
              </a:rPr>
              <a:t>　·　</a:t>
            </a:r>
            <a:r>
              <a:rPr lang="en-US" sz="788" spc="263">
                <a:solidFill>
                  <a:srgbClr val="A79B8A"/>
                </a:solidFill>
                <a:latin typeface="LXGW WenKai"/>
                <a:ea typeface="LXGW WenKai"/>
              </a:rPr>
              <a:t>ONE CONTINUOUS LAND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85800" y="1276350"/>
            <a:ext cx="108204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685800" y="1276350"/>
            <a:ext cx="609600" cy="190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1409700" y="2209800"/>
            <a:ext cx="1314450" cy="676275"/>
          </a:xfrm>
          <a:prstGeom prst="rect">
            <a:avLst/>
          </a:prstGeom>
          <a:solidFill>
            <a:srgbClr val="F3EBDC">
              <a:alpha val="91000"/>
            </a:srgbClr>
          </a:solidFill>
          <a:ln w="12700">
            <a:solidFill>
              <a:srgbClr val="15120E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1524000" y="2314575"/>
            <a:ext cx="57150" cy="571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647825" y="2286000"/>
            <a:ext cx="666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88">
                <a:solidFill>
                  <a:srgbClr val="A6361B"/>
                </a:solidFill>
                <a:latin typeface="LXGW WenKai"/>
                <a:ea typeface="LXGW WenKai"/>
              </a:rPr>
              <a:t>CANG LING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524000" y="2419350"/>
            <a:ext cx="1066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50">
                <a:solidFill>
                  <a:srgbClr val="15120E"/>
                </a:solidFill>
                <a:latin typeface="STKaiti"/>
                <a:ea typeface="STKaiti"/>
              </a:rPr>
              <a:t>苍岭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524000" y="2686050"/>
            <a:ext cx="1066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38">
                <a:solidFill>
                  <a:srgbClr val="5C5245"/>
                </a:solidFill>
                <a:latin typeface="LXGW WenKai"/>
                <a:ea typeface="LXGW WenKai"/>
              </a:rPr>
              <a:t>雪线以上</a:t>
            </a:r>
            <a:r>
              <a:rPr lang="en-US" sz="713" spc="38">
                <a:solidFill>
                  <a:srgbClr val="5C524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713" spc="38">
                <a:solidFill>
                  <a:srgbClr val="5C5245"/>
                </a:solidFill>
                <a:latin typeface="LXGW WenKai"/>
                <a:ea typeface="LXGW WenKai"/>
              </a:rPr>
              <a:t>剑冢与听雪台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5619750" y="1962150"/>
            <a:ext cx="1409700" cy="676275"/>
          </a:xfrm>
          <a:prstGeom prst="rect">
            <a:avLst/>
          </a:prstGeom>
          <a:solidFill>
            <a:srgbClr val="F3EBDC">
              <a:alpha val="91000"/>
            </a:srgbClr>
          </a:solidFill>
          <a:ln w="12700">
            <a:solidFill>
              <a:srgbClr val="15120E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5734050" y="2066925"/>
            <a:ext cx="57150" cy="571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857875" y="2038350"/>
            <a:ext cx="4572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88">
                <a:solidFill>
                  <a:srgbClr val="A6361B"/>
                </a:solidFill>
                <a:latin typeface="LXGW WenKai"/>
                <a:ea typeface="LXGW WenKai"/>
              </a:rPr>
              <a:t>YUN DU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734050" y="2171700"/>
            <a:ext cx="1162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50">
                <a:solidFill>
                  <a:srgbClr val="15120E"/>
                </a:solidFill>
                <a:latin typeface="STKaiti"/>
                <a:ea typeface="STKaiti"/>
              </a:rPr>
              <a:t>云渡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734050" y="2438400"/>
            <a:ext cx="1162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38">
                <a:solidFill>
                  <a:srgbClr val="5C5245"/>
                </a:solidFill>
                <a:latin typeface="LXGW WenKai"/>
                <a:ea typeface="LXGW WenKai"/>
              </a:rPr>
              <a:t>云海渡口</a:t>
            </a:r>
            <a:r>
              <a:rPr lang="en-US" sz="713" spc="38">
                <a:solidFill>
                  <a:srgbClr val="5C524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713" spc="38">
                <a:solidFill>
                  <a:srgbClr val="5C5245"/>
                </a:solidFill>
                <a:latin typeface="LXGW WenKai"/>
                <a:ea typeface="LXGW WenKai"/>
              </a:rPr>
              <a:t>商路与水路交汇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9067800" y="3200400"/>
            <a:ext cx="1219200" cy="676275"/>
          </a:xfrm>
          <a:prstGeom prst="rect">
            <a:avLst/>
          </a:prstGeom>
          <a:solidFill>
            <a:srgbClr val="F3EBDC">
              <a:alpha val="91000"/>
            </a:srgbClr>
          </a:solidFill>
          <a:ln w="12700">
            <a:solidFill>
              <a:srgbClr val="15120E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9182100" y="3305175"/>
            <a:ext cx="57150" cy="571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9305925" y="3276600"/>
            <a:ext cx="4953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88">
                <a:solidFill>
                  <a:srgbClr val="A6361B"/>
                </a:solidFill>
                <a:latin typeface="LXGW WenKai"/>
                <a:ea typeface="LXGW WenKai"/>
              </a:rPr>
              <a:t>LUO XIA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9182100" y="3409950"/>
            <a:ext cx="971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50">
                <a:solidFill>
                  <a:srgbClr val="15120E"/>
                </a:solidFill>
                <a:latin typeface="STKaiti"/>
                <a:ea typeface="STKaiti"/>
              </a:rPr>
              <a:t>落霞原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182100" y="3676650"/>
            <a:ext cx="971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38">
                <a:solidFill>
                  <a:srgbClr val="5C5245"/>
                </a:solidFill>
                <a:latin typeface="LXGW WenKai"/>
                <a:ea typeface="LXGW WenKai"/>
              </a:rPr>
              <a:t>高原草场</a:t>
            </a:r>
            <a:r>
              <a:rPr lang="en-US" sz="713" spc="38">
                <a:solidFill>
                  <a:srgbClr val="5C524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713" spc="38">
                <a:solidFill>
                  <a:srgbClr val="5C5245"/>
                </a:solidFill>
                <a:latin typeface="LXGW WenKai"/>
                <a:ea typeface="LXGW WenKai"/>
              </a:rPr>
              <a:t>马帮与烽燧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1409700" y="4000500"/>
            <a:ext cx="1123950" cy="676275"/>
          </a:xfrm>
          <a:prstGeom prst="rect">
            <a:avLst/>
          </a:prstGeom>
          <a:solidFill>
            <a:srgbClr val="F3EBDC">
              <a:alpha val="91000"/>
            </a:srgbClr>
          </a:solidFill>
          <a:ln w="12700">
            <a:solidFill>
              <a:srgbClr val="15120E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1524000" y="4105275"/>
            <a:ext cx="57150" cy="571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647825" y="4076700"/>
            <a:ext cx="6096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88">
                <a:solidFill>
                  <a:srgbClr val="A6361B"/>
                </a:solidFill>
                <a:latin typeface="LXGW WenKai"/>
                <a:ea typeface="LXGW WenKai"/>
              </a:rPr>
              <a:t>CHANG YE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524000" y="4210050"/>
            <a:ext cx="876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50">
                <a:solidFill>
                  <a:srgbClr val="15120E"/>
                </a:solidFill>
                <a:latin typeface="STKaiti"/>
                <a:ea typeface="STKaiti"/>
              </a:rPr>
              <a:t>长夜司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524000" y="4476750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38">
                <a:solidFill>
                  <a:srgbClr val="5C5245"/>
                </a:solidFill>
                <a:latin typeface="LXGW WenKai"/>
                <a:ea typeface="LXGW WenKai"/>
              </a:rPr>
              <a:t>旧都高墙</a:t>
            </a:r>
            <a:r>
              <a:rPr lang="en-US" sz="713" spc="38">
                <a:solidFill>
                  <a:srgbClr val="5C524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713" spc="38">
                <a:solidFill>
                  <a:srgbClr val="5C5245"/>
                </a:solidFill>
                <a:latin typeface="LXGW WenKai"/>
                <a:ea typeface="LXGW WenKai"/>
              </a:rPr>
              <a:t>提灯巡夜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5753100" y="4152900"/>
            <a:ext cx="1314450" cy="676275"/>
          </a:xfrm>
          <a:prstGeom prst="rect">
            <a:avLst/>
          </a:prstGeom>
          <a:solidFill>
            <a:srgbClr val="F3EBDC">
              <a:alpha val="91000"/>
            </a:srgbClr>
          </a:solidFill>
          <a:ln w="12700">
            <a:solidFill>
              <a:srgbClr val="15120E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5867400" y="4257675"/>
            <a:ext cx="57150" cy="571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991225" y="4229100"/>
            <a:ext cx="6096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88">
                <a:solidFill>
                  <a:srgbClr val="A6361B"/>
                </a:solidFill>
                <a:latin typeface="LXGW WenKai"/>
                <a:ea typeface="LXGW WenKai"/>
              </a:rPr>
              <a:t>CHEN SHA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867400" y="4362450"/>
            <a:ext cx="1066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50">
                <a:solidFill>
                  <a:srgbClr val="15120E"/>
                </a:solidFill>
                <a:latin typeface="STKaiti"/>
                <a:ea typeface="STKaiti"/>
              </a:rPr>
              <a:t>沉沙渡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867400" y="4629150"/>
            <a:ext cx="1066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38">
                <a:solidFill>
                  <a:srgbClr val="5C5245"/>
                </a:solidFill>
                <a:latin typeface="LXGW WenKai"/>
                <a:ea typeface="LXGW WenKai"/>
              </a:rPr>
              <a:t>干涸沙洲</a:t>
            </a:r>
            <a:r>
              <a:rPr lang="en-US" sz="713" spc="38">
                <a:solidFill>
                  <a:srgbClr val="5C524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713" spc="38">
                <a:solidFill>
                  <a:srgbClr val="5C5245"/>
                </a:solidFill>
                <a:latin typeface="LXGW WenKai"/>
                <a:ea typeface="LXGW WenKai"/>
              </a:rPr>
              <a:t>三年前的战场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85800" y="5219700"/>
            <a:ext cx="10820400" cy="914400"/>
          </a:xfrm>
          <a:prstGeom prst="rect">
            <a:avLst/>
          </a:prstGeom>
          <a:solidFill>
            <a:srgbClr val="F3EBDC">
              <a:alpha val="93000"/>
            </a:srgbClr>
          </a:solidFill>
          <a:ln w="12700">
            <a:solidFill>
              <a:srgbClr val="15120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95350" y="5410200"/>
            <a:ext cx="5334000" cy="51435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900" spc="60">
                <a:solidFill>
                  <a:srgbClr val="3B342B"/>
                </a:solidFill>
                <a:latin typeface="LXGW WenKai"/>
                <a:ea typeface="LXGW WenKai"/>
              </a:rPr>
              <a:t>五片区域不是五个关卡，是一张连续的地形。</a:t>
            </a:r>
            <a:endParaRPr/>
          </a:p>
          <a:p>
            <a:pPr>
              <a:lnSpc>
                <a:spcPct val="185000"/>
              </a:lnSpc>
            </a:pPr>
            <a:r>
              <a:rPr lang="zh-CN" sz="900" spc="60">
                <a:solidFill>
                  <a:srgbClr val="3B342B"/>
                </a:solidFill>
                <a:latin typeface="LXGW WenKai"/>
                <a:ea typeface="LXGW WenKai"/>
              </a:rPr>
              <a:t>从水乡走到雪岭，中间没有一次读条，也没有一堵看不见的墙。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772275" y="5457825"/>
            <a:ext cx="13620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 spc="113">
                <a:solidFill>
                  <a:srgbClr val="15120E"/>
                </a:solidFill>
                <a:latin typeface="STKaiti"/>
                <a:ea typeface="STKaiti"/>
              </a:rPr>
              <a:t>一千二百里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772275" y="5781675"/>
            <a:ext cx="1362075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 spc="165">
                <a:solidFill>
                  <a:srgbClr val="8B8175"/>
                </a:solidFill>
                <a:latin typeface="LXGW WenKai"/>
                <a:ea typeface="LXGW WenKai"/>
              </a:rPr>
              <a:t>WALKABLE, NO LOADING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8382000" y="5524500"/>
            <a:ext cx="9525" cy="285750"/>
          </a:xfrm>
          <a:prstGeom prst="rect">
            <a:avLst/>
          </a:prstGeom>
          <a:solidFill>
            <a:srgbClr val="15120E">
              <a:alpha val="20000"/>
            </a:srgbClr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639175" y="5457825"/>
            <a:ext cx="10096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 spc="113">
                <a:solidFill>
                  <a:srgbClr val="15120E"/>
                </a:solidFill>
                <a:latin typeface="STKaiti"/>
                <a:ea typeface="STKaiti"/>
              </a:rPr>
              <a:t>五域无缝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639175" y="5781675"/>
            <a:ext cx="10096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 spc="165">
                <a:solidFill>
                  <a:srgbClr val="8B8175"/>
                </a:solidFill>
                <a:latin typeface="LXGW WenKai"/>
                <a:ea typeface="LXGW WenKai"/>
              </a:rPr>
              <a:t>ONE LAND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9896475" y="5524500"/>
            <a:ext cx="9525" cy="285750"/>
          </a:xfrm>
          <a:prstGeom prst="rect">
            <a:avLst/>
          </a:prstGeom>
          <a:solidFill>
            <a:srgbClr val="15120E">
              <a:alpha val="20000"/>
            </a:srgbClr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0153650" y="5457825"/>
            <a:ext cx="1143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 spc="113">
                <a:solidFill>
                  <a:srgbClr val="15120E"/>
                </a:solidFill>
                <a:latin typeface="STKaiti"/>
                <a:ea typeface="STKaiti"/>
              </a:rPr>
              <a:t>七十二处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0153650" y="5781675"/>
            <a:ext cx="11430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 spc="165">
                <a:solidFill>
                  <a:srgbClr val="8B8175"/>
                </a:solidFill>
                <a:latin typeface="LXGW WenKai"/>
                <a:ea typeface="LXGW WenKai"/>
              </a:rPr>
              <a:t>HAND-PLACED SITES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0953750" y="6448425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25">
                <a:solidFill>
                  <a:srgbClr val="8B8175"/>
                </a:solidFill>
                <a:latin typeface="LXGW WenKai"/>
                <a:ea typeface="LXGW WenKai"/>
              </a:rPr>
              <a:t>03 / 12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8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8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8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8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8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8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8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8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8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8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8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8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8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8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8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80"/>
                            </p:stCondLst>
                            <p:childTnLst>
                              <p:par>
                                <p:cTn id="13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8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80"/>
                            </p:stCondLst>
                            <p:childTnLst>
                              <p:par>
                                <p:cTn id="140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8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80"/>
                            </p:stCondLst>
                            <p:childTnLst>
                              <p:par>
                                <p:cTn id="14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8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80"/>
                            </p:stCondLst>
                            <p:childTnLst>
                              <p:par>
                                <p:cTn id="146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8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00" name="" descr="&lt;Slide style={{ width: 1280, height: 720, backgroundColor: '#F3EBDC', position: 'relative', padding: 0 }}&gt;&#13;&#10;    &lt;Image src=&quot;assets/paper_1280.png&quot; style={{ position: 'absolute', left: 0, top: 0, width: 1280, height: 720 }} /&gt;&#13;&#10;    &#13;&#10;    &lt;Box style={{position: 'absolute', left: 72, top: 46, flexDirection: 'row', alignItems: 'center', gap: 10}}&gt;&#13;&#10;        &lt;Box style={{width: 5, height: 5, backgroundColor: '#A6361B'}} /&gt;&#13;&#10;        &lt;Text style={{fontFamily: 'LXGW WenKai', fontSize: 11.5, color: '#8B8175', letterSpacing: 6}}&gt;叁 · 风土&lt;/Text&gt;&#13;&#10;    &lt;/Box&gt;&#13;&#10;    &lt;Text style={{fontFamily: 'STKaiti', fontSize: 37, fontWeight: 'bold', color: '#15120E', letterSpacing: 3, lineHeight: 1.2, position: 'absolute', left: 72, top: 64}}&gt;五方风土，各有各的活法&lt;/Text&gt;&#13;&#10;    &lt;Text style={{fontFamily: 'LXGW WenKai', fontSize: 10.5, color: '#A79B8A', letterSpacing: 3.5, position: 'absolute', right: 72, top: 90}}&gt;FROM SNOW LINE TO SANDBAR　·　4,000M OF RELIEF&lt;/Text&gt;&#13;&#10;    &lt;Box style={{position: 'absolute', left: 72, top: 134, width: 1136, height: 1, backgroundColor: 'rgba(21,18,14,0.14)'}} /&gt;&#13;&#10;    &lt;Box style={{position: 'absolute', left: 72, top: 134, width: 64, height: 2, backgroundColor: '#A6361B'}} /&gt;&#13;&#10;&#13;&#10;    &#13;&#10;    &lt;Box style={{ position: 'absolute', left: 72, top: 158, width: 208, flexDirection: 'column' }}&gt;&#13;&#10;        &lt;Box style={{ width: 208, height: 264, position: 'relative' }}&gt;&#13;&#10;            &lt;Image src=&quot;assets/r1_cangling.jpg&quot; style={{ position: 'absolute', left: 0, top: 0, width: 208, height: 264, objectFit: 'cover' }} /&gt;&#13;&#10;            &lt;Box style={{ position: 'absolute', left: 0, top: 0, width: 27, height: 27, backgroundColor: '#A6361B', alignItems: 'center', justifyContent: 'center' }}&gt;&#13;&#10;                &lt;Text style={{ fontFamily: 'LXGW WenKai', fontSize: 10, color: '#F3EBDC', letterSpacing: 1 }}&gt;01&lt;/Text&gt;&#13;&#10;            &lt;/Box&gt;&#13;&#10;        &lt;/Box&gt;&#13;&#10;        &lt;Text style={{ fontFamily: 'STKaiti', fontSize: 24, fontWeight: 'bold', color: '#15120E', letterSpacing: 3, marginTop: 16 }}&gt;苍岭&lt;/Text&gt;&#13;&#10;        &lt;Text style={{ fontFamily: 'LXGW WenKai', fontSize: 8.5, color: '#A79B8A', letterSpacing: 2.2, marginTop: 3 }}&gt;CANG LING　·　4,200m&lt;/Text&gt;&#13;&#10;        &lt;Text style={{ fontFamily: 'LXGW WenKai', fontSize: 11.5, color: '#3B342B', lineHeight: 1.95, letterSpacing: 0.3, marginTop: 10 }}&gt;雪线之上，剑比人多。断剑插在崖顶，等人来拔。&lt;/Text&gt;&#13;&#10;        &lt;Box style={{ flexDirection: 'row', gap: 5, marginTop: 12 }}&gt;&lt;Box style={{ border: '1px solid rgba(21,18,14,0.22)', paddingLeft: 7, paddingRight: 7, paddingTop: 2, paddingBottom: 2 }}&gt;&#13;&#10;                &lt;Text style={{ fontFamily: 'LXGW WenKai', fontSize: 9, color: '#5C5245', letterSpacing: 0.5 }}&gt;攀索&lt;/Text&gt;&#13;&#10;            &lt;/Box&gt;&lt;Box style={{ border: '1px solid rgba(21,18,14,0.22)', paddingLeft: 7, paddingRight: 7, paddingTop: 2, paddingBottom: 2 }}&gt;&#13;&#10;                &lt;Text style={{ fontFamily: 'LXGW WenKai', fontSize: 9, color: '#5C5245', letterSpacing: 0.5 }}&gt;风雪&lt;/Text&gt;&#13;&#10;            &lt;/Box&gt;&lt;Box style={{ border: '1px solid rgba(21,18,14,0.22)', paddingLeft: 7, paddingRight: 7, paddingTop: 2, paddingBottom: 2 }}&gt;&#13;&#10;                &lt;Text style={{ fontFamily: 'LXGW WenKai', fontSize: 9, color: '#5C5245', letterSpacing: 0.5 }}&gt;剑冢&lt;/Text&gt;&#13;&#10;            &lt;/Box&gt;&lt;/Box&gt;&#13;&#10;    &lt;/Box&gt;&#13;&#10;    &lt;Box style={{ position: 'absolute', left: 304, top: 158, width: 208, flexDirection: 'column' }}&gt;&#13;&#10;        &lt;Box style={{ width: 208, height: 264, position: 'relative' }}&gt;&#13;&#10;            &lt;Image src=&quot;assets/r2_yundu.jpg&quot; style={{ position: 'absolute', left: 0, top: 0, width: 208, height: 264, objectFit: 'cover' }} /&gt;&#13;&#10;            &lt;Box style={{ position: 'absolute', left: 0, top: 0, width: 27, height: 27, backgroundColor: '#A6361B', alignItems: 'center', justifyContent: 'center' }}&gt;&#13;&#10;                &lt;Text style={{ fontFamily: 'LXGW WenKai', fontSize: 10, color: '#F3EBDC', letterSpacing: 1 }}&gt;02&lt;/Text&gt;&#13;&#10;            &lt;/Box&gt;&#13;&#10;        &lt;/Box&gt;&#13;&#10;        &lt;Text style={{ fontFamily: 'STKaiti', fontSize: 24, fontWeight: 'bold', color: '#15120E', letterSpacing: 3, marginTop: 16 }}&gt;云渡&lt;/Text&gt;&#13;&#10;        &lt;Text style={{ fontFamily: 'LXGW WenKai', fontSize: 8.5, color: '#A79B8A', letterSpacing: 2.2, marginTop: 3 }}&gt;YUN DU　·　1,100m&lt;/Text&gt;&#13;&#10;        &lt;Text style={{ fontFamily: 'LXGW WenKai', fontSize: 11.5, color: '#3B342B', lineHeight: 1.95, letterSpacing: 0.3, marginTop: 10 }}&gt;云在桥下走。渡口不摆渡人，只摆渡消息。&lt;/Text&gt;&#13;&#10;        &lt;Box style={{ flexDirection: 'row', gap: 5, marginTop: 12 }}&gt;&lt;Box style={{ border: '1px solid rgba(21,18,14,0.22)', paddingLeft: 7, paddingRight: 7, paddingTop: 2, paddingBottom: 2 }}&gt;&#13;&#10;                &lt;Text style={{ fontFamily: 'LXGW WenKai', fontSize: 9, color: '#5C5245', letterSpacing: 0.5 }}&gt;栈桥&lt;/Text&gt;&#13;&#10;            &lt;/Box&gt;&lt;Box style={{ border: '1px solid rgba(21,18,14,0.22)', paddingLeft: 7, paddingRight: 7, paddingTop: 2, paddingBottom: 2 }}&gt;&#13;&#10;                &lt;Text style={{ fontFamily: 'LXGW WenKai', fontSize: 9, color: '#5C5245', letterSpacing: 0.5 }}&gt;漕运&lt;/Text&gt;&#13;&#10;            &lt;/Box&gt;&lt;Box style={{ border: '1px solid rgba(21,18,14,0.22)', paddingLeft: 7, paddingRight: 7, paddingTop: 2, paddingBottom: 2 }}&gt;&#13;&#10;                &lt;Text style={{ fontFamily: 'LXGW WenKai', fontSize: 9, color: '#5C5245', letterSpacing: 0.5 }}&gt;暗桩&lt;/Text&gt;&#13;&#10;            &lt;/Box&gt;&lt;/Box&gt;&#13;&#10;    &lt;/Box&gt;&#13;&#10;    &lt;Box style={{ position: 'absolute', left: 536, top: 158, width: 208, flexDirection: 'column' }}&gt;&#13;&#10;        &lt;Box style={{ width: 208, height: 264, position: 'relative' }}&gt;&#13;&#10;            &lt;Image src=&quot;assets/r3_luoxia.jpg&quot; style={{ position: 'absolute', left: 0, top: 0, width: 208, height: 264, objectFit: 'cover' }} /&gt;&#13;&#10;            &lt;Box style={{ position: 'absolute', left: 0, top: 0, width: 27, height: 27, backgroundColor: '#A6361B', alignItems: 'center', justifyContent: 'center' }}&gt;&#13;&#10;                &lt;Text style={{ fontFamily: 'LXGW WenKai', fontSize: 10, color: '#F3EBDC', letterSpacing: 1 }}&gt;03&lt;/Text&gt;&#13;&#10;            &lt;/Box&gt;&#13;&#10;        &lt;/Box&gt;&#13;&#10;        &lt;Text style={{ fontFamily: 'STKaiti', fontSize: 24, fontWeight: 'bold', color: '#15120E', letterSpacing: 3, marginTop: 16 }}&gt;落霞原&lt;/Text&gt;&#13;&#10;        &lt;Text style={{ fontFamily: 'LXGW WenKai', fontSize: 8.5, color: '#A79B8A', letterSpacing: 2.2, marginTop: 3 }}&gt;LUO XIA　·　2,300m&lt;/Text&gt;&#13;&#10;        &lt;Text style={{ fontFamily: 'LXGW WenKai', fontSize: 11.5, color: '#3B342B', lineHeight: 1.95, letterSpacing: 0.3, marginTop: 10 }}&gt;风把草压向一边，马帮顺着草的方向走。&lt;/Text&gt;&#13;&#10;        &lt;Box style={{ flexDirection: 'row', gap: 5, marginTop: 12 }}&gt;&lt;Box style={{ border: '1px solid rgba(21,18,14,0.22)', paddingLeft: 7, paddingRight: 7, paddingTop: 2, paddingBottom: 2 }}&gt;&#13;&#10;                &lt;Text style={{ fontFamily: 'LXGW WenKai', fontSize: 9, color: '#5C5245', letterSpacing: 0.5 }}&gt;骑战&lt;/Text&gt;&#13;&#10;            &lt;/Box&gt;&lt;Box style={{ border: '1px solid rgba(21,18,14,0.22)', paddingLeft: 7, paddingRight: 7, paddingTop: 2, paddingBottom: 2 }}&gt;&#13;&#10;                &lt;Text style={{ fontFamily: 'LXGW WenKai', fontSize: 9, color: '#5C5245', letterSpacing: 0.5 }}&gt;烽燧&lt;/Text&gt;&#13;&#10;            &lt;/Box&gt;&lt;Box style={{ border: '1px solid rgba(21,18,14,0.22)', paddingLeft: 7, paddingRight: 7, paddingTop: 2, paddingBottom: 2 }}&gt;&#13;&#10;                &lt;Text style={{ fontFamily: 'LXGW WenKai', fontSize: 9, color: '#5C5245', letterSpacing: 0.5 }}&gt;商队&lt;/Text&gt;&#13;&#10;            &lt;/Box&gt;&lt;/Box&gt;&#13;&#10;    &lt;/Box&gt;&#13;&#10;    &lt;Box style={{ position: 'absolute', left: 768, top: 158, width: 208, flexDirection: 'column' }}&gt;&#13;&#10;        &lt;Box style={{ width: 208, height: 264, position: 'relative' }}&gt;&#13;&#10;            &lt;Image src=&quot;assets/r4_chensha.jpg&quot; style={{ position: 'absolute', left: 0, top: 0, width: 208, height: 264, objectFit: 'cover' }} /&gt;&#13;&#10;            &lt;Box style={{ position: 'absolute', left: 0, top: 0, width: 27, height: 27, backgroundColor: '#A6361B', alignItems: 'center', justifyContent: 'center' }}&gt;&#13;&#10;                &lt;Text style={{ fontFamily: 'LXGW WenKai', fontSize: 10, color: '#F3EBDC', letterSpacing: 1 }}&gt;04&lt;/Text&gt;&#13;&#10;            &lt;/Box&gt;&#13;&#10;        &lt;/Box&gt;&#13;&#10;        &lt;Text style={{ fontFamily: 'STKaiti', fontSize: 24, fontWeight: 'bold', color: '#15120E', letterSpacing: 3, marginTop: 16 }}&gt;沉沙渡&lt;/Text&gt;&#13;&#10;        &lt;Text style={{ fontFamily: 'LXGW WenKai', fontSize: 8.5, color: '#A79B8A', letterSpacing: 2.2, marginTop: 3 }}&gt;CHEN SHA　·　300m&lt;/Text&gt;&#13;&#10;        &lt;Text style={{ fontFamily: 'LXGW WenKai', fontSize: 11.5, color: '#3B342B', lineHeight: 1.95, letterSpacing: 0.3, marginTop: 10 }}&gt;水退了，船还立着。三年前的名字都刻在桅杆上。&lt;/Text&gt;&#13;&#10;        &lt;Box style={{ flexDirection: 'row', gap: 5, marginTop: 12 }}&gt;&lt;Box style={{ border: '1px solid rgba(21,18,14,0.22)', paddingLeft: 7, paddingRight: 7, paddingTop: 2, paddingBottom: 2 }}&gt;&#13;&#10;                &lt;Text style={{ fontFamily: 'LXGW WenKai', fontSize: 9, color: '#5C5245', letterSpacing: 0.5 }}&gt;残桅&lt;/Text&gt;&#13;&#10;            &lt;/Box&gt;&lt;Box style={{ border: '1px solid rgba(21,18,14,0.22)', paddingLeft: 7, paddingRight: 7, paddingTop: 2, paddingBottom: 2 }}&gt;&#13;&#10;                &lt;Text style={{ fontFamily: 'LXGW WenKai', fontSize: 9, color: '#5C5245', letterSpacing: 0.5 }}&gt;亡魂&lt;/Text&gt;&#13;&#10;            &lt;/Box&gt;&lt;Box style={{ border: '1px solid rgba(21,18,14,0.22)', paddingLeft: 7, paddingRight: 7, paddingTop: 2, paddingBottom: 2 }}&gt;&#13;&#10;                &lt;Text style={{ fontFamily: 'LXGW WenKai', fontSize: 9, color: '#5C5245', letterSpacing: 0.5 }}&gt;旧账&lt;/Text&gt;&#13;&#10;            &lt;/Box&gt;&lt;/Box&gt;&#13;&#10;    &lt;/Box&gt;&#13;&#10;    &lt;Box style={{ position: 'absolute', left: 1000, top: 158, width: 208, flexDirection: 'column' }}&gt;&#13;&#10;        &lt;Box style={{ width: 208, height: 264, position: 'relative' }}&gt;&#13;&#10;            &lt;Image src=&quot;assets/r5_changye.jpg&quot; style={{ position: 'absolute', left: 0, top: 0, width: 208, height: 264, objectFit: 'cover' }} /&gt;&#13;&#10;            &lt;Box style={{ position: 'absolute', left: 0, top: 0, width: 27, height: 27, backgroundColor: '#A6361B', alignItems: 'center', justifyContent: 'center' }}&gt;&#13;&#10;                &lt;Text style={{ fontFamily: 'LXGW WenKai', fontSize: 10, color: '#F3EBDC', letterSpacing: 1 }}&gt;05&lt;/Text&gt;&#13;&#10;            &lt;/Box&gt;&#13;&#10;        &lt;/Box&gt;&#13;&#10;        &lt;Text style={{ fontFamily: 'STKaiti', fontSize: 24, fontWeight: 'bold', color: '#15120E', letterSpacing: 3, marginTop: 16 }}&gt;长夜司&lt;/Text&gt;&#13;&#10;        &lt;Text style={{ fontFamily: 'LXGW WenKai', fontSize: 8.5, color: '#A79B8A', letterSpacing: 2.2, marginTop: 3 }}&gt;CHANG YE　·　600m&lt;/Text&gt;&#13;&#10;        &lt;Text style={{ fontFamily: 'LXGW WenKai', fontSize: 11.5, color: '#3B342B', lineHeight: 1.95, letterSpacing: 0.3, marginTop: 10 }}&gt;城里有灯，灯下有人。亥时之后，别抬头。&lt;/Text&gt;&#13;&#10;        &lt;Box style={{ flexDirection: 'row', gap: 5, marginTop: 12 }}&gt;&lt;Box style={{ border: '1px solid rgba(21,18,14,0.22)', paddingLeft: 7, paddingRight: 7, paddingTop: 2, paddingBottom: 2 }}&gt;&#13;&#10;                &lt;Text style={{ fontFamily: 'LXGW WenKai', fontSize: 9, color: '#5C5245', letterSpacing: 0.5 }}&gt;巡夜&lt;/Text&gt;&#13;&#10;            &lt;/Box&gt;&lt;Box style={{ border: '1px solid rgba(21,18,14,0.22)', paddingLeft: 7, paddingRight: 7, paddingTop: 2, paddingBottom: 2 }}&gt;&#13;&#10;                &lt;Text style={{ fontFamily: 'LXGW WenKai', fontSize: 9, color: '#5C5245', letterSpacing: 0.5 }}&gt;诏狱&lt;/Text&gt;&#13;&#10;            &lt;/Box&gt;&lt;Box style={{ border: '1px solid rgba(21,18,14,0.22)', paddingLeft: 7, paddingRight: 7, paddingTop: 2, paddingBottom: 2 }}&gt;&#13;&#10;                &lt;Text style={{ fontFamily: 'LXGW WenKai', fontSize: 9, color: '#5C5245', letterSpacing: 0.5 }}&gt;更鼓&lt;/Text&gt;&#13;&#10;            &lt;/Box&gt;&lt;/Box&gt;&#13;&#10;    &lt;/Box&gt;&#13;&#10;    &lt;Box style={{ position: 'absolute', left: 72, top: 628, width: 1136, height: 1, backgroundColor: 'rgba(21,18,14,0.14)' }} /&gt;&#13;&#10;    &lt;Text style={{fontFamily: 'LXGW WenKai', fontSize: 11, color: '#8B8175', letterSpacing: 1.5, position: 'absolute', left: 72, top: 638}}&gt;海拔落差四千米 · 五域之间没有一次读条&lt;/Text&gt;&#13;&#10;    &lt;Text style={{fontFamily: 'LXGW WenKai', fontSize: 10.5, color: '#8B8175', letterSpacing: 3, position: 'absolute', right: 72, top: 677}}&gt;04 / 12&lt;/Text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3EBDC"/>
          </a:solidFill>
          <a:ln/>
        </p:spPr>
        <p:txBody>
          <a:bodyPr/>
          <a:p/>
        </p:txBody>
      </p:sp>
      <p:pic>
        <p:nvPicPr>
          <p:cNvPr id="20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03" name=""/>
          <p:cNvSpPr/>
          <p:nvPr/>
        </p:nvSpPr>
        <p:spPr>
          <a:xfrm rot="0" flipH="0" flipV="0">
            <a:off x="685800" y="485775"/>
            <a:ext cx="47625" cy="4762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28675" y="438150"/>
            <a:ext cx="790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叁</a:t>
            </a:r>
            <a:r>
              <a:rPr lang="en-US" sz="863" spc="450">
                <a:solidFill>
                  <a:srgbClr val="8B817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风土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85800" y="609600"/>
            <a:ext cx="4191000" cy="5143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75" b="1" spc="225">
                <a:solidFill>
                  <a:srgbClr val="15120E"/>
                </a:solidFill>
                <a:latin typeface="STKaiti"/>
                <a:ea typeface="STKaiti"/>
              </a:rPr>
              <a:t>五方风土，各有各的活法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353300" y="857250"/>
            <a:ext cx="4152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63">
                <a:solidFill>
                  <a:srgbClr val="A79B8A"/>
                </a:solidFill>
                <a:latin typeface="LXGW WenKai"/>
                <a:ea typeface="LXGW WenKai"/>
              </a:rPr>
              <a:t>FROM SNOW LINE TO SANDBAR</a:t>
            </a:r>
            <a:r>
              <a:rPr lang="zh-CN" sz="788" spc="263">
                <a:solidFill>
                  <a:srgbClr val="A79B8A"/>
                </a:solidFill>
                <a:latin typeface="LXGW WenKai"/>
                <a:ea typeface="LXGW WenKai"/>
              </a:rPr>
              <a:t>　·　</a:t>
            </a:r>
            <a:r>
              <a:rPr lang="en-US" sz="788" spc="263">
                <a:solidFill>
                  <a:srgbClr val="A79B8A"/>
                </a:solidFill>
                <a:latin typeface="LXGW WenKai"/>
                <a:ea typeface="LXGW WenKai"/>
              </a:rPr>
              <a:t>4,000M OF RELIEF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85800" y="1276350"/>
            <a:ext cx="108204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685800" y="1276350"/>
            <a:ext cx="609600" cy="190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85800" y="41719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225">
                <a:solidFill>
                  <a:srgbClr val="15120E"/>
                </a:solidFill>
                <a:latin typeface="STKaiti"/>
                <a:ea typeface="STKaiti"/>
              </a:rPr>
              <a:t>苍岭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85800" y="4476750"/>
            <a:ext cx="19812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65">
                <a:solidFill>
                  <a:srgbClr val="A79B8A"/>
                </a:solidFill>
                <a:latin typeface="LXGW WenKai"/>
                <a:ea typeface="LXGW WenKai"/>
              </a:rPr>
              <a:t>CANG LING</a:t>
            </a:r>
            <a:r>
              <a:rPr lang="zh-CN" sz="638" spc="165">
                <a:solidFill>
                  <a:srgbClr val="A79B8A"/>
                </a:solidFill>
                <a:latin typeface="LXGW WenKai"/>
                <a:ea typeface="LXGW WenKai"/>
              </a:rPr>
              <a:t>　·　</a:t>
            </a:r>
            <a:r>
              <a:rPr lang="en-US" sz="638" spc="165">
                <a:solidFill>
                  <a:srgbClr val="A79B8A"/>
                </a:solidFill>
                <a:latin typeface="LXGW WenKai"/>
                <a:ea typeface="LXGW WenKai"/>
              </a:rPr>
              <a:t>4,200m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85800" y="4676775"/>
            <a:ext cx="1981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863" spc="22">
                <a:solidFill>
                  <a:srgbClr val="3B342B"/>
                </a:solidFill>
                <a:latin typeface="LXGW WenKai"/>
                <a:ea typeface="LXGW WenKai"/>
              </a:rPr>
              <a:t>雪线之上，剑比人多。断剑插在崖顶，等人来拔。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8580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5247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攀索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104775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1442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风雪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140970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47637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剑冢</a:t>
            </a:r>
            <a:endParaRPr/>
          </a:p>
        </p:txBody>
      </p:sp>
      <p:pic>
        <p:nvPicPr>
          <p:cNvPr id="218" name=""/>
          <p:cNvPicPr>
            <a:picLocks noChangeAspect="1"/>
          </p:cNvPicPr>
          <p:nvPr/>
        </p:nvPicPr>
        <p:blipFill>
          <a:blip r:embed="rId2"/>
          <a:srcRect l="0" t="4492" r="0" b="4492"/>
          <a:stretch>
            <a:fillRect/>
          </a:stretch>
        </p:blipFill>
        <p:spPr>
          <a:xfrm rot="0" flipH="0" flipV="0">
            <a:off x="685800" y="1504950"/>
            <a:ext cx="1981200" cy="2514600"/>
          </a:xfrm>
          <a:prstGeom prst="rect">
            <a:avLst/>
          </a:prstGeom>
          <a:ln/>
        </p:spPr>
      </p:pic>
      <p:sp>
        <p:nvSpPr>
          <p:cNvPr id="219" name=""/>
          <p:cNvSpPr/>
          <p:nvPr/>
        </p:nvSpPr>
        <p:spPr>
          <a:xfrm rot="0" flipH="0" flipV="0">
            <a:off x="685800" y="1504950"/>
            <a:ext cx="257175" cy="25717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52475" y="1581150"/>
            <a:ext cx="133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3EBDC"/>
                </a:solidFill>
                <a:latin typeface="LXGW WenKai"/>
                <a:ea typeface="LXGW WenKai"/>
              </a:rPr>
              <a:t>01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2895600" y="41719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225">
                <a:solidFill>
                  <a:srgbClr val="15120E"/>
                </a:solidFill>
                <a:latin typeface="STKaiti"/>
                <a:ea typeface="STKaiti"/>
              </a:rPr>
              <a:t>云渡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2895600" y="4476750"/>
            <a:ext cx="19812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65">
                <a:solidFill>
                  <a:srgbClr val="A79B8A"/>
                </a:solidFill>
                <a:latin typeface="LXGW WenKai"/>
                <a:ea typeface="LXGW WenKai"/>
              </a:rPr>
              <a:t>YUN DU</a:t>
            </a:r>
            <a:r>
              <a:rPr lang="zh-CN" sz="638" spc="165">
                <a:solidFill>
                  <a:srgbClr val="A79B8A"/>
                </a:solidFill>
                <a:latin typeface="LXGW WenKai"/>
                <a:ea typeface="LXGW WenKai"/>
              </a:rPr>
              <a:t>　·　</a:t>
            </a:r>
            <a:r>
              <a:rPr lang="en-US" sz="638" spc="165">
                <a:solidFill>
                  <a:srgbClr val="A79B8A"/>
                </a:solidFill>
                <a:latin typeface="LXGW WenKai"/>
                <a:ea typeface="LXGW WenKai"/>
              </a:rPr>
              <a:t>1,100m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2895600" y="4676775"/>
            <a:ext cx="1981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863" spc="22">
                <a:solidFill>
                  <a:srgbClr val="3B342B"/>
                </a:solidFill>
                <a:latin typeface="LXGW WenKai"/>
                <a:ea typeface="LXGW WenKai"/>
              </a:rPr>
              <a:t>云在桥下走。渡口不摆渡人，只摆渡消息。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289560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296227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栈桥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325755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332422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漕运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361950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68617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暗桩</a:t>
            </a:r>
            <a:endParaRPr/>
          </a:p>
        </p:txBody>
      </p:sp>
      <p:pic>
        <p:nvPicPr>
          <p:cNvPr id="230" name=""/>
          <p:cNvPicPr>
            <a:picLocks noChangeAspect="1"/>
          </p:cNvPicPr>
          <p:nvPr/>
        </p:nvPicPr>
        <p:blipFill>
          <a:blip r:embed="rId3"/>
          <a:srcRect l="25583" t="0" r="25583" b="0"/>
          <a:stretch>
            <a:fillRect/>
          </a:stretch>
        </p:blipFill>
        <p:spPr>
          <a:xfrm rot="0" flipH="0" flipV="0">
            <a:off x="2895600" y="1504950"/>
            <a:ext cx="1981200" cy="2514600"/>
          </a:xfrm>
          <a:prstGeom prst="rect">
            <a:avLst/>
          </a:prstGeom>
          <a:ln/>
        </p:spPr>
      </p:pic>
      <p:sp>
        <p:nvSpPr>
          <p:cNvPr id="231" name=""/>
          <p:cNvSpPr/>
          <p:nvPr/>
        </p:nvSpPr>
        <p:spPr>
          <a:xfrm rot="0" flipH="0" flipV="0">
            <a:off x="2895600" y="1504950"/>
            <a:ext cx="257175" cy="25717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2962275" y="1581150"/>
            <a:ext cx="133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3EBDC"/>
                </a:solidFill>
                <a:latin typeface="LXGW WenKai"/>
                <a:ea typeface="LXGW WenKai"/>
              </a:rPr>
              <a:t>02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105400" y="41719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225">
                <a:solidFill>
                  <a:srgbClr val="15120E"/>
                </a:solidFill>
                <a:latin typeface="STKaiti"/>
                <a:ea typeface="STKaiti"/>
              </a:rPr>
              <a:t>落霞原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105400" y="4476750"/>
            <a:ext cx="19812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65">
                <a:solidFill>
                  <a:srgbClr val="A79B8A"/>
                </a:solidFill>
                <a:latin typeface="LXGW WenKai"/>
                <a:ea typeface="LXGW WenKai"/>
              </a:rPr>
              <a:t>LUO XIA</a:t>
            </a:r>
            <a:r>
              <a:rPr lang="zh-CN" sz="638" spc="165">
                <a:solidFill>
                  <a:srgbClr val="A79B8A"/>
                </a:solidFill>
                <a:latin typeface="LXGW WenKai"/>
                <a:ea typeface="LXGW WenKai"/>
              </a:rPr>
              <a:t>　·　</a:t>
            </a:r>
            <a:r>
              <a:rPr lang="en-US" sz="638" spc="165">
                <a:solidFill>
                  <a:srgbClr val="A79B8A"/>
                </a:solidFill>
                <a:latin typeface="LXGW WenKai"/>
                <a:ea typeface="LXGW WenKai"/>
              </a:rPr>
              <a:t>2,300m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105400" y="4676775"/>
            <a:ext cx="1981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863" spc="22">
                <a:solidFill>
                  <a:srgbClr val="3B342B"/>
                </a:solidFill>
                <a:latin typeface="LXGW WenKai"/>
                <a:ea typeface="LXGW WenKai"/>
              </a:rPr>
              <a:t>风把草压向一边，马帮顺着草的方向走。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510540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17207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骑战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546735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53402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烽燧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582930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89597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商队</a:t>
            </a:r>
            <a:endParaRPr/>
          </a:p>
        </p:txBody>
      </p:sp>
      <p:pic>
        <p:nvPicPr>
          <p:cNvPr id="242" name=""/>
          <p:cNvPicPr>
            <a:picLocks noChangeAspect="1"/>
          </p:cNvPicPr>
          <p:nvPr/>
        </p:nvPicPr>
        <p:blipFill>
          <a:blip r:embed="rId4"/>
          <a:srcRect l="25583" t="0" r="25583" b="0"/>
          <a:stretch>
            <a:fillRect/>
          </a:stretch>
        </p:blipFill>
        <p:spPr>
          <a:xfrm rot="0" flipH="0" flipV="0">
            <a:off x="5105400" y="1504950"/>
            <a:ext cx="1981200" cy="2514600"/>
          </a:xfrm>
          <a:prstGeom prst="rect">
            <a:avLst/>
          </a:prstGeom>
          <a:ln/>
        </p:spPr>
      </p:pic>
      <p:sp>
        <p:nvSpPr>
          <p:cNvPr id="243" name=""/>
          <p:cNvSpPr/>
          <p:nvPr/>
        </p:nvSpPr>
        <p:spPr>
          <a:xfrm rot="0" flipH="0" flipV="0">
            <a:off x="5105400" y="1504950"/>
            <a:ext cx="257175" cy="25717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172075" y="1581150"/>
            <a:ext cx="133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3EBDC"/>
                </a:solidFill>
                <a:latin typeface="LXGW WenKai"/>
                <a:ea typeface="LXGW WenKai"/>
              </a:rPr>
              <a:t>03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315200" y="41719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225">
                <a:solidFill>
                  <a:srgbClr val="15120E"/>
                </a:solidFill>
                <a:latin typeface="STKaiti"/>
                <a:ea typeface="STKaiti"/>
              </a:rPr>
              <a:t>沉沙渡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315200" y="4476750"/>
            <a:ext cx="19812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65">
                <a:solidFill>
                  <a:srgbClr val="A79B8A"/>
                </a:solidFill>
                <a:latin typeface="LXGW WenKai"/>
                <a:ea typeface="LXGW WenKai"/>
              </a:rPr>
              <a:t>CHEN SHA</a:t>
            </a:r>
            <a:r>
              <a:rPr lang="zh-CN" sz="638" spc="165">
                <a:solidFill>
                  <a:srgbClr val="A79B8A"/>
                </a:solidFill>
                <a:latin typeface="LXGW WenKai"/>
                <a:ea typeface="LXGW WenKai"/>
              </a:rPr>
              <a:t>　·　</a:t>
            </a:r>
            <a:r>
              <a:rPr lang="en-US" sz="638" spc="165">
                <a:solidFill>
                  <a:srgbClr val="A79B8A"/>
                </a:solidFill>
                <a:latin typeface="LXGW WenKai"/>
                <a:ea typeface="LXGW WenKai"/>
              </a:rPr>
              <a:t>300m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315200" y="4676775"/>
            <a:ext cx="1981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863" spc="22">
                <a:solidFill>
                  <a:srgbClr val="3B342B"/>
                </a:solidFill>
                <a:latin typeface="LXGW WenKai"/>
                <a:ea typeface="LXGW WenKai"/>
              </a:rPr>
              <a:t>水退了，船还立着。三年前的名字都刻在桅杆上。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731520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38187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残桅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767715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74382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亡魂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803910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10577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旧账</a:t>
            </a:r>
            <a:endParaRPr/>
          </a:p>
        </p:txBody>
      </p:sp>
      <p:pic>
        <p:nvPicPr>
          <p:cNvPr id="254" name=""/>
          <p:cNvPicPr>
            <a:picLocks noChangeAspect="1"/>
          </p:cNvPicPr>
          <p:nvPr/>
        </p:nvPicPr>
        <p:blipFill>
          <a:blip r:embed="rId5"/>
          <a:srcRect l="25583" t="0" r="25583" b="0"/>
          <a:stretch>
            <a:fillRect/>
          </a:stretch>
        </p:blipFill>
        <p:spPr>
          <a:xfrm rot="0" flipH="0" flipV="0">
            <a:off x="7315200" y="1504950"/>
            <a:ext cx="1981200" cy="2514600"/>
          </a:xfrm>
          <a:prstGeom prst="rect">
            <a:avLst/>
          </a:prstGeom>
          <a:ln/>
        </p:spPr>
      </p:pic>
      <p:sp>
        <p:nvSpPr>
          <p:cNvPr id="255" name=""/>
          <p:cNvSpPr/>
          <p:nvPr/>
        </p:nvSpPr>
        <p:spPr>
          <a:xfrm rot="0" flipH="0" flipV="0">
            <a:off x="7315200" y="1504950"/>
            <a:ext cx="257175" cy="25717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381875" y="1581150"/>
            <a:ext cx="133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3EBDC"/>
                </a:solidFill>
                <a:latin typeface="LXGW WenKai"/>
                <a:ea typeface="LXGW WenKai"/>
              </a:rPr>
              <a:t>04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525000" y="41719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225">
                <a:solidFill>
                  <a:srgbClr val="15120E"/>
                </a:solidFill>
                <a:latin typeface="STKaiti"/>
                <a:ea typeface="STKaiti"/>
              </a:rPr>
              <a:t>长夜司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9525000" y="4476750"/>
            <a:ext cx="19812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65">
                <a:solidFill>
                  <a:srgbClr val="A79B8A"/>
                </a:solidFill>
                <a:latin typeface="LXGW WenKai"/>
                <a:ea typeface="LXGW WenKai"/>
              </a:rPr>
              <a:t>CHANG YE</a:t>
            </a:r>
            <a:r>
              <a:rPr lang="zh-CN" sz="638" spc="165">
                <a:solidFill>
                  <a:srgbClr val="A79B8A"/>
                </a:solidFill>
                <a:latin typeface="LXGW WenKai"/>
                <a:ea typeface="LXGW WenKai"/>
              </a:rPr>
              <a:t>　·　</a:t>
            </a:r>
            <a:r>
              <a:rPr lang="en-US" sz="638" spc="165">
                <a:solidFill>
                  <a:srgbClr val="A79B8A"/>
                </a:solidFill>
                <a:latin typeface="LXGW WenKai"/>
                <a:ea typeface="LXGW WenKai"/>
              </a:rPr>
              <a:t>600m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9525000" y="4676775"/>
            <a:ext cx="1981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863" spc="22">
                <a:solidFill>
                  <a:srgbClr val="3B342B"/>
                </a:solidFill>
                <a:latin typeface="LXGW WenKai"/>
                <a:ea typeface="LXGW WenKai"/>
              </a:rPr>
              <a:t>城里有灯，灯下有人。亥时之后，别抬头。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952500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59167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巡夜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988695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995362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诏狱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10248900" y="5305425"/>
            <a:ext cx="314325" cy="142875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0315575" y="532447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spc="38">
                <a:solidFill>
                  <a:srgbClr val="5C5245"/>
                </a:solidFill>
                <a:latin typeface="LXGW WenKai"/>
                <a:ea typeface="LXGW WenKai"/>
              </a:rPr>
              <a:t>更鼓</a:t>
            </a:r>
            <a:endParaRPr/>
          </a:p>
        </p:txBody>
      </p:sp>
      <p:pic>
        <p:nvPicPr>
          <p:cNvPr id="266" name=""/>
          <p:cNvPicPr>
            <a:picLocks noChangeAspect="1"/>
          </p:cNvPicPr>
          <p:nvPr/>
        </p:nvPicPr>
        <p:blipFill>
          <a:blip r:embed="rId6"/>
          <a:srcRect l="0" t="4492" r="0" b="4492"/>
          <a:stretch>
            <a:fillRect/>
          </a:stretch>
        </p:blipFill>
        <p:spPr>
          <a:xfrm rot="0" flipH="0" flipV="0">
            <a:off x="9525000" y="1504950"/>
            <a:ext cx="1981200" cy="2514600"/>
          </a:xfrm>
          <a:prstGeom prst="rect">
            <a:avLst/>
          </a:prstGeom>
          <a:ln/>
        </p:spPr>
      </p:pic>
      <p:sp>
        <p:nvSpPr>
          <p:cNvPr id="267" name=""/>
          <p:cNvSpPr/>
          <p:nvPr/>
        </p:nvSpPr>
        <p:spPr>
          <a:xfrm rot="0" flipH="0" flipV="0">
            <a:off x="9525000" y="1504950"/>
            <a:ext cx="257175" cy="25717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591675" y="1581150"/>
            <a:ext cx="133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3EBDC"/>
                </a:solidFill>
                <a:latin typeface="LXGW WenKai"/>
                <a:ea typeface="LXGW WenKai"/>
              </a:rPr>
              <a:t>05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85800" y="5981700"/>
            <a:ext cx="108204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85800" y="6076950"/>
            <a:ext cx="2181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13">
                <a:solidFill>
                  <a:srgbClr val="8B8175"/>
                </a:solidFill>
                <a:latin typeface="LXGW WenKai"/>
                <a:ea typeface="LXGW WenKai"/>
              </a:rPr>
              <a:t>海拔落差四千米</a:t>
            </a:r>
            <a:r>
              <a:rPr lang="en-US" sz="825" spc="113">
                <a:solidFill>
                  <a:srgbClr val="8B817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825" spc="113">
                <a:solidFill>
                  <a:srgbClr val="8B8175"/>
                </a:solidFill>
                <a:latin typeface="LXGW WenKai"/>
                <a:ea typeface="LXGW WenKai"/>
              </a:rPr>
              <a:t>五域之间没有一次读条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0953750" y="6448425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25">
                <a:solidFill>
                  <a:srgbClr val="8B8175"/>
                </a:solidFill>
                <a:latin typeface="LXGW WenKai"/>
                <a:ea typeface="LXGW WenKa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72" name="" descr="&lt;Slide style={{ width: 1280, height: 720, backgroundColor: '#F3EBDC', position: 'relative', padding: 0 }}&gt;&#13;&#10;    &lt;Image src=&quot;assets/paper_1280.png&quot; style={{ position: 'absolute', left: 0, top: 0, width: 1280, height: 720 }} /&gt;&#13;&#10;    &#13;&#10;    &lt;Box style={{position: 'absolute', left: 72, top: 46, flexDirection: 'row', alignItems: 'center', gap: 10}}&gt;&#13;&#10;        &lt;Box style={{width: 5, height: 5, backgroundColor: '#A6361B'}} /&gt;&#13;&#10;        &lt;Text style={{fontFamily: 'LXGW WenKai', fontSize: 11.5, color: '#8B8175', letterSpacing: 6}}&gt;肆 · 玩法&lt;/Text&gt;&#13;&#10;    &lt;/Box&gt;&#13;&#10;    &lt;Text style={{fontFamily: 'STKaiti', fontSize: 38, fontWeight: 'bold', color: '#15120E', letterSpacing: 3, lineHeight: 1.2, position: 'absolute', left: 72, top: 64}}&gt;三件事，构成江湖&lt;/Text&gt;&#13;&#10;    &lt;Text style={{fontFamily: 'LXGW WenKai', fontSize: 10.5, color: '#A79B8A', letterSpacing: 3.5, position: 'absolute', right: 72, top: 90}}&gt;TRAVERSE　·　ENCOUNTER　·　CULTIVATE&lt;/Text&gt;&#13;&#10;    &lt;Box style={{position: 'absolute', left: 72, top: 134, width: 1136, height: 1, backgroundColor: 'rgba(21,18,14,0.14)'}} /&gt;&#13;&#10;    &lt;Box style={{position: 'absolute', left: 72, top: 134, width: 64, height: 2, backgroundColor: '#A6361B'}} /&gt;&#13;&#10;&#13;&#10;    &#13;&#10;    &#13;&#10;    &lt;Box style={{ position: 'absolute', left: 72, top: 158, width: 360, flexDirection: 'column' }}&gt;&#13;&#10;        &lt;Box style={{ width: 360, height: 2, backgroundColor: '#15120E' }} /&gt;&#13;&#10;        &lt;Text style={{ position: 'absolute', left: 268, top: 10, fontFamily: 'STKaiti', fontSize: 62, fontWeight: 'bold', color: '#15120E', opacity: 0.09, lineHeight: 1 }}&gt;壹&lt;/Text&gt;&#13;&#10;        &lt;Text style={{ fontFamily: 'LXGW WenKai', fontSize: 9.5, color: '#A6361B', letterSpacing: 4, marginTop: 16 }}&gt;TRAVERSAL&lt;/Text&gt;&#13;&#10;        &lt;Box style={{ marginTop: 8 }}&gt;&lt;svg width='72' height='72' viewBox='0 0 72 72'&gt;&#13;&#10;    &lt;path d='M2 60 L19 37 L29 48 L41 25 L53 44 L70 60' fill='none' stroke='#15120E' strokeWidth='1.7' strokeLinejoin='round' strokeLinecap='round' /&gt;&#13;&#10;    &lt;path d='M8 52 Q24 40 33 29 T51 16' fill='none' stroke='#A6361B' strokeWidth='1.7' strokeDasharray='5 4' strokeLinecap='round' opacity='0.85' /&gt;&#13;&#10;    &lt;circle cx='52' cy='15' r='2.6' fill='#A6361B' /&gt;&#13;&#10;    &lt;path d='M44 62 q6 -4 12 0' fill='none' stroke='#15120E' strokeWidth='1.1' strokeLinecap='round' opacity='0.45' /&gt;&#13;&#10;&lt;/svg&gt;&lt;/Box&gt;&#13;&#10;        &lt;Text style={{ fontFamily: 'STKaiti', fontSize: 26, fontWeight: 'bold', color: '#15120E', letterSpacing: 2, marginTop: 14 }}&gt;轻功 · 读地形&lt;/Text&gt;&#13;&#10;        &lt;Text style={{ fontFamily: 'LXGW WenKai', fontSize: 13, color: '#3B342B', lineHeight: 2.0, letterSpacing: 0.4, marginTop: 14 }}&gt;轻功不是位移技能。同一面崖壁，有人只看到墙，有人看到三道可以落脚的缝。&lt;/Text&gt;&#13;&#10;        &lt;Text style={{ fontFamily: 'LXGW WenKai', fontSize: 13, color: '#3B342B', lineHeight: 2.0, letterSpacing: 0.4, marginTop: 10 }}&gt;气力有限，每一次起落都在做减法：落脚点决定路线，路线决定你能看见什么。&lt;/Text&gt;&#13;&#10;        &lt;Box style={{ flexDirection: 'row', gap: 7, marginTop: 18 }}&gt;&lt;Box style={{ border: '1px solid rgba(21,18,14,0.20)', paddingLeft: 9, paddingRight: 9, paddingTop: 3, paddingBottom: 3 }}&gt;&#13;&#10;                &lt;Text style={{ fontFamily: 'LXGW WenKai', fontSize: 10, color: '#5C5245', letterSpacing: 1 }}&gt;踏水&lt;/Text&gt;&lt;/Box&gt;&lt;Box style={{ border: '1px solid rgba(21,18,14,0.20)', paddingLeft: 9, paddingRight: 9, paddingTop: 3, paddingBottom: 3 }}&gt;&#13;&#10;                &lt;Text style={{ fontFamily: 'LXGW WenKai', fontSize: 10, color: '#5C5245', letterSpacing: 1 }}&gt;攀索&lt;/Text&gt;&lt;/Box&gt;&lt;Box style={{ border: '1px solid rgba(21,18,14,0.20)', paddingLeft: 9, paddingRight: 9, paddingTop: 3, paddingBottom: 3 }}&gt;&#13;&#10;                &lt;Text style={{ fontFamily: 'LXGW WenKai', fontSize: 10, color: '#5C5245', letterSpacing: 1 }}&gt;借风&lt;/Text&gt;&lt;/Box&gt;&lt;/Box&gt;&#13;&#10;        &lt;Box style={{ width: 360, height: 1, backgroundColor: 'rgba(21,18,14,0.14)', marginTop: 20 }} /&gt;&#13;&#10;        &lt;Text style={{ fontFamily: 'LXGW WenKai', fontSize: 10.5, color: '#8B8175', letterSpacing: 1.2, lineHeight: 1.7, marginTop: 12 }}&gt;读得懂地形的人，路会自己长出来。&lt;/Text&gt;&#13;&#10;    &lt;/Box&gt;&#13;&#10;    &lt;Box style={{position: 'absolute', left: 446, top: 158, width: 1, height: 440, backgroundColor: 'rgba(21,18,14,0.10)'}} /&gt;&#13;&#10;    &lt;Box style={{ position: 'absolute', left: 460, top: 158, width: 360, flexDirection: 'column' }}&gt;&#13;&#10;        &lt;Box style={{ width: 360, height: 2, backgroundColor: '#15120E' }} /&gt;&#13;&#10;        &lt;Text style={{ position: 'absolute', left: 268, top: 10, fontFamily: 'STKaiti', fontSize: 62, fontWeight: 'bold', color: '#15120E', opacity: 0.09, lineHeight: 1 }}&gt;贰&lt;/Text&gt;&#13;&#10;        &lt;Text style={{ fontFamily: 'LXGW WenKai', fontSize: 9.5, color: '#A6361B', letterSpacing: 4, marginTop: 16 }}&gt;ENCOUNTER&lt;/Text&gt;&#13;&#10;        &lt;Box style={{ marginTop: 8 }}&gt;&lt;svg width='72' height='72' viewBox='0 0 72 72'&gt;&#13;&#10;    &lt;path d='M36 3 L36 9' fill='none' stroke='#15120E' strokeWidth='1.5' strokeLinecap='round' /&gt;&#13;&#10;    &lt;path d='M25 9 L47 9' fill='none' stroke='#15120E' strokeWidth='1.7' strokeLinecap='round' /&gt;&#13;&#10;    &lt;path d='M26 13 L46 13 L46 41 L26 41 Z' fill='none' stroke='#15120E' strokeWidth='1.7' strokeLinejoin='round' /&gt;&#13;&#10;    &lt;path d='M33 13 L33 41' fill='none' stroke='#15120E' strokeWidth='1' opacity='0.35' /&gt;&#13;&#10;    &lt;path d='M39 13 L39 41' fill='none' stroke='#15120E' strokeWidth='1' opacity='0.35' /&gt;&#13;&#10;    &lt;path d='M25 41 L47 41' fill='none' stroke='#15120E' strokeWidth='1.7' strokeLinecap='round' /&gt;&#13;&#10;    &lt;path d='M36 41 L36 48' fill='none' stroke='#15120E' strokeWidth='1.4' strokeLinecap='round' /&gt;&#13;&#10;    &lt;path d='M33 48 L36 58 L39 48' fill='none' stroke='#A6361B' strokeWidth='1.4' strokeLinejoin='round' strokeLinecap='round' /&gt;&#13;&#10;&lt;/svg&gt;&lt;/Box&gt;&#13;&#10;        &lt;Text style={{ fontFamily: 'STKaiti', fontSize: 26, fontWeight: 'bold', color: '#15120E', letterSpacing: 2, marginTop: 14 }}&gt;江湖事件 · 无列表&lt;/Text&gt;&#13;&#10;        &lt;Text style={{ fontFamily: 'LXGW WenKai', fontSize: 13, color: '#3B342B', lineHeight: 2.0, letterSpacing: 0.4, marginTop: 14 }}&gt;没有任务列表。事件在时间里自己发生：早到三日，你看见的是一场婚礼；晚到三日，看见的是一场葬礼。&lt;/Text&gt;&#13;&#10;        &lt;Text style={{ fontFamily: 'LXGW WenKai', fontSize: 13, color: '#3B342B', lineHeight: 2.0, letterSpacing: 0.4, marginTop: 10 }}&gt;介不介入，事情都会继续走下去——只是结局，换了一个人来写。&lt;/Text&gt;&#13;&#10;        &lt;Box style={{ flexDirection: 'row', gap: 7, marginTop: 18 }}&gt;&lt;Box style={{ border: '1px solid rgba(21,18,14,0.20)', paddingLeft: 9, paddingRight: 9, paddingTop: 3, paddingBottom: 3 }}&gt;&#13;&#10;                &lt;Text style={{ fontFamily: 'LXGW WenKai', fontSize: 10, color: '#5C5245', letterSpacing: 1 }}&gt;时序&lt;/Text&gt;&lt;/Box&gt;&lt;Box style={{ border: '1px solid rgba(21,18,14,0.20)', paddingLeft: 9, paddingRight: 9, paddingTop: 3, paddingBottom: 3 }}&gt;&#13;&#10;                &lt;Text style={{ fontFamily: 'LXGW WenKai', fontSize: 10, color: '#5C5245', letterSpacing: 1 }}&gt;因果&lt;/Text&gt;&lt;/Box&gt;&lt;Box style={{ border: '1px solid rgba(21,18,14,0.20)', paddingLeft: 9, paddingRight: 9, paddingTop: 3, paddingBottom: 3 }}&gt;&#13;&#10;                &lt;Text style={{ fontFamily: 'LXGW WenKai', fontSize: 10, color: '#5C5245', letterSpacing: 1 }}&gt;见证&lt;/Text&gt;&lt;/Box&gt;&lt;/Box&gt;&#13;&#10;        &lt;Box style={{ width: 360, height: 1, backgroundColor: 'rgba(21,18,14,0.14)', marginTop: 20 }} /&gt;&#13;&#10;        &lt;Text style={{ fontFamily: 'LXGW WenKai', fontSize: 10.5, color: '#8B8175', letterSpacing: 1.2, lineHeight: 1.7, marginTop: 12 }}&gt;一桩旧事，往往牵连三条街的人。&lt;/Text&gt;&#13;&#10;    &lt;/Box&gt;&#13;&#10;    &lt;Box style={{position: 'absolute', left: 834, top: 158, width: 1, height: 440, backgroundColor: 'rgba(21,18,14,0.10)'}} /&gt;&#13;&#10;    &lt;Box style={{ position: 'absolute', left: 848, top: 158, width: 360, flexDirection: 'column' }}&gt;&#13;&#10;        &lt;Box style={{ width: 360, height: 2, backgroundColor: '#15120E' }} /&gt;&#13;&#10;        &lt;Text style={{ position: 'absolute', left: 268, top: 10, fontFamily: 'STKaiti', fontSize: 62, fontWeight: 'bold', color: '#15120E', opacity: 0.09, lineHeight: 1 }}&gt;叁&lt;/Text&gt;&#13;&#10;        &lt;Text style={{ fontFamily: 'LXGW WenKai', fontSize: 9.5, color: '#A6361B', letterSpacing: 4, marginTop: 16 }}&gt;CULTIVATE&lt;/Text&gt;&#13;&#10;        &lt;Box style={{ marginTop: 8 }}&gt;&lt;svg width='72' height='72' viewBox='0 0 72 72'&gt;&#13;&#10;    &lt;circle cx='36' cy='37' r='21' fill='none' stroke='#15120E' strokeWidth='1.1' strokeDasharray='3 5' opacity='0.5' /&gt;&#13;&#10;    &lt;path d='M22 50 L48 24' fill='none' stroke='#15120E' strokeWidth='2.4' strokeLinecap='round' /&gt;&#13;&#10;    &lt;path d='M48 24 L54 18 L51 30 Z' fill='#15120E' /&gt;&#13;&#10;    &lt;path d='M29 37 L40 48' fill='none' stroke='#15120E' strokeWidth='2' strokeLinecap='round' /&gt;&#13;&#10;    &lt;path d='M22 50 L15 57' fill='none' stroke='#15120E' strokeWidth='2.2' strokeLinecap='round' /&gt;&#13;&#10;    &lt;circle cx='13.5' cy='58.5' r='2.4' fill='#A6361B' /&gt;&#13;&#10;&lt;/svg&gt;&lt;/Box&gt;&#13;&#10;        &lt;Text style={{ fontFamily: 'STKaiti', fontSize: 26, fontWeight: 'bold', color: '#15120E', letterSpacing: 2, marginTop: 14 }}&gt;武学 · 意与势&lt;/Text&gt;&#13;&#10;        &lt;Text style={{ fontFamily: 'LXGW WenKai', fontSize: 13, color: '#3B342B', lineHeight: 2.0, letterSpacing: 0.4, marginTop: 14 }}&gt;招式由「意」与「势」组成：意是你要做什么，势是此刻天地允不允许。&lt;/Text&gt;&#13;&#10;        &lt;Text style={{ fontFamily: 'LXGW WenKai', fontSize: 13, color: '#3B342B', lineHeight: 2.0, letterSpacing: 0.4, marginTop: 10 }}&gt;同一式在不同天时、地势、心境下出手，结果不同。修行不是解锁技能，是学会在正确的时刻出手。&lt;/Text&gt;&#13;&#10;        &lt;Box style={{ flexDirection: 'row', gap: 7, marginTop: 18 }}&gt;&lt;Box style={{ border: '1px solid rgba(21,18,14,0.20)', paddingLeft: 9, paddingRight: 9, paddingTop: 3, paddingBottom: 3 }}&gt;&#13;&#10;                &lt;Text style={{ fontFamily: 'LXGW WenKai', fontSize: 10, color: '#5C5245', letterSpacing: 1 }}&gt;心法&lt;/Text&gt;&lt;/Box&gt;&lt;Box style={{ border: '1px solid rgba(21,18,14,0.20)', paddingLeft: 9, paddingRight: 9, paddingTop: 3, paddingBottom: 3 }}&gt;&#13;&#10;                &lt;Text style={{ fontFamily: 'LXGW WenKai', fontSize: 10, color: '#5C5245', letterSpacing: 1 }}&gt;破势&lt;/Text&gt;&lt;/Box&gt;&lt;Box style={{ border: '1px solid rgba(21,18,14,0.20)', paddingLeft: 9, paddingRight: 9, paddingTop: 3, paddingBottom: 3 }}&gt;&#13;&#10;                &lt;Text style={{ fontFamily: 'LXGW WenKai', fontSize: 10, color: '#5C5245', letterSpacing: 1 }}&gt;顿悟&lt;/Text&gt;&lt;/Box&gt;&lt;/Box&gt;&#13;&#10;        &lt;Box style={{ width: 360, height: 1, backgroundColor: 'rgba(21,18,14,0.14)', marginTop: 20 }} /&gt;&#13;&#10;        &lt;Text style={{ fontFamily: 'LXGW WenKai', fontSize: 10.5, color: '#8B8175', letterSpacing: 1.2, lineHeight: 1.7, marginTop: 12 }}&gt;拜师、闭关、试招，都在同一套系统里。&lt;/Text&gt;&#13;&#10;    &lt;/Box&gt;&#13;&#10;    &lt;Text style={{fontFamily: 'STKaiti', fontSize: 13, color: '#A6361B', letterSpacing: 1, position: 'absolute', left: 72, top: 612}}&gt;三件事指向同一句话：不问路，看路。&lt;/Text&gt;&#13;&#10;    &lt;Text style={{fontFamily: 'LXGW WenKai', fontSize: 10.5, color: '#8B8175', letterSpacing: 3, position: 'absolute', right: 72, top: 677}}&gt;05 / 12&lt;/Text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3EBDC"/>
          </a:solidFill>
          <a:ln/>
        </p:spPr>
        <p:txBody>
          <a:bodyPr/>
          <a:p/>
        </p:txBody>
      </p:sp>
      <p:pic>
        <p:nvPicPr>
          <p:cNvPr id="274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75" name=""/>
          <p:cNvSpPr/>
          <p:nvPr/>
        </p:nvSpPr>
        <p:spPr>
          <a:xfrm rot="0" flipH="0" flipV="0">
            <a:off x="685800" y="485775"/>
            <a:ext cx="47625" cy="4762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28675" y="438150"/>
            <a:ext cx="790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肆</a:t>
            </a:r>
            <a:r>
              <a:rPr lang="en-US" sz="863" spc="450">
                <a:solidFill>
                  <a:srgbClr val="8B817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玩法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85800" y="609600"/>
            <a:ext cx="3124200" cy="5238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850" b="1" spc="225">
                <a:solidFill>
                  <a:srgbClr val="15120E"/>
                </a:solidFill>
                <a:latin typeface="STKaiti"/>
                <a:ea typeface="STKaiti"/>
              </a:rPr>
              <a:t>三件事，构成江湖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305800" y="857250"/>
            <a:ext cx="32004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63">
                <a:solidFill>
                  <a:srgbClr val="A79B8A"/>
                </a:solidFill>
                <a:latin typeface="LXGW WenKai"/>
                <a:ea typeface="LXGW WenKai"/>
              </a:rPr>
              <a:t>TRAVERSE</a:t>
            </a:r>
            <a:r>
              <a:rPr lang="zh-CN" sz="788" spc="263">
                <a:solidFill>
                  <a:srgbClr val="A79B8A"/>
                </a:solidFill>
                <a:latin typeface="LXGW WenKai"/>
                <a:ea typeface="LXGW WenKai"/>
              </a:rPr>
              <a:t>　·　</a:t>
            </a:r>
            <a:r>
              <a:rPr lang="en-US" sz="788" spc="263">
                <a:solidFill>
                  <a:srgbClr val="A79B8A"/>
                </a:solidFill>
                <a:latin typeface="LXGW WenKai"/>
                <a:ea typeface="LXGW WenKai"/>
              </a:rPr>
              <a:t>ENCOUNTER</a:t>
            </a:r>
            <a:r>
              <a:rPr lang="zh-CN" sz="788" spc="263">
                <a:solidFill>
                  <a:srgbClr val="A79B8A"/>
                </a:solidFill>
                <a:latin typeface="LXGW WenKai"/>
                <a:ea typeface="LXGW WenKai"/>
              </a:rPr>
              <a:t>　·　</a:t>
            </a:r>
            <a:r>
              <a:rPr lang="en-US" sz="788" spc="263">
                <a:solidFill>
                  <a:srgbClr val="A79B8A"/>
                </a:solidFill>
                <a:latin typeface="LXGW WenKai"/>
                <a:ea typeface="LXGW WenKai"/>
              </a:rPr>
              <a:t>CULTIVATE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85800" y="1276350"/>
            <a:ext cx="108204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685800" y="1276350"/>
            <a:ext cx="609600" cy="190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685800" y="1504950"/>
            <a:ext cx="3429000" cy="1905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3429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300">
                <a:solidFill>
                  <a:srgbClr val="A6361B"/>
                </a:solidFill>
                <a:latin typeface="LXGW WenKai"/>
                <a:ea typeface="LXGW WenKai"/>
              </a:rPr>
              <a:t>TRAVERSAL</a:t>
            </a:r>
            <a:endParaRPr/>
          </a:p>
        </p:txBody>
      </p:sp>
      <p:pic>
        <p:nvPicPr>
          <p:cNvPr id="2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1866900"/>
            <a:ext cx="685800" cy="685800"/>
          </a:xfrm>
          <a:prstGeom prst="rect">
            <a:avLst/>
          </a:prstGeom>
          <a:ln/>
        </p:spPr>
      </p:pic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85800" y="2686050"/>
            <a:ext cx="3429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150">
                <a:solidFill>
                  <a:srgbClr val="15120E"/>
                </a:solidFill>
                <a:latin typeface="STKaiti"/>
                <a:ea typeface="STKaiti"/>
              </a:rPr>
              <a:t>轻功</a:t>
            </a:r>
            <a:r>
              <a:rPr lang="en-US" sz="1950" b="1" spc="150">
                <a:solidFill>
                  <a:srgbClr val="15120E"/>
                </a:solidFill>
                <a:latin typeface="STKaiti"/>
                <a:ea typeface="STKaiti"/>
              </a:rPr>
              <a:t xml:space="preserve"> · </a:t>
            </a:r>
            <a:r>
              <a:rPr lang="zh-CN" sz="1950" b="1" spc="150">
                <a:solidFill>
                  <a:srgbClr val="15120E"/>
                </a:solidFill>
                <a:latin typeface="STKaiti"/>
                <a:ea typeface="STKaiti"/>
              </a:rPr>
              <a:t>读地形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85800" y="3124200"/>
            <a:ext cx="34290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975" spc="30">
                <a:solidFill>
                  <a:srgbClr val="3B342B"/>
                </a:solidFill>
                <a:latin typeface="LXGW WenKai"/>
                <a:ea typeface="LXGW WenKai"/>
              </a:rPr>
              <a:t>轻功不是位移技能。同一面崖壁，有人只看到墙，有人看到三道可以落脚的缝。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85800" y="3819525"/>
            <a:ext cx="34290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975" spc="30">
                <a:solidFill>
                  <a:srgbClr val="3B342B"/>
                </a:solidFill>
                <a:latin typeface="LXGW WenKai"/>
                <a:ea typeface="LXGW WenKai"/>
              </a:rPr>
              <a:t>气力有限，每一次起落都在做减法：落脚点决定路线，路线决定你能看见什么。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685800" y="4591050"/>
            <a:ext cx="381000" cy="171450"/>
          </a:xfrm>
          <a:prstGeom prst="rect">
            <a:avLst/>
          </a:prstGeom>
          <a:ln w="12700">
            <a:solidFill>
              <a:srgbClr val="15120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771525" y="4619625"/>
            <a:ext cx="209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5C5245"/>
                </a:solidFill>
                <a:latin typeface="LXGW WenKai"/>
                <a:ea typeface="LXGW WenKai"/>
              </a:rPr>
              <a:t>踏水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1133475" y="4591050"/>
            <a:ext cx="381000" cy="171450"/>
          </a:xfrm>
          <a:prstGeom prst="rect">
            <a:avLst/>
          </a:prstGeom>
          <a:ln w="12700">
            <a:solidFill>
              <a:srgbClr val="15120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219200" y="4619625"/>
            <a:ext cx="209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5C5245"/>
                </a:solidFill>
                <a:latin typeface="LXGW WenKai"/>
                <a:ea typeface="LXGW WenKai"/>
              </a:rPr>
              <a:t>攀索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1581150" y="4591050"/>
            <a:ext cx="381000" cy="171450"/>
          </a:xfrm>
          <a:prstGeom prst="rect">
            <a:avLst/>
          </a:prstGeom>
          <a:ln w="12700">
            <a:solidFill>
              <a:srgbClr val="15120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666875" y="4619625"/>
            <a:ext cx="209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5C5245"/>
                </a:solidFill>
                <a:latin typeface="LXGW WenKai"/>
                <a:ea typeface="LXGW WenKai"/>
              </a:rPr>
              <a:t>借风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85800" y="4953000"/>
            <a:ext cx="34290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85800" y="5076825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88" spc="90">
                <a:solidFill>
                  <a:srgbClr val="8B8175"/>
                </a:solidFill>
                <a:latin typeface="LXGW WenKai"/>
                <a:ea typeface="LXGW WenKai"/>
              </a:rPr>
              <a:t>读得懂地形的人，路会自己长出来。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3238500" y="1600200"/>
            <a:ext cx="59055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15120E">
                    <a:alpha val="9000"/>
                  </a:srgbClr>
                </a:solidFill>
                <a:latin typeface="STKaiti"/>
                <a:ea typeface="STKaiti"/>
              </a:rPr>
              <a:t>壹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4248150" y="1504950"/>
            <a:ext cx="9525" cy="4191000"/>
          </a:xfrm>
          <a:prstGeom prst="rect">
            <a:avLst/>
          </a:prstGeom>
          <a:solidFill>
            <a:srgbClr val="15120E">
              <a:alpha val="10000"/>
            </a:srgbClr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4381500" y="1504950"/>
            <a:ext cx="3429000" cy="1905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381500" y="1676400"/>
            <a:ext cx="3429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300">
                <a:solidFill>
                  <a:srgbClr val="A6361B"/>
                </a:solidFill>
                <a:latin typeface="LXGW WenKai"/>
                <a:ea typeface="LXGW WenKai"/>
              </a:rPr>
              <a:t>ENCOUNTER</a:t>
            </a:r>
            <a:endParaRPr/>
          </a:p>
        </p:txBody>
      </p:sp>
      <p:pic>
        <p:nvPicPr>
          <p:cNvPr id="2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381500" y="1866900"/>
            <a:ext cx="685800" cy="685800"/>
          </a:xfrm>
          <a:prstGeom prst="rect">
            <a:avLst/>
          </a:prstGeom>
          <a:ln/>
        </p:spPr>
      </p:pic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381500" y="2686050"/>
            <a:ext cx="3429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150">
                <a:solidFill>
                  <a:srgbClr val="15120E"/>
                </a:solidFill>
                <a:latin typeface="STKaiti"/>
                <a:ea typeface="STKaiti"/>
              </a:rPr>
              <a:t>江湖事件</a:t>
            </a:r>
            <a:r>
              <a:rPr lang="en-US" sz="1950" b="1" spc="150">
                <a:solidFill>
                  <a:srgbClr val="15120E"/>
                </a:solidFill>
                <a:latin typeface="STKaiti"/>
                <a:ea typeface="STKaiti"/>
              </a:rPr>
              <a:t xml:space="preserve"> · </a:t>
            </a:r>
            <a:r>
              <a:rPr lang="zh-CN" sz="1950" b="1" spc="150">
                <a:solidFill>
                  <a:srgbClr val="15120E"/>
                </a:solidFill>
                <a:latin typeface="STKaiti"/>
                <a:ea typeface="STKaiti"/>
              </a:rPr>
              <a:t>无列表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381500" y="3124200"/>
            <a:ext cx="34290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975" spc="30">
                <a:solidFill>
                  <a:srgbClr val="3B342B"/>
                </a:solidFill>
                <a:latin typeface="LXGW WenKai"/>
                <a:ea typeface="LXGW WenKai"/>
              </a:rPr>
              <a:t>没有任务列表。事件在时间里自己发生：早到三日，你看见的是一场婚礼；晚到三日，看见的是一场葬礼。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381500" y="3819525"/>
            <a:ext cx="34290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975" spc="30">
                <a:solidFill>
                  <a:srgbClr val="3B342B"/>
                </a:solidFill>
                <a:latin typeface="LXGW WenKai"/>
                <a:ea typeface="LXGW WenKai"/>
              </a:rPr>
              <a:t>介不介入，事情都会继续走下去——只是结局，换了一个人来写。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4381500" y="4591050"/>
            <a:ext cx="381000" cy="171450"/>
          </a:xfrm>
          <a:prstGeom prst="rect">
            <a:avLst/>
          </a:prstGeom>
          <a:ln w="12700">
            <a:solidFill>
              <a:srgbClr val="15120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467225" y="4619625"/>
            <a:ext cx="209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5C5245"/>
                </a:solidFill>
                <a:latin typeface="LXGW WenKai"/>
                <a:ea typeface="LXGW WenKai"/>
              </a:rPr>
              <a:t>时序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4829175" y="4591050"/>
            <a:ext cx="381000" cy="171450"/>
          </a:xfrm>
          <a:prstGeom prst="rect">
            <a:avLst/>
          </a:prstGeom>
          <a:ln w="12700">
            <a:solidFill>
              <a:srgbClr val="15120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914900" y="4619625"/>
            <a:ext cx="209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5C5245"/>
                </a:solidFill>
                <a:latin typeface="LXGW WenKai"/>
                <a:ea typeface="LXGW WenKai"/>
              </a:rPr>
              <a:t>因果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5276850" y="4591050"/>
            <a:ext cx="381000" cy="171450"/>
          </a:xfrm>
          <a:prstGeom prst="rect">
            <a:avLst/>
          </a:prstGeom>
          <a:ln w="12700">
            <a:solidFill>
              <a:srgbClr val="15120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5362575" y="4619625"/>
            <a:ext cx="209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5C5245"/>
                </a:solidFill>
                <a:latin typeface="LXGW WenKai"/>
                <a:ea typeface="LXGW WenKai"/>
              </a:rPr>
              <a:t>见证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4381500" y="4953000"/>
            <a:ext cx="34290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381500" y="5076825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88" spc="90">
                <a:solidFill>
                  <a:srgbClr val="8B8175"/>
                </a:solidFill>
                <a:latin typeface="LXGW WenKai"/>
                <a:ea typeface="LXGW WenKai"/>
              </a:rPr>
              <a:t>一桩旧事，往往牵连三条街的人。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934200" y="1600200"/>
            <a:ext cx="59055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15120E">
                    <a:alpha val="9000"/>
                  </a:srgbClr>
                </a:solidFill>
                <a:latin typeface="STKaiti"/>
                <a:ea typeface="STKaiti"/>
              </a:rPr>
              <a:t>贰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7943850" y="1504950"/>
            <a:ext cx="9525" cy="4191000"/>
          </a:xfrm>
          <a:prstGeom prst="rect">
            <a:avLst/>
          </a:prstGeom>
          <a:solidFill>
            <a:srgbClr val="15120E">
              <a:alpha val="10000"/>
            </a:srgbClr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8077200" y="1504950"/>
            <a:ext cx="3429000" cy="1905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077200" y="1676400"/>
            <a:ext cx="3429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300">
                <a:solidFill>
                  <a:srgbClr val="A6361B"/>
                </a:solidFill>
                <a:latin typeface="LXGW WenKai"/>
                <a:ea typeface="LXGW WenKai"/>
              </a:rPr>
              <a:t>CULTIVATE</a:t>
            </a:r>
            <a:endParaRPr/>
          </a:p>
        </p:txBody>
      </p:sp>
      <p:pic>
        <p:nvPicPr>
          <p:cNvPr id="3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077200" y="1866900"/>
            <a:ext cx="685800" cy="685800"/>
          </a:xfrm>
          <a:prstGeom prst="rect">
            <a:avLst/>
          </a:prstGeom>
          <a:ln/>
        </p:spPr>
      </p:pic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077200" y="2686050"/>
            <a:ext cx="3429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150">
                <a:solidFill>
                  <a:srgbClr val="15120E"/>
                </a:solidFill>
                <a:latin typeface="STKaiti"/>
                <a:ea typeface="STKaiti"/>
              </a:rPr>
              <a:t>武学</a:t>
            </a:r>
            <a:r>
              <a:rPr lang="en-US" sz="1950" b="1" spc="150">
                <a:solidFill>
                  <a:srgbClr val="15120E"/>
                </a:solidFill>
                <a:latin typeface="STKaiti"/>
                <a:ea typeface="STKaiti"/>
              </a:rPr>
              <a:t xml:space="preserve"> · </a:t>
            </a:r>
            <a:r>
              <a:rPr lang="zh-CN" sz="1950" b="1" spc="150">
                <a:solidFill>
                  <a:srgbClr val="15120E"/>
                </a:solidFill>
                <a:latin typeface="STKaiti"/>
                <a:ea typeface="STKaiti"/>
              </a:rPr>
              <a:t>意与势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077200" y="3124200"/>
            <a:ext cx="34290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975" spc="30">
                <a:solidFill>
                  <a:srgbClr val="3B342B"/>
                </a:solidFill>
                <a:latin typeface="LXGW WenKai"/>
                <a:ea typeface="LXGW WenKai"/>
              </a:rPr>
              <a:t>招式由「意」与「势」组成：意是你要做什么，势是此刻天地允不允许。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077200" y="3819525"/>
            <a:ext cx="34290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975" spc="30">
                <a:solidFill>
                  <a:srgbClr val="3B342B"/>
                </a:solidFill>
                <a:latin typeface="LXGW WenKai"/>
                <a:ea typeface="LXGW WenKai"/>
              </a:rPr>
              <a:t>同一式在不同天时、地势、心境下出手，结果不同。修行不是解锁技能，是学会在正确的时刻出手。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8077200" y="4591050"/>
            <a:ext cx="381000" cy="171450"/>
          </a:xfrm>
          <a:prstGeom prst="rect">
            <a:avLst/>
          </a:prstGeom>
          <a:ln w="12700">
            <a:solidFill>
              <a:srgbClr val="15120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162925" y="4619625"/>
            <a:ext cx="209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5C5245"/>
                </a:solidFill>
                <a:latin typeface="LXGW WenKai"/>
                <a:ea typeface="LXGW WenKai"/>
              </a:rPr>
              <a:t>心法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8524875" y="4591050"/>
            <a:ext cx="381000" cy="171450"/>
          </a:xfrm>
          <a:prstGeom prst="rect">
            <a:avLst/>
          </a:prstGeom>
          <a:ln w="12700">
            <a:solidFill>
              <a:srgbClr val="15120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610600" y="4619625"/>
            <a:ext cx="209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5C5245"/>
                </a:solidFill>
                <a:latin typeface="LXGW WenKai"/>
                <a:ea typeface="LXGW WenKai"/>
              </a:rPr>
              <a:t>破势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8972550" y="4591050"/>
            <a:ext cx="381000" cy="171450"/>
          </a:xfrm>
          <a:prstGeom prst="rect">
            <a:avLst/>
          </a:prstGeom>
          <a:ln w="12700">
            <a:solidFill>
              <a:srgbClr val="15120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9058275" y="4619625"/>
            <a:ext cx="209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5C5245"/>
                </a:solidFill>
                <a:latin typeface="LXGW WenKai"/>
                <a:ea typeface="LXGW WenKai"/>
              </a:rPr>
              <a:t>顿悟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8077200" y="4953000"/>
            <a:ext cx="34290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077200" y="5076825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88" spc="90">
                <a:solidFill>
                  <a:srgbClr val="8B8175"/>
                </a:solidFill>
                <a:latin typeface="LXGW WenKai"/>
                <a:ea typeface="LXGW WenKai"/>
              </a:rPr>
              <a:t>拜师、闭关、试招，都在同一套系统里。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0629900" y="1600200"/>
            <a:ext cx="59055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15120E">
                    <a:alpha val="9000"/>
                  </a:srgbClr>
                </a:solidFill>
                <a:latin typeface="STKaiti"/>
                <a:ea typeface="STKaiti"/>
              </a:rPr>
              <a:t>叁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685800" y="5829300"/>
            <a:ext cx="226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6361B"/>
                </a:solidFill>
                <a:latin typeface="STKaiti"/>
                <a:ea typeface="STKaiti"/>
              </a:rPr>
              <a:t>三件事指向同一句话：不问路，看路。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0953750" y="6448425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25">
                <a:solidFill>
                  <a:srgbClr val="8B8175"/>
                </a:solidFill>
                <a:latin typeface="LXGW WenKai"/>
                <a:ea typeface="LXGW WenKa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30" name="" descr="&lt;Slide style={{ width: 1280, height: 720, backgroundColor: '#F3EBDC', position: 'relative', padding: 0 }}&gt;&#13;&#10;    &lt;Image src=&quot;assets/paper_1280.png&quot; style={{ position: 'absolute', left: 0, top: 0, width: 1280, height: 720 }} /&gt;&#13;&#10;    &#13;&#10;    &lt;Box style={{position: 'absolute', left: 72, top: 46, flexDirection: 'row', alignItems: 'center', gap: 10}}&gt;&#13;&#10;        &lt;Box style={{width: 5, height: 5, backgroundColor: '#A6361B'}} /&gt;&#13;&#10;        &lt;Text style={{fontFamily: 'LXGW WenKai', fontSize: 11.5, color: '#8B8175', letterSpacing: 6}}&gt;肆 · 玩法 / 续&lt;/Text&gt;&#13;&#10;    &lt;/Box&gt;&#13;&#10;    &lt;Text style={{fontFamily: 'STKaiti', fontSize: 38, fontWeight: 'bold', color: '#15120E', letterSpacing: 3, lineHeight: 1.2, position: 'absolute', left: 72, top: 64}}&gt;一桩旧事，三种收场&lt;/Text&gt;&#13;&#10;    &lt;Text style={{fontFamily: 'LXGW WenKai', fontSize: 10.5, color: '#A79B8A', letterSpacing: 3.5, position: 'absolute', right: 72, top: 90}}&gt;ONE NIGHT　·　THREE ENDINGS&lt;/Text&gt;&#13;&#10;    &lt;Box style={{position: 'absolute', left: 72, top: 134, width: 1136, height: 1, backgroundColor: 'rgba(21,18,14,0.14)'}} /&gt;&#13;&#10;    &lt;Box style={{position: 'absolute', left: 72, top: 134, width: 64, height: 2, backgroundColor: '#A6361B'}} /&gt;&#13;&#10;&#13;&#10;&#13;&#10;    &lt;Text style={{fontFamily: 'LXGW WenKai', fontSize: 10, color: '#A6361B', letterSpacing: 4, position: 'absolute', left: 72, top: 158}}&gt;事件样本 · 云渡 07&lt;/Text&gt;&#13;&#10;    &lt;Text style={{fontFamily: 'LXGW WenKai', fontSize: 14, color: '#3B342B', lineHeight: 1.95, letterSpacing: 0.6, position: 'absolute', left: 72, top: 178, width: 600}}&gt;云渡镇，亥时三刻。沈家的喜宴摆到第三巡，门外来了三个带刀的人。你恰好路过，屋檐下还挂着一盏没点的灯。&lt;/Text&gt;&#13;&#10;    &lt;Text style={{fontFamily: 'STKaiti', fontSize: 14, color: '#A6361B', lineHeight: 2.0, letterSpacing: 1, position: 'absolute', left: 736, top: 176, width: 460}}&gt;「同一场婚宴，三条时间线。&lt;br /&gt;每位玩家只会看到其中一条。」&lt;/Text&gt;&#13;&#10;    &lt;Text style={{fontFamily: 'LXGW WenKai', fontSize: 10.5, color: '#8B8175', letterSpacing: 0.5, position: 'absolute', left: 736, top: 244}}&gt;读档重来，也回不到同一个雨夜——雨夜只下一次。&lt;/Text&gt;&#13;&#10;&#13;&#10;    &lt;Box style={{ position: 'absolute', left: 72, top: 290, width: 1136, height: 1, backgroundColor: 'rgba(21,18,14,0.20)' }} /&gt;&#13;&#10;    &lt;Box style={{ position: 'absolute', left: 72, top: 289, width: 300, height: 2, backgroundColor: '#A6361B' }} /&gt;&#13;&#10;    &lt;Text style={{fontFamily: 'LXGW WenKai', fontSize: 9.5, color: '#8B8175', letterSpacing: 3, position: 'absolute', left: 72, top: 258}}&gt;分岔 · 三日后&lt;/Text&gt;&#13;&#10;&#13;&#10;    &lt;Box style={{ position: 'absolute', left: 84, top: 290, width: 1, height: 56, backgroundColor: 'rgba(21,18,14,0.28)' }} /&gt;&#13;&#10;    &lt;Box style={{ position: 'absolute', left: 81, top: 344, width: 7, height: 7, backgroundColor: '#A6361B' }} /&gt;&#13;&#10;    &lt;Box style={{ position: 'absolute', left: 72, top: 356, width: 300, flexDirection: 'column' }}&gt;&#13;&#10;        &lt;Box style={{ flexDirection: 'row', alignItems: 'baseline', gap: 12 }}&gt;&#13;&#10;            &lt;Text style={{ fontFamily: 'STKaiti', fontSize: 34, fontWeight: 'bold', color: '#15120E', letterSpacing: 2 }}&gt;拦&lt;/Text&gt;&#13;&#10;            &lt;Text style={{ fontFamily: 'LXGW WenKai', fontSize: 9, color: '#A6361B', letterSpacing: 3 }}&gt;STRIKE&lt;/Text&gt;&#13;&#10;        &lt;/Box&gt;&#13;&#10;        &lt;Text style={{ fontFamily: 'LXGW WenKai', fontSize: 12, color: '#3B342B', lineHeight: 2.0, letterSpacing: 0.4, marginTop: 8, width: 300 }}&gt;你挡在门前。刀出了鞘，喜宴散了，沈家的女儿活了下来。&lt;/Text&gt;&#13;&#10;        &lt;Box style={{ width: 300, height: 1, backgroundColor: 'rgba(21,18,14,0.18)', marginTop: 12 }} /&gt;&#13;&#10;        &lt;Box style={{ flexDirection: 'row', justifyContent: 'space-between', alignItems: 'baseline', width: 300, marginTop: 9 }}&gt;&#13;&#10;            &lt;Text style={{ fontFamily: 'LXGW WenKai', fontSize: 10, color: '#8B8175', letterSpacing: 1 }}&gt;江湖声望&lt;/Text&gt;&#13;&#10;            &lt;Text style={{ fontFamily: 'LXGW WenKai', fontSize: 10.5, color: '#3B342B', letterSpacing: 0.5 }}&gt;+12&lt;/Text&gt;&#13;&#10;        &lt;/Box&gt;&#13;&#10;        &lt;Box style={{ width: 300, height: 1, backgroundColor: 'rgba(21,18,14,0.10)', marginTop: 7 }} /&gt;&#13;&#10;        &lt;Box style={{ flexDirection: 'row', justifyContent: 'space-between', alignItems: 'baseline', width: 300, marginTop: 9 }}&gt;&#13;&#10;            &lt;Text style={{ fontFamily: 'LXGW WenKai', fontSize: 10, color: '#8B8175', letterSpacing: 1 }}&gt;长夜司&lt;/Text&gt;&#13;&#10;            &lt;Text style={{ fontFamily: 'LXGW WenKai', fontSize: 10.5, color: '#3B342B', letterSpacing: 0.5 }}&gt;通缉在册&lt;/Text&gt;&#13;&#10;        &lt;/Box&gt;&#13;&#10;        &lt;Box style={{ width: 300, height: 1, backgroundColor: 'rgba(21,18,14,0.10)', marginTop: 7 }} /&gt;&#13;&#10;        &lt;Box style={{ flexDirection: 'row', justifyContent: 'space-between', alignItems: 'baseline', width: 300, marginTop: 9 }}&gt;&#13;&#10;            &lt;Text style={{ fontFamily: 'LXGW WenKai', fontSize: 10, color: '#8B8175', letterSpacing: 1 }}&gt;所得&lt;/Text&gt;&#13;&#10;            &lt;Text style={{ fontFamily: 'LXGW WenKai', fontSize: 10.5, color: '#3B342B', letterSpacing: 0.5 }}&gt;断刃 · 沈家&lt;/Text&gt;&#13;&#10;        &lt;/Box&gt;&#13;&#10;        &lt;Box style={{ width: 300, height: 1, backgroundColor: 'rgba(21,18,14,0.10)', marginTop: 7 }} /&gt;&#13;&#10;    &lt;/Box&gt;&#13;&#10;    &lt;Box style={{ position: 'absolute', left: 472, top: 290, width: 1, height: 56, backgroundColor: 'rgba(21,18,14,0.28)' }} /&gt;&#13;&#10;    &lt;Box style={{ position: 'absolute', left: 469, top: 344, width: 7, height: 7, backgroundColor: '#A6361B' }} /&gt;&#13;&#10;    &lt;Box style={{ position: 'absolute', left: 460, top: 356, width: 300, flexDirection: 'column' }}&gt;&#13;&#10;        &lt;Box style={{ flexDirection: 'row', alignItems: 'baseline', gap: 12 }}&gt;&#13;&#10;            &lt;Text style={{ fontFamily: 'STKaiti', fontSize: 34, fontWeight: 'bold', color: '#15120E', letterSpacing: 2 }}&gt;观&lt;/Text&gt;&#13;&#10;            &lt;Text style={{ fontFamily: 'LXGW WenKai', fontSize: 9, color: '#A6361B', letterSpacing: 3 }}&gt;WATCH&lt;/Text&gt;&#13;&#10;        &lt;/Box&gt;&#13;&#10;        &lt;Text style={{ fontFamily: 'LXGW WenKai', fontSize: 12, color: '#3B342B', lineHeight: 2.0, letterSpacing: 0.4, marginTop: 8, width: 300 }}&gt;你退到雨里。三巡之后，唢呐换成了哭丧，桥那头多了一盏白灯。&lt;/Text&gt;&#13;&#10;        &lt;Box style={{ width: 300, height: 1, backgroundColor: 'rgba(21,18,14,0.18)', marginTop: 12 }} /&gt;&#13;&#10;        &lt;Box style={{ flexDirection: 'row', justifyContent: 'space-between', alignItems: 'baseline', width: 300, marginTop: 9 }}&gt;&#13;&#10;            &lt;Text style={{ fontFamily: 'LXGW WenKai', fontSize: 10, color: '#8B8175', letterSpacing: 1 }}&gt;抱琴斋&lt;/Text&gt;&#13;&#10;            &lt;Text style={{ fontFamily: 'LXGW WenKai', fontSize: 10.5, color: '#3B342B', letterSpacing: 0.5 }}&gt;好感 +8&lt;/Text&gt;&#13;&#10;        &lt;/Box&gt;&#13;&#10;        &lt;Box style={{ width: 300, height: 1, backgroundColor: 'rgba(21,18,14,0.10)', marginTop: 7 }} /&gt;&#13;&#10;        &lt;Box style={{ flexDirection: 'row', justifyContent: 'space-between', alignItems: 'baseline', width: 300, marginTop: 9 }}&gt;&#13;&#10;            &lt;Text style={{ fontFamily: 'LXGW WenKai', fontSize: 10, color: '#8B8175', letterSpacing: 1 }}&gt;所得&lt;/Text&gt;&#13;&#10;            &lt;Text style={{ fontFamily: 'LXGW WenKai', fontSize: 10.5, color: '#3B342B', letterSpacing: 0.5 }}&gt;旧账 · 一页&lt;/Text&gt;&#13;&#10;        &lt;/Box&gt;&#13;&#10;        &lt;Box style={{ width: 300, height: 1, backgroundColor: 'rgba(21,18,14,0.10)', marginTop: 7 }} /&gt;&#13;&#10;        &lt;Box style={{ flexDirection: 'row', justifyContent: 'space-between', alignItems: 'baseline', width: 300, marginTop: 9 }}&gt;&#13;&#10;            &lt;Text style={{ fontFamily: 'LXGW WenKai', fontSize: 10, color: '#8B8175', letterSpacing: 1 }}&gt;云渡商路&lt;/Text&gt;&#13;&#10;            &lt;Text style={{ fontFamily: 'LXGW WenKai', fontSize: 10.5, color: '#3B342B', letterSpacing: 0.5 }}&gt;关闭三日&lt;/Text&gt;&#13;&#10;        &lt;/Box&gt;&#13;&#10;        &lt;Box style={{ width: 300, height: 1, backgroundColor: 'rgba(21,18,14,0.10)', marginTop: 7 }} /&gt;&#13;&#10;    &lt;/Box&gt;&#13;&#10;    &lt;Box style={{ position: 'absolute', left: 860, top: 290, width: 1, height: 56, backgroundColor: 'rgba(21,18,14,0.28)' }} /&gt;&#13;&#10;    &lt;Box style={{ position: 'absolute', left: 857, top: 344, width: 7, height: 7, backgroundColor: '#A6361B' }} /&gt;&#13;&#10;    &lt;Box style={{ position: 'absolute', left: 848, top: 356, width: 300, flexDirection: 'column' }}&gt;&#13;&#10;        &lt;Box style={{ flexDirection: 'row', alignItems: 'baseline', gap: 12 }}&gt;&#13;&#10;            &lt;Text style={{ fontFamily: 'STKaiti', fontSize: 34, fontWeight: 'bold', color: '#15120E', letterSpacing: 2 }}&gt;助&lt;/Text&gt;&#13;&#10;            &lt;Text style={{ fontFamily: 'LXGW WenKai', fontSize: 9, color: '#A6361B', letterSpacing: 3 }}&gt;AID&lt;/Text&gt;&#13;&#10;        &lt;/Box&gt;&#13;&#10;        &lt;Text style={{ fontFamily: 'LXGW WenKai', fontSize: 12, color: '#3B342B', lineHeight: 2.0, letterSpacing: 0.4, marginTop: 8, width: 300 }}&gt;你把檐下那盏灯点上，举高。带刀的人认出灯上的记号，转身走了。&lt;/Text&gt;&#13;&#10;        &lt;Box style={{ width: 300, height: 1, backgroundColor: 'rgba(21,18,14,0.18)', marginTop: 12 }} /&gt;&#13;&#10;        &lt;Box style={{ flexDirection: 'row', justifyContent: 'space-between', alignItems: 'baseline', width: 300, marginTop: 9 }}&gt;&#13;&#10;            &lt;Text style={{ fontFamily: 'LXGW WenKai', fontSize: 10, color: '#8B8175', letterSpacing: 1 }}&gt;疏雨阁&lt;/Text&gt;&#13;&#10;            &lt;Text style={{ fontFamily: 'LXGW WenKai', fontSize: 10.5, color: '#3B342B', letterSpacing: 0.5 }}&gt;递来引荐&lt;/Text&gt;&#13;&#10;        &lt;/Box&gt;&#13;&#10;        &lt;Box style={{ width: 300, height: 1, backgroundColor: 'rgba(21,18,14,0.10)', marginTop: 7 }} /&gt;&#13;&#10;        &lt;Box style={{ flexDirection: 'row', justifyContent: 'space-between', alignItems: 'baseline', width: 300, marginTop: 9 }}&gt;&#13;&#10;            &lt;Text style={{ fontFamily: 'LXGW WenKai', fontSize: 10, color: '#8B8175', letterSpacing: 1 }}&gt;落霞盟&lt;/Text&gt;&#13;&#10;            &lt;Text style={{ fontFamily: 'LXGW WenKai', fontSize: 10.5, color: '#3B342B', letterSpacing: 0.5 }}&gt;欠你一次&lt;/Text&gt;&#13;&#10;        &lt;/Box&gt;&#13;&#10;        &lt;Box style={{ width: 300, height: 1, backgroundColor: 'rgba(21,18,14,0.10)', marginTop: 7 }} /&gt;&#13;&#10;        &lt;Box style={{ flexDirection: 'row', justifyContent: 'space-between', alignItems: 'baseline', width: 300, marginTop: 9 }}&gt;&#13;&#10;            &lt;Text style={{ fontFamily: 'LXGW WenKai', fontSize: 10, color: '#8B8175', letterSpacing: 1 }}&gt;沈家&lt;/Text&gt;&#13;&#10;            &lt;Text style={{ fontFamily: 'LXGW WenKai', fontSize: 10.5, color: '#3B342B', letterSpacing: 0.5 }}&gt;婚宴照常&lt;/Text&gt;&#13;&#10;        &lt;/Box&gt;&#13;&#10;        &lt;Box style={{ width: 300, height: 1, backgroundColor: 'rgba(21,18,14,0.10)', marginTop: 7 }} /&gt;&#13;&#10;    &lt;/Box&gt;&#13;&#10;    &lt;Text style={{fontFamily: 'STKaiti', fontSize: 13, color: '#A6361B', letterSpacing: 1, position: 'absolute', left: 72, top: 610}}&gt;事件不设对错，只记录你当时站在哪一边。&lt;/Text&gt;&#13;&#10;    &lt;Text style={{fontFamily: 'LXGW WenKai', fontSize: 10.5, color: '#8B8175', letterSpacing: 3, position: 'absolute', right: 72, top: 677}}&gt;06 / 12&lt;/Text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3EBDC"/>
          </a:solidFill>
          <a:ln/>
        </p:spPr>
        <p:txBody>
          <a:bodyPr/>
          <a:p/>
        </p:txBody>
      </p:sp>
      <p:pic>
        <p:nvPicPr>
          <p:cNvPr id="33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33" name=""/>
          <p:cNvSpPr/>
          <p:nvPr/>
        </p:nvSpPr>
        <p:spPr>
          <a:xfrm rot="0" flipH="0" flipV="0">
            <a:off x="685800" y="485775"/>
            <a:ext cx="47625" cy="4762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28675" y="438150"/>
            <a:ext cx="1247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肆</a:t>
            </a:r>
            <a:r>
              <a:rPr lang="en-US" sz="863" spc="450">
                <a:solidFill>
                  <a:srgbClr val="8B817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玩法</a:t>
            </a:r>
            <a:r>
              <a:rPr lang="en-US" sz="863" spc="450">
                <a:solidFill>
                  <a:srgbClr val="8B8175"/>
                </a:solidFill>
                <a:latin typeface="LXGW WenKai"/>
                <a:ea typeface="LXGW WenKai"/>
              </a:rPr>
              <a:t xml:space="preserve"> / </a:t>
            </a: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续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85800" y="609600"/>
            <a:ext cx="3514725" cy="5238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850" b="1" spc="225">
                <a:solidFill>
                  <a:srgbClr val="15120E"/>
                </a:solidFill>
                <a:latin typeface="STKaiti"/>
                <a:ea typeface="STKaiti"/>
              </a:rPr>
              <a:t>一桩旧事，三种收场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9077325" y="857250"/>
            <a:ext cx="2428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63">
                <a:solidFill>
                  <a:srgbClr val="A79B8A"/>
                </a:solidFill>
                <a:latin typeface="LXGW WenKai"/>
                <a:ea typeface="LXGW WenKai"/>
              </a:rPr>
              <a:t>ONE NIGHT</a:t>
            </a:r>
            <a:r>
              <a:rPr lang="zh-CN" sz="788" spc="263">
                <a:solidFill>
                  <a:srgbClr val="A79B8A"/>
                </a:solidFill>
                <a:latin typeface="LXGW WenKai"/>
                <a:ea typeface="LXGW WenKai"/>
              </a:rPr>
              <a:t>　·　</a:t>
            </a:r>
            <a:r>
              <a:rPr lang="en-US" sz="788" spc="263">
                <a:solidFill>
                  <a:srgbClr val="A79B8A"/>
                </a:solidFill>
                <a:latin typeface="LXGW WenKai"/>
                <a:ea typeface="LXGW WenKai"/>
              </a:rPr>
              <a:t>THREE ENDINGS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685800" y="1276350"/>
            <a:ext cx="108204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685800" y="1276350"/>
            <a:ext cx="609600" cy="190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85800" y="1504950"/>
            <a:ext cx="1276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300">
                <a:solidFill>
                  <a:srgbClr val="A6361B"/>
                </a:solidFill>
                <a:latin typeface="LXGW WenKai"/>
                <a:ea typeface="LXGW WenKai"/>
              </a:rPr>
              <a:t>事件样本</a:t>
            </a:r>
            <a:r>
              <a:rPr lang="en-US" sz="750" spc="300">
                <a:solidFill>
                  <a:srgbClr val="A6361B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750" spc="300">
                <a:solidFill>
                  <a:srgbClr val="A6361B"/>
                </a:solidFill>
                <a:latin typeface="LXGW WenKai"/>
                <a:ea typeface="LXGW WenKai"/>
              </a:rPr>
              <a:t>云渡</a:t>
            </a:r>
            <a:r>
              <a:rPr lang="en-US" sz="750" spc="300">
                <a:solidFill>
                  <a:srgbClr val="A6361B"/>
                </a:solidFill>
                <a:latin typeface="LXGW WenKai"/>
                <a:ea typeface="LXGW WenKai"/>
              </a:rPr>
              <a:t xml:space="preserve"> 07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85800" y="1695450"/>
            <a:ext cx="5715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050" spc="45">
                <a:solidFill>
                  <a:srgbClr val="3B342B"/>
                </a:solidFill>
                <a:latin typeface="LXGW WenKai"/>
                <a:ea typeface="LXGW WenKai"/>
              </a:rPr>
              <a:t>云渡镇，亥时三刻。沈家的喜宴摆到第三巡，门外来了三个带刀的人。你恰好路过，屋檐下还挂着一盏没点的灯。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010400" y="1676400"/>
            <a:ext cx="43815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050" spc="75">
                <a:solidFill>
                  <a:srgbClr val="A6361B"/>
                </a:solidFill>
                <a:latin typeface="STKaiti"/>
                <a:ea typeface="STKaiti"/>
              </a:rPr>
              <a:t>「同一场婚宴，三条时间线。</a:t>
            </a:r>
            <a:endParaRPr/>
          </a:p>
          <a:p>
            <a:pPr>
              <a:lnSpc>
                <a:spcPct val="200000"/>
              </a:lnSpc>
            </a:pPr>
            <a:r>
              <a:rPr lang="zh-CN" sz="1050" spc="75">
                <a:solidFill>
                  <a:srgbClr val="A6361B"/>
                </a:solidFill>
                <a:latin typeface="STKaiti"/>
                <a:ea typeface="STKaiti"/>
              </a:rPr>
              <a:t>每位玩家只会看到其中一条。」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7010400" y="2324100"/>
            <a:ext cx="2409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38">
                <a:solidFill>
                  <a:srgbClr val="8B8175"/>
                </a:solidFill>
                <a:latin typeface="LXGW WenKai"/>
                <a:ea typeface="LXGW WenKai"/>
              </a:rPr>
              <a:t>读档重来，也回不到同一个雨夜——雨夜只下一次。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685800" y="2762250"/>
            <a:ext cx="10820400" cy="9525"/>
          </a:xfrm>
          <a:prstGeom prst="rect">
            <a:avLst/>
          </a:prstGeom>
          <a:solidFill>
            <a:srgbClr val="15120E">
              <a:alpha val="20000"/>
            </a:srgbClr>
          </a:solidFill>
          <a:ln/>
        </p:spPr>
        <p:txBody>
          <a:bodyPr/>
          <a:p/>
        </p:txBody>
      </p:sp>
      <p:sp>
        <p:nvSpPr>
          <p:cNvPr id="344" name=""/>
          <p:cNvSpPr/>
          <p:nvPr/>
        </p:nvSpPr>
        <p:spPr>
          <a:xfrm rot="0" flipH="0" flipV="0">
            <a:off x="685800" y="2752725"/>
            <a:ext cx="2857500" cy="190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85800" y="2457450"/>
            <a:ext cx="781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225">
                <a:solidFill>
                  <a:srgbClr val="8B8175"/>
                </a:solidFill>
                <a:latin typeface="LXGW WenKai"/>
                <a:ea typeface="LXGW WenKai"/>
              </a:rPr>
              <a:t>分岔</a:t>
            </a:r>
            <a:r>
              <a:rPr lang="en-US" sz="713" spc="225">
                <a:solidFill>
                  <a:srgbClr val="8B817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713" spc="225">
                <a:solidFill>
                  <a:srgbClr val="8B8175"/>
                </a:solidFill>
                <a:latin typeface="LXGW WenKai"/>
                <a:ea typeface="LXGW WenKai"/>
              </a:rPr>
              <a:t>三日后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800100" y="2762250"/>
            <a:ext cx="9525" cy="533400"/>
          </a:xfrm>
          <a:prstGeom prst="rect">
            <a:avLst/>
          </a:prstGeom>
          <a:solidFill>
            <a:srgbClr val="15120E">
              <a:alpha val="28000"/>
            </a:srgbClr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771525" y="3276600"/>
            <a:ext cx="66675" cy="6667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85800" y="3390900"/>
            <a:ext cx="342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150">
                <a:solidFill>
                  <a:srgbClr val="15120E"/>
                </a:solidFill>
                <a:latin typeface="STKaiti"/>
                <a:ea typeface="STKaiti"/>
              </a:rPr>
              <a:t>拦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43000" y="3390900"/>
            <a:ext cx="466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225">
                <a:solidFill>
                  <a:srgbClr val="A6361B"/>
                </a:solidFill>
                <a:latin typeface="LXGW WenKai"/>
                <a:ea typeface="LXGW WenKai"/>
              </a:rPr>
              <a:t>STRIKE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85800" y="3857625"/>
            <a:ext cx="2857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900" spc="30">
                <a:solidFill>
                  <a:srgbClr val="3B342B"/>
                </a:solidFill>
                <a:latin typeface="LXGW WenKai"/>
                <a:ea typeface="LXGW WenKai"/>
              </a:rPr>
              <a:t>你挡在门前。刀出了鞘，喜宴散了，沈家的女儿活了下来。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85800" y="4524375"/>
            <a:ext cx="2857500" cy="9525"/>
          </a:xfrm>
          <a:prstGeom prst="rect">
            <a:avLst/>
          </a:prstGeom>
          <a:solidFill>
            <a:srgbClr val="15120E">
              <a:alpha val="18000"/>
            </a:srgbClr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85800" y="4619625"/>
            <a:ext cx="419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8B8175"/>
                </a:solidFill>
                <a:latin typeface="LXGW WenKai"/>
                <a:ea typeface="LXGW WenKai"/>
              </a:rPr>
              <a:t>江湖声望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3343275" y="4619625"/>
            <a:ext cx="200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38">
                <a:solidFill>
                  <a:srgbClr val="3B342B"/>
                </a:solidFill>
                <a:latin typeface="LXGW WenKai"/>
                <a:ea typeface="LXGW WenKai"/>
              </a:rPr>
              <a:t>+12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685800" y="4810125"/>
            <a:ext cx="2857500" cy="9525"/>
          </a:xfrm>
          <a:prstGeom prst="rect">
            <a:avLst/>
          </a:prstGeom>
          <a:solidFill>
            <a:srgbClr val="15120E">
              <a:alpha val="10000"/>
            </a:srgbClr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85800" y="4905375"/>
            <a:ext cx="3143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8B8175"/>
                </a:solidFill>
                <a:latin typeface="LXGW WenKai"/>
                <a:ea typeface="LXGW WenKai"/>
              </a:rPr>
              <a:t>长夜司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3124200" y="4905375"/>
            <a:ext cx="419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38">
                <a:solidFill>
                  <a:srgbClr val="3B342B"/>
                </a:solidFill>
                <a:latin typeface="LXGW WenKai"/>
                <a:ea typeface="LXGW WenKai"/>
              </a:rPr>
              <a:t>通缉在册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685800" y="5095875"/>
            <a:ext cx="2857500" cy="9525"/>
          </a:xfrm>
          <a:prstGeom prst="rect">
            <a:avLst/>
          </a:prstGeom>
          <a:solidFill>
            <a:srgbClr val="15120E">
              <a:alpha val="10000"/>
            </a:srgbClr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85800" y="5191125"/>
            <a:ext cx="209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8B8175"/>
                </a:solidFill>
                <a:latin typeface="LXGW WenKai"/>
                <a:ea typeface="LXGW WenKai"/>
              </a:rPr>
              <a:t>所得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3000375" y="5191125"/>
            <a:ext cx="5429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38">
                <a:solidFill>
                  <a:srgbClr val="3B342B"/>
                </a:solidFill>
                <a:latin typeface="LXGW WenKai"/>
                <a:ea typeface="LXGW WenKai"/>
              </a:rPr>
              <a:t>断刃</a:t>
            </a:r>
            <a:r>
              <a:rPr lang="en-US" sz="788" spc="38">
                <a:solidFill>
                  <a:srgbClr val="3B342B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788" spc="38">
                <a:solidFill>
                  <a:srgbClr val="3B342B"/>
                </a:solidFill>
                <a:latin typeface="LXGW WenKai"/>
                <a:ea typeface="LXGW WenKai"/>
              </a:rPr>
              <a:t>沈家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85800" y="5381625"/>
            <a:ext cx="2857500" cy="9525"/>
          </a:xfrm>
          <a:prstGeom prst="rect">
            <a:avLst/>
          </a:prstGeom>
          <a:solidFill>
            <a:srgbClr val="15120E">
              <a:alpha val="10000"/>
            </a:srgbClr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4495800" y="2762250"/>
            <a:ext cx="9525" cy="533400"/>
          </a:xfrm>
          <a:prstGeom prst="rect">
            <a:avLst/>
          </a:prstGeom>
          <a:solidFill>
            <a:srgbClr val="15120E">
              <a:alpha val="28000"/>
            </a:srgbClr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4467225" y="3276600"/>
            <a:ext cx="66675" cy="6667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4381500" y="3390900"/>
            <a:ext cx="342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150">
                <a:solidFill>
                  <a:srgbClr val="15120E"/>
                </a:solidFill>
                <a:latin typeface="STKaiti"/>
                <a:ea typeface="STKaiti"/>
              </a:rPr>
              <a:t>观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838700" y="3390900"/>
            <a:ext cx="447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225">
                <a:solidFill>
                  <a:srgbClr val="A6361B"/>
                </a:solidFill>
                <a:latin typeface="LXGW WenKai"/>
                <a:ea typeface="LXGW WenKai"/>
              </a:rPr>
              <a:t>WATCH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381500" y="3857625"/>
            <a:ext cx="2857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900" spc="30">
                <a:solidFill>
                  <a:srgbClr val="3B342B"/>
                </a:solidFill>
                <a:latin typeface="LXGW WenKai"/>
                <a:ea typeface="LXGW WenKai"/>
              </a:rPr>
              <a:t>你退到雨里。三巡之后，唢呐换成了哭丧，桥那头多了一盏白灯。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4381500" y="4524375"/>
            <a:ext cx="2857500" cy="9525"/>
          </a:xfrm>
          <a:prstGeom prst="rect">
            <a:avLst/>
          </a:prstGeom>
          <a:solidFill>
            <a:srgbClr val="15120E">
              <a:alpha val="18000"/>
            </a:srgbClr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4381500" y="4619625"/>
            <a:ext cx="3143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8B8175"/>
                </a:solidFill>
                <a:latin typeface="LXGW WenKai"/>
                <a:ea typeface="LXGW WenKai"/>
              </a:rPr>
              <a:t>抱琴斋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858000" y="4619625"/>
            <a:ext cx="381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38">
                <a:solidFill>
                  <a:srgbClr val="3B342B"/>
                </a:solidFill>
                <a:latin typeface="LXGW WenKai"/>
                <a:ea typeface="LXGW WenKai"/>
              </a:rPr>
              <a:t>好感</a:t>
            </a:r>
            <a:r>
              <a:rPr lang="en-US" sz="788" spc="38">
                <a:solidFill>
                  <a:srgbClr val="3B342B"/>
                </a:solidFill>
                <a:latin typeface="LXGW WenKai"/>
                <a:ea typeface="LXGW WenKai"/>
              </a:rPr>
              <a:t xml:space="preserve"> +8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4381500" y="4810125"/>
            <a:ext cx="2857500" cy="9525"/>
          </a:xfrm>
          <a:prstGeom prst="rect">
            <a:avLst/>
          </a:prstGeom>
          <a:solidFill>
            <a:srgbClr val="15120E">
              <a:alpha val="10000"/>
            </a:srgbClr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4381500" y="4905375"/>
            <a:ext cx="209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8B8175"/>
                </a:solidFill>
                <a:latin typeface="LXGW WenKai"/>
                <a:ea typeface="LXGW WenKai"/>
              </a:rPr>
              <a:t>所得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696075" y="4905375"/>
            <a:ext cx="5429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38">
                <a:solidFill>
                  <a:srgbClr val="3B342B"/>
                </a:solidFill>
                <a:latin typeface="LXGW WenKai"/>
                <a:ea typeface="LXGW WenKai"/>
              </a:rPr>
              <a:t>旧账</a:t>
            </a:r>
            <a:r>
              <a:rPr lang="en-US" sz="788" spc="38">
                <a:solidFill>
                  <a:srgbClr val="3B342B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788" spc="38">
                <a:solidFill>
                  <a:srgbClr val="3B342B"/>
                </a:solidFill>
                <a:latin typeface="LXGW WenKai"/>
                <a:ea typeface="LXGW WenKai"/>
              </a:rPr>
              <a:t>一页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4381500" y="5095875"/>
            <a:ext cx="2857500" cy="9525"/>
          </a:xfrm>
          <a:prstGeom prst="rect">
            <a:avLst/>
          </a:prstGeom>
          <a:solidFill>
            <a:srgbClr val="15120E">
              <a:alpha val="10000"/>
            </a:srgbClr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4381500" y="5191125"/>
            <a:ext cx="419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8B8175"/>
                </a:solidFill>
                <a:latin typeface="LXGW WenKai"/>
                <a:ea typeface="LXGW WenKai"/>
              </a:rPr>
              <a:t>云渡商路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819900" y="5191125"/>
            <a:ext cx="419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38">
                <a:solidFill>
                  <a:srgbClr val="3B342B"/>
                </a:solidFill>
                <a:latin typeface="LXGW WenKai"/>
                <a:ea typeface="LXGW WenKai"/>
              </a:rPr>
              <a:t>关闭三日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4381500" y="5381625"/>
            <a:ext cx="2857500" cy="9525"/>
          </a:xfrm>
          <a:prstGeom prst="rect">
            <a:avLst/>
          </a:prstGeom>
          <a:solidFill>
            <a:srgbClr val="15120E">
              <a:alpha val="10000"/>
            </a:srgbClr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8191500" y="2762250"/>
            <a:ext cx="9525" cy="533400"/>
          </a:xfrm>
          <a:prstGeom prst="rect">
            <a:avLst/>
          </a:prstGeom>
          <a:solidFill>
            <a:srgbClr val="15120E">
              <a:alpha val="28000"/>
            </a:srgbClr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8162925" y="3276600"/>
            <a:ext cx="66675" cy="6667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077200" y="3390900"/>
            <a:ext cx="342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150">
                <a:solidFill>
                  <a:srgbClr val="15120E"/>
                </a:solidFill>
                <a:latin typeface="STKaiti"/>
                <a:ea typeface="STKaiti"/>
              </a:rPr>
              <a:t>助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534400" y="3390900"/>
            <a:ext cx="238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225">
                <a:solidFill>
                  <a:srgbClr val="A6361B"/>
                </a:solidFill>
                <a:latin typeface="LXGW WenKai"/>
                <a:ea typeface="LXGW WenKai"/>
              </a:rPr>
              <a:t>AID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077200" y="3857625"/>
            <a:ext cx="2857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900" spc="30">
                <a:solidFill>
                  <a:srgbClr val="3B342B"/>
                </a:solidFill>
                <a:latin typeface="LXGW WenKai"/>
                <a:ea typeface="LXGW WenKai"/>
              </a:rPr>
              <a:t>你把檐下那盏灯点上，举高。带刀的人认出灯上的记号，转身走了。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8077200" y="4524375"/>
            <a:ext cx="2857500" cy="9525"/>
          </a:xfrm>
          <a:prstGeom prst="rect">
            <a:avLst/>
          </a:prstGeom>
          <a:solidFill>
            <a:srgbClr val="15120E">
              <a:alpha val="18000"/>
            </a:srgbClr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077200" y="4619625"/>
            <a:ext cx="3143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8B8175"/>
                </a:solidFill>
                <a:latin typeface="LXGW WenKai"/>
                <a:ea typeface="LXGW WenKai"/>
              </a:rPr>
              <a:t>疏雨阁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0515600" y="4619625"/>
            <a:ext cx="419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38">
                <a:solidFill>
                  <a:srgbClr val="3B342B"/>
                </a:solidFill>
                <a:latin typeface="LXGW WenKai"/>
                <a:ea typeface="LXGW WenKai"/>
              </a:rPr>
              <a:t>递来引荐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8077200" y="4810125"/>
            <a:ext cx="2857500" cy="9525"/>
          </a:xfrm>
          <a:prstGeom prst="rect">
            <a:avLst/>
          </a:prstGeom>
          <a:solidFill>
            <a:srgbClr val="15120E">
              <a:alpha val="10000"/>
            </a:srgbClr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077200" y="4905375"/>
            <a:ext cx="3143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8B8175"/>
                </a:solidFill>
                <a:latin typeface="LXGW WenKai"/>
                <a:ea typeface="LXGW WenKai"/>
              </a:rPr>
              <a:t>落霞盟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10515600" y="4905375"/>
            <a:ext cx="419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38">
                <a:solidFill>
                  <a:srgbClr val="3B342B"/>
                </a:solidFill>
                <a:latin typeface="LXGW WenKai"/>
                <a:ea typeface="LXGW WenKai"/>
              </a:rPr>
              <a:t>欠你一次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8077200" y="5095875"/>
            <a:ext cx="2857500" cy="9525"/>
          </a:xfrm>
          <a:prstGeom prst="rect">
            <a:avLst/>
          </a:prstGeom>
          <a:solidFill>
            <a:srgbClr val="15120E">
              <a:alpha val="10000"/>
            </a:srgbClr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077200" y="5191125"/>
            <a:ext cx="209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8B8175"/>
                </a:solidFill>
                <a:latin typeface="LXGW WenKai"/>
                <a:ea typeface="LXGW WenKai"/>
              </a:rPr>
              <a:t>沈家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0515600" y="5191125"/>
            <a:ext cx="419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38">
                <a:solidFill>
                  <a:srgbClr val="3B342B"/>
                </a:solidFill>
                <a:latin typeface="LXGW WenKai"/>
                <a:ea typeface="LXGW WenKai"/>
              </a:rPr>
              <a:t>婚宴照常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8077200" y="5381625"/>
            <a:ext cx="2857500" cy="9525"/>
          </a:xfrm>
          <a:prstGeom prst="rect">
            <a:avLst/>
          </a:prstGeom>
          <a:solidFill>
            <a:srgbClr val="15120E">
              <a:alpha val="10000"/>
            </a:srgbClr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85800" y="5810250"/>
            <a:ext cx="2533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6361B"/>
                </a:solidFill>
                <a:latin typeface="STKaiti"/>
                <a:ea typeface="STKaiti"/>
              </a:rPr>
              <a:t>事件不设对错，只记录你当时站在哪一边。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0953750" y="6448425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25">
                <a:solidFill>
                  <a:srgbClr val="8B8175"/>
                </a:solidFill>
                <a:latin typeface="LXGW WenKai"/>
                <a:ea typeface="LXGW WenKa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93" name="" descr="&lt;Slide style={{ width: 1280, height: 720, backgroundColor: '#15120E', position: 'relative', padding: 0 }}&gt;&#13;&#10;    &lt;Image src=&quot;assets/05_bamboo_night.jpg&quot; style={{ position: 'absolute', left: 0, top: 0, width: 1280, height: 720, objectFit: 'cover' }} /&gt;&#13;&#10;    &lt;Box style={{ position: 'absolute', left: 0, top: 0, width: 1280, height: 720, background: 'linear-gradient(180deg, rgba(243,235,220,0.30) 0%, rgba(243,235,220,0) 22%, rgba(21,18,14,0) 62%, rgba(21,18,14,0.55) 100%)' }} /&gt;&#13;&#10;    &lt;Box style={{ position: 'absolute', left: 0, top: 0, width: 420, height: 720, background: 'linear-gradient(90deg, rgba(243,235,220,0.55) 0%, rgba(243,235,220,0) 100%)' }} /&gt;&#13;&#10;&#13;&#10;    &lt;Text style={{fontFamily: 'LXGW WenKai', fontSize: 10.5, color: 'rgba(21,18,14,0.62)', letterSpacing: 6, position: 'absolute', left: 72, top: 58}}&gt;间 · 壹&lt;/Text&gt;&#13;&#10;&#13;&#10;    &lt;Animation animType=&quot;fadeIn&quot; duration={900} startType=&quot;withPrevious&quot; delay={0}&gt;&lt;Text style={{position: 'absolute', left: 336, top: 108, fontFamily: 'STKaiti', fontSize: 32, color: '#15120E', lineHeight: 1.5, letterSpacing: 2, textAlign: 'center'}}&gt;雪&lt;br /&gt;落&lt;br /&gt;在&lt;br /&gt;竹&lt;br /&gt;上&lt;/Text&gt;&lt;/Animation&gt;&#13;&#10;    &lt;Animation animType=&quot;fadeIn&quot; duration={900} startType=&quot;afterPrevious&quot; delay={120}&gt;&lt;Text style={{position: 'absolute', left: 264, top: 108, fontFamily: 'STKaiti', fontSize: 32, color: '#15120E', lineHeight: 1.5, letterSpacing: 2, textAlign: 'center'}}&gt;没&lt;br /&gt;有&lt;br /&gt;人&lt;br /&gt;替&lt;br /&gt;你&lt;br /&gt;拔&lt;br /&gt;剑&lt;/Text&gt;&lt;/Animation&gt;&#13;&#10;&#13;&#10;    &lt;Box style={{ position: 'absolute', left: 202, top: 496, width: 30, height: 30, backgroundColor: '#A6361B', alignItems: 'center', justifyContent: 'center' }}&gt;&#13;&#10;        &lt;Text style={{ fontFamily: 'STKaiti', fontSize: 18, color: '#F3EBDC', lineHeight: 1 }}&gt;雪&lt;/Text&gt;&#13;&#10;    &lt;/Box&gt;&#13;&#10;&#13;&#10;    &lt;Text style={{fontFamily: 'LXGW WenKai', fontSize: 10, color: 'rgba(21,18,14,0.46)', letterSpacing: 4, position: 'absolute', left: 72, top: 660}}&gt;NO ONE WILL DRAW THE SWORD FOR YOU&lt;/Text&gt;&#13;&#10;    &lt;Text style={{fontFamily: 'LXGW WenKai', fontSize: 10.5, color: 'rgba(21,18,14,0.46)', letterSpacing: 3, position: 'absolute', right: 72, top: 660}}&gt;07 / 12&lt;/Text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p/>
        </p:txBody>
      </p:sp>
      <p:pic>
        <p:nvPicPr>
          <p:cNvPr id="395" name=""/>
          <p:cNvPicPr>
            <a:picLocks noChangeAspect="1"/>
          </p:cNvPicPr>
          <p:nvPr/>
        </p:nvPicPr>
        <p:blipFill>
          <a:blip r:embed="rId1"/>
          <a:srcRect l="0" t="5093" r="0" b="5093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EBDC">
                  <a:alpha val="30000"/>
                </a:srgbClr>
              </a:gs>
              <a:gs pos="22000">
                <a:srgbClr val="F3EBDC">
                  <a:alpha val="0"/>
                </a:srgbClr>
              </a:gs>
              <a:gs pos="62000">
                <a:srgbClr val="15120E">
                  <a:alpha val="0"/>
                </a:srgbClr>
              </a:gs>
              <a:gs pos="100000">
                <a:srgbClr val="15120E">
                  <a:alpha val="55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0" y="0"/>
            <a:ext cx="4000500" cy="6858000"/>
          </a:xfrm>
          <a:prstGeom prst="rect">
            <a:avLst/>
          </a:prstGeom>
          <a:gradFill>
            <a:gsLst>
              <a:gs pos="0">
                <a:srgbClr val="F3EBDC">
                  <a:alpha val="55000"/>
                </a:srgbClr>
              </a:gs>
              <a:gs pos="100000">
                <a:srgbClr val="F3EBDC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85800" y="552450"/>
            <a:ext cx="6000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450">
                <a:solidFill>
                  <a:srgbClr val="15120E">
                    <a:alpha val="62000"/>
                  </a:srgbClr>
                </a:solidFill>
                <a:latin typeface="LXGW WenKai"/>
                <a:ea typeface="LXGW WenKai"/>
              </a:rPr>
              <a:t>间</a:t>
            </a:r>
            <a:r>
              <a:rPr lang="en-US" sz="788" spc="450">
                <a:solidFill>
                  <a:srgbClr val="15120E">
                    <a:alpha val="62000"/>
                  </a:srgbClr>
                </a:solidFill>
                <a:latin typeface="LXGW WenKai"/>
                <a:ea typeface="LXGW WenKai"/>
              </a:rPr>
              <a:t xml:space="preserve"> · </a:t>
            </a:r>
            <a:r>
              <a:rPr lang="zh-CN" sz="788" spc="450">
                <a:solidFill>
                  <a:srgbClr val="15120E">
                    <a:alpha val="62000"/>
                  </a:srgbClr>
                </a:solidFill>
                <a:latin typeface="LXGW WenKai"/>
                <a:ea typeface="LXGW WenKai"/>
              </a:rPr>
              <a:t>壹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3200400" y="1028700"/>
            <a:ext cx="323850" cy="27432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2400" spc="150">
                <a:solidFill>
                  <a:srgbClr val="15120E"/>
                </a:solidFill>
                <a:latin typeface="STKaiti"/>
                <a:ea typeface="STKaiti"/>
              </a:rPr>
              <a:t>雪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2400" spc="150">
                <a:solidFill>
                  <a:srgbClr val="15120E"/>
                </a:solidFill>
                <a:latin typeface="STKaiti"/>
                <a:ea typeface="STKaiti"/>
              </a:rPr>
              <a:t>落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2400" spc="150">
                <a:solidFill>
                  <a:srgbClr val="15120E"/>
                </a:solidFill>
                <a:latin typeface="STKaiti"/>
                <a:ea typeface="STKaiti"/>
              </a:rPr>
              <a:t>在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2400" spc="150">
                <a:solidFill>
                  <a:srgbClr val="15120E"/>
                </a:solidFill>
                <a:latin typeface="STKaiti"/>
                <a:ea typeface="STKaiti"/>
              </a:rPr>
              <a:t>竹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2400" spc="150">
                <a:solidFill>
                  <a:srgbClr val="15120E"/>
                </a:solidFill>
                <a:latin typeface="STKaiti"/>
                <a:ea typeface="STKaiti"/>
              </a:rPr>
              <a:t>上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2514600" y="1028700"/>
            <a:ext cx="323850" cy="38481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2400" spc="150">
                <a:solidFill>
                  <a:srgbClr val="15120E"/>
                </a:solidFill>
                <a:latin typeface="STKaiti"/>
                <a:ea typeface="STKaiti"/>
              </a:rPr>
              <a:t>没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2400" spc="150">
                <a:solidFill>
                  <a:srgbClr val="15120E"/>
                </a:solidFill>
                <a:latin typeface="STKaiti"/>
                <a:ea typeface="STKaiti"/>
              </a:rPr>
              <a:t>有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2400" spc="150">
                <a:solidFill>
                  <a:srgbClr val="15120E"/>
                </a:solidFill>
                <a:latin typeface="STKaiti"/>
                <a:ea typeface="STKaiti"/>
              </a:rPr>
              <a:t>人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2400" spc="150">
                <a:solidFill>
                  <a:srgbClr val="15120E"/>
                </a:solidFill>
                <a:latin typeface="STKaiti"/>
                <a:ea typeface="STKaiti"/>
              </a:rPr>
              <a:t>替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2400" spc="150">
                <a:solidFill>
                  <a:srgbClr val="15120E"/>
                </a:solidFill>
                <a:latin typeface="STKaiti"/>
                <a:ea typeface="STKaiti"/>
              </a:rPr>
              <a:t>你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2400" spc="150">
                <a:solidFill>
                  <a:srgbClr val="15120E"/>
                </a:solidFill>
                <a:latin typeface="STKaiti"/>
                <a:ea typeface="STKaiti"/>
              </a:rPr>
              <a:t>拔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2400" spc="150">
                <a:solidFill>
                  <a:srgbClr val="15120E"/>
                </a:solidFill>
                <a:latin typeface="STKaiti"/>
                <a:ea typeface="STKaiti"/>
              </a:rPr>
              <a:t>剑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1924050" y="4724400"/>
            <a:ext cx="285750" cy="2857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981200" y="47625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3EBDC"/>
                </a:solidFill>
                <a:latin typeface="STKaiti"/>
                <a:ea typeface="STKaiti"/>
              </a:rPr>
              <a:t>雪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685800" y="6286500"/>
            <a:ext cx="32861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300">
                <a:solidFill>
                  <a:srgbClr val="15120E">
                    <a:alpha val="46000"/>
                  </a:srgbClr>
                </a:solidFill>
                <a:latin typeface="LXGW WenKai"/>
                <a:ea typeface="LXGW WenKai"/>
              </a:rPr>
              <a:t>NO ONE WILL DRAW THE SWORD FOR YOU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0953750" y="6286500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25">
                <a:solidFill>
                  <a:srgbClr val="15120E">
                    <a:alpha val="46000"/>
                  </a:srgbClr>
                </a:solidFill>
                <a:latin typeface="LXGW WenKai"/>
                <a:ea typeface="LXGW WenKai"/>
              </a:rPr>
              <a:t>07 / 12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id="152" presetID="10" presetClass="entr" presetSubtype="0" fill="hold" grpId="1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05" name="" descr="&lt;Slide style={{ width: 1280, height: 720, backgroundColor: '#F3EBDC', position: 'relative', padding: 0 }}&gt;&#13;&#10;    &lt;Image src=&quot;assets/paper_1280.png&quot; style={{ position: 'absolute', left: 0, top: 0, width: 1280, height: 720 }} /&gt;&#13;&#10;    &lt;Image src=&quot;assets/06_sect_silhouettes.jpg&quot; style={{ position: 'absolute', left: 0, top: 0, width: 528, height: 720, objectFit: 'cover' }} /&gt;&#13;&#10;    &lt;Box style={{ position: 'absolute', left: 0, top: 0, width: 528, height: 720, background: 'linear-gradient(90deg, rgba(243,235,220,0.20) 0%, rgba(243,235,220,0) 55%, rgba(243,235,220,0.86) 93%, #F3EBDC 100%)' }} /&gt;&#13;&#10;    &lt;Box style={{ position: 'absolute', left: 0, top: 0, width: 528, height: 720, background: 'linear-gradient(180deg, rgba(243,235,220,0.55) 0%, rgba(243,235,220,0) 18%, rgba(243,235,220,0) 80%, rgba(243,235,220,0.45) 100%)' }} /&gt;&#13;&#10;&#13;&#10;    &lt;Text style={{fontFamily: 'LXGW WenKai', fontSize: 11.5, color: '#8B8175', letterSpacing: 6, position: 'absolute', left: 612, top: 46}}&gt;伍 · 人&lt;/Text&gt;&#13;&#10;    &lt;Box style={{ position: 'absolute', left: 596, top: 50, width: 5, height: 5, backgroundColor: '#A6361B' }} /&gt;&#13;&#10;    &lt;Text style={{fontFamily: 'STKaiti', fontSize: 40, fontWeight: 'bold', color: '#15120E', letterSpacing: 3, position: 'absolute', left: 596, top: 64}}&gt;四种活法，四条路&lt;/Text&gt;&#13;&#10;    &lt;Box style={{ position: 'absolute', left: 596, top: 132, width: 612, height: 1, backgroundColor: 'rgba(21,18,14,0.14)' }} /&gt;&#13;&#10;    &lt;Box style={{ position: 'absolute', left: 596, top: 132, width: 64, height: 2, backgroundColor: '#A6361B' }} /&gt;&#13;&#10;    &lt;Text style={{fontFamily: 'LXGW WenKai', fontSize: 12.5, color: '#3B342B', lineHeight: 1.95, letterSpacing: 0.5, position: 'absolute', left: 596, top: 150, width: 560}}&gt;门派不是职业皮肤，是四种跟世界相处的方法。选门派，等于选你打算怎么活。&lt;/Text&gt;&#13;&#10;&#13;&#10;    &lt;Text style={{fontFamily: 'STKaiti', fontSize: 21, fontWeight: 'bold', color: '#15120E', letterSpacing: 3, position: 'absolute', left: 596, top: 226}}&gt;长夜司&lt;/Text&gt;&#13;&#10;    &lt;Text style={{fontFamily: 'STKaiti', fontSize: 13, color: '#A6361B', letterSpacing: 2, position: 'absolute', left: 696, top: 232}}&gt;守&lt;/Text&gt;&#13;&#10;    &lt;Text style={{fontFamily: 'LXGW WenKai', fontSize: 8.5, color: '#A79B8A', letterSpacing: 2.5, position: 'absolute', left: 728, top: 235}}&gt;KEEP&lt;/Text&gt;&#13;&#10;    &lt;Text style={{fontFamily: 'LXGW WenKai', fontSize: 11.5, color: '#3B342B', lineHeight: 1.95, letterSpacing: 0.3, position: 'absolute', left: 596, top: 262, width: 560}}&gt;守着一座地图上找不到的城。剑法只两式：拦，与不拦。门下弟子，多是失了家的人。&lt;/Text&gt;&#13;&#10;    &lt;Box style={{position: 'absolute', left: 596, top: 312, width: 612, height: 1, backgroundColor: 'rgba(21,18,14,0.14)'}} /&gt;&#13;&#10;    &lt;Text style={{fontFamily: 'STKaiti', fontSize: 21, fontWeight: 'bold', color: '#15120E', letterSpacing: 3, position: 'absolute', left: 596, top: 326}}&gt;落霞盟&lt;/Text&gt;&#13;&#10;    &lt;Text style={{fontFamily: 'STKaiti', fontSize: 13, color: '#A6361B', letterSpacing: 2, position: 'absolute', left: 696, top: 332}}&gt;争&lt;/Text&gt;&#13;&#10;    &lt;Text style={{fontFamily: 'LXGW WenKai', fontSize: 8.5, color: '#A79B8A', letterSpacing: 2.5, position: 'absolute', left: 728, top: 335}}&gt;CONTEST&lt;/Text&gt;&#13;&#10;    &lt;Text style={{fontFamily: 'LXGW WenKai', fontSize: 11.5, color: '#3B342B', lineHeight: 1.95, letterSpacing: 0.3, position: 'absolute', left: 596, top: 362, width: 560}}&gt;马帮出身，讲义气也讲价钱。刀法大开大合，先动手的人通常赢。盟里没有掌门，只有话事人。&lt;/Text&gt;&#13;&#10;    &lt;Box style={{position: 'absolute', left: 596, top: 412, width: 612, height: 1, backgroundColor: 'rgba(21,18,14,0.14)'}} /&gt;&#13;&#10;    &lt;Text style={{fontFamily: 'STKaiti', fontSize: 21, fontWeight: 'bold', color: '#15120E', letterSpacing: 3, position: 'absolute', left: 596, top: 426}}&gt;疏雨阁&lt;/Text&gt;&#13;&#10;    &lt;Text style={{fontFamily: 'STKaiti', fontSize: 13, color: '#A6361B', letterSpacing: 2, position: 'absolute', left: 696, top: 432}}&gt;避&lt;/Text&gt;&#13;&#10;    &lt;Text style={{fontFamily: 'LXGW WenKai', fontSize: 8.5, color: '#A79B8A', letterSpacing: 2.5, position: 'absolute', left: 728, top: 435}}&gt;EVADE&lt;/Text&gt;&#13;&#10;    &lt;Text style={{fontFamily: 'LXGW WenKai', fontSize: 11.5, color: '#3B342B', lineHeight: 1.95, letterSpacing: 0.3, position: 'absolute', left: 596, top: 462, width: 560}}&gt;不接客，不赴宴。伞下三丈是他们的地界。据说阁主二十年没出过雨。&lt;/Text&gt;&#13;&#10;    &lt;Box style={{position: 'absolute', left: 596, top: 512, width: 612, height: 1, backgroundColor: 'rgba(21,18,14,0.14)'}} /&gt;&#13;&#10;    &lt;Text style={{fontFamily: 'STKaiti', fontSize: 21, fontWeight: 'bold', color: '#15120E', letterSpacing: 3, position: 'absolute', left: 596, top: 526}}&gt;抱琴斋&lt;/Text&gt;&#13;&#10;    &lt;Text style={{fontFamily: 'STKaiti', fontSize: 13, color: '#A6361B', letterSpacing: 2, position: 'absolute', left: 696, top: 532}}&gt;观&lt;/Text&gt;&#13;&#10;    &lt;Text style={{fontFamily: 'LXGW WenKai', fontSize: 8.5, color: '#A79B8A', letterSpacing: 2.5, position: 'absolute', left: 728, top: 535}}&gt;OBSERVE&lt;/Text&gt;&#13;&#10;    &lt;Text style={{fontFamily: 'LXGW WenKai', fontSize: 11.5, color: '#3B342B', lineHeight: 1.95, letterSpacing: 0.3, position: 'absolute', left: 596, top: 562, width: 560}}&gt;不问江湖事，只记江湖事。琴声一起，附近的刀都会慢半拍。想听旧事，带一坛酒去。&lt;/Text&gt;&#13;&#10;    &lt;Box style={{position: 'absolute', left: 596, top: 612, width: 612, height: 1, backgroundColor: 'rgba(21,18,14,0.14)'}} /&gt;&#13;&#10;    &lt;Text style={{fontFamily: 'LXGW WenKai', fontSize: 9.5, color: '#A79B8A', letterSpacing: 3, position: 'absolute', left: 596, top: 640}}&gt;IN THIS WORLD, EVERYONE PICKS A WAY TO LIVE&lt;/Text&gt;&#13;&#10;    &lt;Text style={{fontFamily: 'LXGW WenKai', fontSize: 10.5, color: '#8B8175', letterSpacing: 3, position: 'absolute', right: 72, top: 677}}&gt;08 / 12&lt;/Text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3EBDC"/>
          </a:solidFill>
          <a:ln/>
        </p:spPr>
        <p:txBody>
          <a:bodyPr/>
          <a:p/>
        </p:txBody>
      </p:sp>
      <p:pic>
        <p:nvPicPr>
          <p:cNvPr id="407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408" name=""/>
          <p:cNvPicPr>
            <a:picLocks noChangeAspect="1"/>
          </p:cNvPicPr>
          <p:nvPr/>
        </p:nvPicPr>
        <p:blipFill>
          <a:blip r:embed="rId2"/>
          <a:srcRect l="0" t="1615" r="0" b="1615"/>
          <a:stretch>
            <a:fillRect/>
          </a:stretch>
        </p:blipFill>
        <p:spPr>
          <a:xfrm rot="0" flipH="0" flipV="0">
            <a:off x="0" y="0"/>
            <a:ext cx="5029200" cy="6858000"/>
          </a:xfrm>
          <a:prstGeom prst="rect">
            <a:avLst/>
          </a:prstGeom>
          <a:ln/>
        </p:spPr>
      </p:pic>
      <p:sp>
        <p:nvSpPr>
          <p:cNvPr id="409" name=""/>
          <p:cNvSpPr/>
          <p:nvPr/>
        </p:nvSpPr>
        <p:spPr>
          <a:xfrm rot="0" flipH="0" flipV="0">
            <a:off x="0" y="0"/>
            <a:ext cx="5029200" cy="6858000"/>
          </a:xfrm>
          <a:prstGeom prst="rect">
            <a:avLst/>
          </a:prstGeom>
          <a:gradFill>
            <a:gsLst>
              <a:gs pos="0">
                <a:srgbClr val="F3EBDC">
                  <a:alpha val="20000"/>
                </a:srgbClr>
              </a:gs>
              <a:gs pos="55000">
                <a:srgbClr val="F3EBDC">
                  <a:alpha val="0"/>
                </a:srgbClr>
              </a:gs>
              <a:gs pos="93000">
                <a:srgbClr val="F3EBDC">
                  <a:alpha val="86000"/>
                </a:srgbClr>
              </a:gs>
              <a:gs pos="100000">
                <a:srgbClr val="F3EBDC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10" name=""/>
          <p:cNvSpPr/>
          <p:nvPr/>
        </p:nvSpPr>
        <p:spPr>
          <a:xfrm rot="0" flipH="0" flipV="0">
            <a:off x="0" y="0"/>
            <a:ext cx="5029200" cy="6858000"/>
          </a:xfrm>
          <a:prstGeom prst="rect">
            <a:avLst/>
          </a:prstGeom>
          <a:gradFill>
            <a:gsLst>
              <a:gs pos="0">
                <a:srgbClr val="F3EBDC">
                  <a:alpha val="55000"/>
                </a:srgbClr>
              </a:gs>
              <a:gs pos="18000">
                <a:srgbClr val="F3EBDC">
                  <a:alpha val="0"/>
                </a:srgbClr>
              </a:gs>
              <a:gs pos="80000">
                <a:srgbClr val="F3EBDC">
                  <a:alpha val="0"/>
                </a:srgbClr>
              </a:gs>
              <a:gs pos="100000">
                <a:srgbClr val="F3EBDC">
                  <a:alpha val="45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829300" y="438150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伍</a:t>
            </a:r>
            <a:r>
              <a:rPr lang="en-US" sz="863" spc="450">
                <a:solidFill>
                  <a:srgbClr val="8B817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人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5676900" y="476250"/>
            <a:ext cx="47625" cy="4762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676900" y="609600"/>
            <a:ext cx="3276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 spc="225">
                <a:solidFill>
                  <a:srgbClr val="15120E"/>
                </a:solidFill>
                <a:latin typeface="STKaiti"/>
                <a:ea typeface="STKaiti"/>
              </a:rPr>
              <a:t>四种活法，四条路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5676900" y="1257300"/>
            <a:ext cx="58293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5676900" y="1257300"/>
            <a:ext cx="609600" cy="190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5676900" y="1428750"/>
            <a:ext cx="5334000" cy="285750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938" spc="38">
                <a:solidFill>
                  <a:srgbClr val="3B342B"/>
                </a:solidFill>
                <a:latin typeface="LXGW WenKai"/>
                <a:ea typeface="LXGW WenKai"/>
              </a:rPr>
              <a:t>门派不是职业皮肤，是四种跟世界相处的方法。选门派，等于选你打算怎么活。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5676900" y="2152650"/>
            <a:ext cx="685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225">
                <a:solidFill>
                  <a:srgbClr val="15120E"/>
                </a:solidFill>
                <a:latin typeface="STKaiti"/>
                <a:ea typeface="STKaiti"/>
              </a:rPr>
              <a:t>长夜司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629400" y="220980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A6361B"/>
                </a:solidFill>
                <a:latin typeface="STKaiti"/>
                <a:ea typeface="STKaiti"/>
              </a:rPr>
              <a:t>守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934200" y="2238375"/>
            <a:ext cx="304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88">
                <a:solidFill>
                  <a:srgbClr val="A79B8A"/>
                </a:solidFill>
                <a:latin typeface="LXGW WenKai"/>
                <a:ea typeface="LXGW WenKai"/>
              </a:rPr>
              <a:t>KEEP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5676900" y="2495550"/>
            <a:ext cx="5334000" cy="2571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863" spc="22">
                <a:solidFill>
                  <a:srgbClr val="3B342B"/>
                </a:solidFill>
                <a:latin typeface="LXGW WenKai"/>
                <a:ea typeface="LXGW WenKai"/>
              </a:rPr>
              <a:t>守着一座地图上找不到的城。剑法只两式：拦，与不拦。门下弟子，多是失了家的人。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5676900" y="2971800"/>
            <a:ext cx="58293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676900" y="3105150"/>
            <a:ext cx="685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225">
                <a:solidFill>
                  <a:srgbClr val="15120E"/>
                </a:solidFill>
                <a:latin typeface="STKaiti"/>
                <a:ea typeface="STKaiti"/>
              </a:rPr>
              <a:t>落霞盟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629400" y="316230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A6361B"/>
                </a:solidFill>
                <a:latin typeface="STKaiti"/>
                <a:ea typeface="STKaiti"/>
              </a:rPr>
              <a:t>争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6934200" y="3190875"/>
            <a:ext cx="5429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88">
                <a:solidFill>
                  <a:srgbClr val="A79B8A"/>
                </a:solidFill>
                <a:latin typeface="LXGW WenKai"/>
                <a:ea typeface="LXGW WenKai"/>
              </a:rPr>
              <a:t>CONTEST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5676900" y="3448050"/>
            <a:ext cx="5334000" cy="2571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863" spc="22">
                <a:solidFill>
                  <a:srgbClr val="3B342B"/>
                </a:solidFill>
                <a:latin typeface="LXGW WenKai"/>
                <a:ea typeface="LXGW WenKai"/>
              </a:rPr>
              <a:t>马帮出身，讲义气也讲价钱。刀法大开大合，先动手的人通常赢。盟里没有掌门，只有话事人。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5676900" y="3924300"/>
            <a:ext cx="58293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676900" y="4057650"/>
            <a:ext cx="685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225">
                <a:solidFill>
                  <a:srgbClr val="15120E"/>
                </a:solidFill>
                <a:latin typeface="STKaiti"/>
                <a:ea typeface="STKaiti"/>
              </a:rPr>
              <a:t>疏雨阁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629400" y="411480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A6361B"/>
                </a:solidFill>
                <a:latin typeface="STKaiti"/>
                <a:ea typeface="STKaiti"/>
              </a:rPr>
              <a:t>避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934200" y="4143375"/>
            <a:ext cx="3905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88">
                <a:solidFill>
                  <a:srgbClr val="A79B8A"/>
                </a:solidFill>
                <a:latin typeface="LXGW WenKai"/>
                <a:ea typeface="LXGW WenKai"/>
              </a:rPr>
              <a:t>EVADE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5676900" y="4400550"/>
            <a:ext cx="5334000" cy="2571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863" spc="22">
                <a:solidFill>
                  <a:srgbClr val="3B342B"/>
                </a:solidFill>
                <a:latin typeface="LXGW WenKai"/>
                <a:ea typeface="LXGW WenKai"/>
              </a:rPr>
              <a:t>不接客，不赴宴。伞下三丈是他们的地界。据说阁主二十年没出过雨。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5676900" y="4876800"/>
            <a:ext cx="58293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5676900" y="5010150"/>
            <a:ext cx="685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225">
                <a:solidFill>
                  <a:srgbClr val="15120E"/>
                </a:solidFill>
                <a:latin typeface="STKaiti"/>
                <a:ea typeface="STKaiti"/>
              </a:rPr>
              <a:t>抱琴斋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629400" y="506730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A6361B"/>
                </a:solidFill>
                <a:latin typeface="STKaiti"/>
                <a:ea typeface="STKaiti"/>
              </a:rPr>
              <a:t>观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934200" y="5095875"/>
            <a:ext cx="5429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88">
                <a:solidFill>
                  <a:srgbClr val="A79B8A"/>
                </a:solidFill>
                <a:latin typeface="LXGW WenKai"/>
                <a:ea typeface="LXGW WenKai"/>
              </a:rPr>
              <a:t>OBSERVE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5676900" y="5353050"/>
            <a:ext cx="5334000" cy="2571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863" spc="22">
                <a:solidFill>
                  <a:srgbClr val="3B342B"/>
                </a:solidFill>
                <a:latin typeface="LXGW WenKai"/>
                <a:ea typeface="LXGW WenKai"/>
              </a:rPr>
              <a:t>不问江湖事，只记江湖事。琴声一起，附近的刀都会慢半拍。想听旧事，带一坛酒去。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5676900" y="5829300"/>
            <a:ext cx="58293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5676900" y="6096000"/>
            <a:ext cx="34385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225">
                <a:solidFill>
                  <a:srgbClr val="A79B8A"/>
                </a:solidFill>
                <a:latin typeface="LXGW WenKai"/>
                <a:ea typeface="LXGW WenKai"/>
              </a:rPr>
              <a:t>IN THIS WORLD, EVERYONE PICKS A WAY TO LIVE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0953750" y="6448425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25">
                <a:solidFill>
                  <a:srgbClr val="8B8175"/>
                </a:solidFill>
                <a:latin typeface="LXGW WenKai"/>
                <a:ea typeface="LXGW WenKai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39" name="" descr="&lt;Slide style={{ width: 1280, height: 720, backgroundColor: '#F3EBDC', position: 'relative', padding: 0 }}&gt;&#13;&#10;    &lt;Image src=&quot;assets/paper_1280.png&quot; style={{ position: 'absolute', left: 0, top: 0, width: 1280, height: 720 }} /&gt;&#13;&#10;    &#13;&#10;    &lt;Box style={{position: 'absolute', left: 72, top: 46, flexDirection: 'row', alignItems: 'center', gap: 10}}&gt;&#13;&#10;        &lt;Box style={{width: 5, height: 5, backgroundColor: '#A6361B'}} /&gt;&#13;&#10;        &lt;Text style={{fontFamily: 'LXGW WenKai', fontSize: 11.5, color: '#8B8175', letterSpacing: 6}}&gt;陆 · 画&lt;/Text&gt;&#13;&#10;    &lt;/Box&gt;&#13;&#10;    &lt;Text style={{fontFamily: 'STKaiti', fontSize: 38, fontWeight: 'bold', color: '#15120E', letterSpacing: 3, lineHeight: 1.2, position: 'absolute', left: 72, top: 64}}&gt;一笔一皴，皆是山河&lt;/Text&gt;&#13;&#10;    &lt;Text style={{fontFamily: 'LXGW WenKai', fontSize: 10.5, color: '#A79B8A', letterSpacing: 3.5, position: 'absolute', right: 72, top: 90}}&gt;FIVE INK TONES　·　ONE ACCENT&lt;/Text&gt;&#13;&#10;    &lt;Box style={{position: 'absolute', left: 72, top: 134, width: 1136, height: 1, backgroundColor: 'rgba(21,18,14,0.14)'}} /&gt;&#13;&#10;    &lt;Box style={{position: 'absolute', left: 72, top: 134, width: 64, height: 2, backgroundColor: '#A6361B'}} /&gt;&#13;&#10;&#13;&#10;    &lt;Box style={{ position: 'absolute', left: 72, top: 154, width: 1136, height: 276, border: '1px solid rgba(21,18,14,0.22)' }} /&gt;&#13;&#10;    &lt;Image src=&quot;assets/07_valley_vista.jpg&quot; style={{ position: 'absolute', left: 73, top: 155, width: 1134, height: 274, objectFit: 'cover' }} /&gt;&#13;&#10;    &lt;Text style={{fontFamily: 'LXGW WenKai', fontSize: 10, color: '#5C5245', letterSpacing: 1.5, position: 'absolute', left: 72, top: 437}}&gt;苍岭 · 断崖与瀑布，晨雾未散&lt;/Text&gt;&#13;&#10;    &lt;Text style={{fontFamily: 'LXGW WenKai', fontSize: 9.5, color: '#8B8175', letterSpacing: 2, position: 'absolute', right: 72, top: 436}}&gt;开场动画 4,200 帧全手绘　·　12 层墨叠加　·　无 3D 底模&lt;/Text&gt;&#13;&#10;&#13;&#10;    &lt;Box style={{ position: 'absolute', left: 72, top: 470, width: 356, flexDirection: 'column' }}&gt;&#13;&#10;        &lt;Box style={{ flexDirection: 'row' }}&gt;&lt;Box style={{ width: 40, height: 52, backgroundColor: '#0B0906', marginRight: 4, alignItems: 'center', justifyContent: 'center' }}&gt;&#13;&#10;            &lt;Text style={{ fontFamily: 'STKaiti', fontSize: 13, color: '#F3EBDC', lineHeight: 1 }}&gt;焦&lt;/Text&gt;&#13;&#10;        &lt;/Box&gt;&lt;Box style={{ width: 40, height: 52, backgroundColor: '#241E18', marginRight: 4, alignItems: 'center', justifyContent: 'center' }}&gt;&#13;&#10;            &lt;Text style={{ fontFamily: 'STKaiti', fontSize: 13, color: '#F3EBDC', lineHeight: 1 }}&gt;浓&lt;/Text&gt;&#13;&#10;        &lt;/Box&gt;&lt;Box style={{ width: 40, height: 52, backgroundColor: '#4B4034', marginRight: 4, alignItems: 'center', justifyContent: 'center' }}&gt;&#13;&#10;            &lt;Text style={{ fontFamily: 'STKaiti', fontSize: 13, color: '#F3EBDC', lineHeight: 1 }}&gt;重&lt;/Text&gt;&#13;&#10;        &lt;/Box&gt;&lt;Box style={{ width: 40, height: 52, backgroundColor: '#8B8175', marginRight: 4, alignItems: 'center', justifyContent: 'center' }}&gt;&#13;&#10;            &lt;Text style={{ fontFamily: 'STKaiti', fontSize: 13, color: '#2A241C', lineHeight: 1 }}&gt;淡&lt;/Text&gt;&#13;&#10;        &lt;/Box&gt;&lt;Box style={{ width: 40, height: 52, backgroundColor: '#C4B9A7', marginRight: 4, alignItems: 'center', justifyContent: 'center' }}&gt;&#13;&#10;            &lt;Text style={{ fontFamily: 'STKaiti', fontSize: 13, color: '#2A241C', lineHeight: 1 }}&gt;清&lt;/Text&gt;&#13;&#10;        &lt;/Box&gt;&lt;/Box&gt;&#13;&#10;        &lt;Text style={{ fontFamily: 'STKaiti', fontSize: 21, fontWeight: 'bold', color: '#15120E', letterSpacing: 2, marginTop: 14 }}&gt;墨分五色&lt;/Text&gt;&#13;&#10;        &lt;Text style={{ fontFamily: 'LXGW WenKai', fontSize: 11.5, color: '#3B342B', lineHeight: 1.95, letterSpacing: 0.3, marginTop: 9 }}&gt;焦、浓、重、淡、清。全篇只用这五阶墨，加一点朱砂。朱砂只落在印章、血、与火。&lt;/Text&gt;&#13;&#10;    &lt;/Box&gt;&#13;&#10;    &lt;Box style={{ position: 'absolute', left: 460, top: 470, width: 356, flexDirection: 'column' }}&gt;&#13;&#10;        &lt;Box style={{ flexDirection: 'row' }}&gt;&lt;Box style={{ width: 40, height: 52, backgroundColor: '#0B0906', marginRight: 4, alignItems: 'center', justifyContent: 'center' }}&gt;&#13;&#10;            &lt;Text style={{ fontFamily: 'STKaiti', fontSize: 13, color: '#F3EBDC', lineHeight: 1 }}&gt;焦&lt;/Text&gt;&#13;&#10;        &lt;/Box&gt;&lt;Box style={{ width: 40, height: 52, backgroundColor: '#241E18', marginRight: 4, alignItems: 'center', justifyContent: 'center' }}&gt;&#13;&#10;            &lt;Text style={{ fontFamily: 'STKaiti', fontSize: 13, color: '#F3EBDC', lineHeight: 1 }}&gt;浓&lt;/Text&gt;&#13;&#10;        &lt;/Box&gt;&lt;Box style={{ width: 40, height: 52, backgroundColor: '#4B4034', marginRight: 4, alignItems: 'center', justifyContent: 'center' }}&gt;&#13;&#10;            &lt;Text style={{ fontFamily: 'STKaiti', fontSize: 13, color: '#F3EBDC', lineHeight: 1 }}&gt;重&lt;/Text&gt;&#13;&#10;        &lt;/Box&gt;&lt;Box style={{ width: 40, height: 52, backgroundColor: '#8B8175', marginRight: 4, alignItems: 'center', justifyContent: 'center' }}&gt;&#13;&#10;            &lt;Text style={{ fontFamily: 'STKaiti', fontSize: 13, color: '#2A241C', lineHeight: 1 }}&gt;淡&lt;/Text&gt;&#13;&#10;        &lt;/Box&gt;&lt;Box style={{ width: 40, height: 52, backgroundColor: '#C4B9A7', marginRight: 4, alignItems: 'center', justifyContent: 'center' }}&gt;&#13;&#10;            &lt;Text style={{ fontFamily: 'STKaiti', fontSize: 13, color: '#2A241C', lineHeight: 1 }}&gt;清&lt;/Text&gt;&#13;&#10;        &lt;/Box&gt;&lt;/Box&gt;&#13;&#10;        &lt;Text style={{ fontFamily: 'STKaiti', fontSize: 21, fontWeight: 'bold', color: '#15120E', letterSpacing: 2, marginTop: 14 }}&gt;皴法即镜头&lt;/Text&gt;&#13;&#10;        &lt;Text style={{ fontFamily: 'LXGW WenKai', fontSize: 11.5, color: '#3B342B', lineHeight: 1.95, letterSpacing: 0.3, marginTop: 9 }}&gt;北方的山用斧劈皴，南方的山用披麻皴。画法就是地貌的方言——看山形，就能读出它的性格与危险。&lt;/Text&gt;&#13;&#10;    &lt;/Box&gt;&#13;&#10;    &lt;Box style={{ position: 'absolute', left: 848, top: 470, width: 356, flexDirection: 'column' }}&gt;&#13;&#10;        &lt;Box style={{ flexDirection: 'row' }}&gt;&lt;Box style={{ width: 40, height: 52, backgroundColor: '#0B0906', marginRight: 4, alignItems: 'center', justifyContent: 'center' }}&gt;&#13;&#10;            &lt;Text style={{ fontFamily: 'STKaiti', fontSize: 13, color: '#F3EBDC', lineHeight: 1 }}&gt;焦&lt;/Text&gt;&#13;&#10;        &lt;/Box&gt;&lt;Box style={{ width: 40, height: 52, backgroundColor: '#241E18', marginRight: 4, alignItems: 'center', justifyContent: 'center' }}&gt;&#13;&#10;            &lt;Text style={{ fontFamily: 'STKaiti', fontSize: 13, color: '#F3EBDC', lineHeight: 1 }}&gt;浓&lt;/Text&gt;&#13;&#10;        &lt;/Box&gt;&lt;Box style={{ width: 40, height: 52, backgroundColor: '#4B4034', marginRight: 4, alignItems: 'center', justifyContent: 'center' }}&gt;&#13;&#10;            &lt;Text style={{ fontFamily: 'STKaiti', fontSize: 13, color: '#F3EBDC', lineHeight: 1 }}&gt;重&lt;/Text&gt;&#13;&#10;        &lt;/Box&gt;&lt;Box style={{ width: 40, height: 52, backgroundColor: '#8B8175', marginRight: 4, alignItems: 'center', justifyContent: 'center' }}&gt;&#13;&#10;            &lt;Text style={{ fontFamily: 'STKaiti', fontSize: 13, color: '#2A241C', lineHeight: 1 }}&gt;淡&lt;/Text&gt;&#13;&#10;        &lt;/Box&gt;&lt;Box style={{ width: 40, height: 52, backgroundColor: '#C4B9A7', marginRight: 4, alignItems: 'center', justifyContent: 'center' }}&gt;&#13;&#10;            &lt;Text style={{ fontFamily: 'STKaiti', fontSize: 13, color: '#2A241C', lineHeight: 1 }}&gt;清&lt;/Text&gt;&#13;&#10;        &lt;/Box&gt;&lt;/Box&gt;&#13;&#10;        &lt;Text style={{ fontFamily: 'STKaiti', fontSize: 21, fontWeight: 'bold', color: '#15120E', letterSpacing: 2, marginTop: 14 }}&gt;留白即呼吸&lt;/Text&gt;&#13;&#10;        &lt;Text style={{ fontFamily: 'LXGW WenKai', fontSize: 11.5, color: '#3B342B', lineHeight: 1.95, letterSpacing: 0.3, marginTop: 9 }}&gt;留白不是没画完，是给风、给雾、给玩家自己留的位置。一场战斗结束，镜头会自己退开。&lt;/Text&gt;&#13;&#10;    &lt;/Box&gt;&#13;&#10;    &lt;Text style={{fontFamily: 'LXGW WenKai', fontSize: 10.5, color: '#8B8175', letterSpacing: 3, position: 'absolute', right: 72, top: 677}}&gt;09 / 12&lt;/Text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3EBDC"/>
          </a:solidFill>
          <a:ln/>
        </p:spPr>
        <p:txBody>
          <a:bodyPr/>
          <a:p/>
        </p:txBody>
      </p:sp>
      <p:pic>
        <p:nvPicPr>
          <p:cNvPr id="441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42" name=""/>
          <p:cNvSpPr/>
          <p:nvPr/>
        </p:nvSpPr>
        <p:spPr>
          <a:xfrm rot="0" flipH="0" flipV="0">
            <a:off x="685800" y="485775"/>
            <a:ext cx="47625" cy="4762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28675" y="438150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陆</a:t>
            </a:r>
            <a:r>
              <a:rPr lang="en-US" sz="863" spc="450">
                <a:solidFill>
                  <a:srgbClr val="8B817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画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85800" y="609600"/>
            <a:ext cx="3514725" cy="5238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850" b="1" spc="225">
                <a:solidFill>
                  <a:srgbClr val="15120E"/>
                </a:solidFill>
                <a:latin typeface="STKaiti"/>
                <a:ea typeface="STKaiti"/>
              </a:rPr>
              <a:t>一笔一皴，皆是山河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934450" y="857250"/>
            <a:ext cx="2571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63">
                <a:solidFill>
                  <a:srgbClr val="A79B8A"/>
                </a:solidFill>
                <a:latin typeface="LXGW WenKai"/>
                <a:ea typeface="LXGW WenKai"/>
              </a:rPr>
              <a:t>FIVE INK TONES</a:t>
            </a:r>
            <a:r>
              <a:rPr lang="zh-CN" sz="788" spc="263">
                <a:solidFill>
                  <a:srgbClr val="A79B8A"/>
                </a:solidFill>
                <a:latin typeface="LXGW WenKai"/>
                <a:ea typeface="LXGW WenKai"/>
              </a:rPr>
              <a:t>　·　</a:t>
            </a:r>
            <a:r>
              <a:rPr lang="en-US" sz="788" spc="263">
                <a:solidFill>
                  <a:srgbClr val="A79B8A"/>
                </a:solidFill>
                <a:latin typeface="LXGW WenKai"/>
                <a:ea typeface="LXGW WenKai"/>
              </a:rPr>
              <a:t>ONE ACCENT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685800" y="1276350"/>
            <a:ext cx="108204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685800" y="1276350"/>
            <a:ext cx="609600" cy="190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448" name=""/>
          <p:cNvSpPr/>
          <p:nvPr/>
        </p:nvSpPr>
        <p:spPr>
          <a:xfrm rot="0" flipH="0" flipV="0">
            <a:off x="685800" y="1466850"/>
            <a:ext cx="10820400" cy="2628900"/>
          </a:xfrm>
          <a:prstGeom prst="rect">
            <a:avLst/>
          </a:prstGeom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49" name=""/>
          <p:cNvPicPr>
            <a:picLocks noChangeAspect="1"/>
          </p:cNvPicPr>
          <p:nvPr/>
        </p:nvPicPr>
        <p:blipFill>
          <a:blip r:embed="rId2"/>
          <a:srcRect l="0" t="30710" r="0" b="30710"/>
          <a:stretch>
            <a:fillRect/>
          </a:stretch>
        </p:blipFill>
        <p:spPr>
          <a:xfrm rot="0" flipH="0" flipV="0">
            <a:off x="695325" y="1476375"/>
            <a:ext cx="10801350" cy="2609850"/>
          </a:xfrm>
          <a:prstGeom prst="rect">
            <a:avLst/>
          </a:prstGeom>
          <a:ln/>
        </p:spPr>
      </p:pic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85800" y="4162425"/>
            <a:ext cx="1457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113">
                <a:solidFill>
                  <a:srgbClr val="5C5245"/>
                </a:solidFill>
                <a:latin typeface="LXGW WenKai"/>
                <a:ea typeface="LXGW WenKai"/>
              </a:rPr>
              <a:t>苍岭</a:t>
            </a:r>
            <a:r>
              <a:rPr lang="en-US" sz="750" spc="113">
                <a:solidFill>
                  <a:srgbClr val="5C524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750" spc="113">
                <a:solidFill>
                  <a:srgbClr val="5C5245"/>
                </a:solidFill>
                <a:latin typeface="LXGW WenKai"/>
                <a:ea typeface="LXGW WenKai"/>
              </a:rPr>
              <a:t>断崖与瀑布，晨雾未散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420100" y="4152900"/>
            <a:ext cx="3086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150">
                <a:solidFill>
                  <a:srgbClr val="8B8175"/>
                </a:solidFill>
                <a:latin typeface="LXGW WenKai"/>
                <a:ea typeface="LXGW WenKai"/>
              </a:rPr>
              <a:t>开场动画</a:t>
            </a:r>
            <a:r>
              <a:rPr lang="en-US" sz="713" spc="150">
                <a:solidFill>
                  <a:srgbClr val="8B8175"/>
                </a:solidFill>
                <a:latin typeface="LXGW WenKai"/>
                <a:ea typeface="LXGW WenKai"/>
              </a:rPr>
              <a:t xml:space="preserve"> 4,200 </a:t>
            </a:r>
            <a:r>
              <a:rPr lang="zh-CN" sz="713" spc="150">
                <a:solidFill>
                  <a:srgbClr val="8B8175"/>
                </a:solidFill>
                <a:latin typeface="LXGW WenKai"/>
                <a:ea typeface="LXGW WenKai"/>
              </a:rPr>
              <a:t>帧全手绘　·　</a:t>
            </a:r>
            <a:r>
              <a:rPr lang="en-US" sz="713" spc="150">
                <a:solidFill>
                  <a:srgbClr val="8B8175"/>
                </a:solidFill>
                <a:latin typeface="LXGW WenKai"/>
                <a:ea typeface="LXGW WenKai"/>
              </a:rPr>
              <a:t xml:space="preserve">12 </a:t>
            </a:r>
            <a:r>
              <a:rPr lang="zh-CN" sz="713" spc="150">
                <a:solidFill>
                  <a:srgbClr val="8B8175"/>
                </a:solidFill>
                <a:latin typeface="LXGW WenKai"/>
                <a:ea typeface="LXGW WenKai"/>
              </a:rPr>
              <a:t>层墨叠加　·　无</a:t>
            </a:r>
            <a:r>
              <a:rPr lang="en-US" sz="713" spc="150">
                <a:solidFill>
                  <a:srgbClr val="8B8175"/>
                </a:solidFill>
                <a:latin typeface="LXGW WenKai"/>
                <a:ea typeface="LXGW WenKai"/>
              </a:rPr>
              <a:t xml:space="preserve"> 3D </a:t>
            </a:r>
            <a:r>
              <a:rPr lang="zh-CN" sz="713" spc="150">
                <a:solidFill>
                  <a:srgbClr val="8B8175"/>
                </a:solidFill>
                <a:latin typeface="LXGW WenKai"/>
                <a:ea typeface="LXGW WenKai"/>
              </a:rPr>
              <a:t>底模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685800" y="4476750"/>
            <a:ext cx="381000" cy="495300"/>
          </a:xfrm>
          <a:prstGeom prst="rect">
            <a:avLst/>
          </a:prstGeom>
          <a:solidFill>
            <a:srgbClr val="0B0906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191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3EBDC"/>
                </a:solidFill>
                <a:latin typeface="STKaiti"/>
                <a:ea typeface="STKaiti"/>
              </a:rPr>
              <a:t>焦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1104900" y="4476750"/>
            <a:ext cx="381000" cy="495300"/>
          </a:xfrm>
          <a:prstGeom prst="rect">
            <a:avLst/>
          </a:prstGeom>
          <a:solidFill>
            <a:srgbClr val="241E18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12382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3EBDC"/>
                </a:solidFill>
                <a:latin typeface="STKaiti"/>
                <a:ea typeface="STKaiti"/>
              </a:rPr>
              <a:t>浓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1524000" y="4476750"/>
            <a:ext cx="381000" cy="495300"/>
          </a:xfrm>
          <a:prstGeom prst="rect">
            <a:avLst/>
          </a:prstGeom>
          <a:solidFill>
            <a:srgbClr val="4B4034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16573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3EBDC"/>
                </a:solidFill>
                <a:latin typeface="STKaiti"/>
                <a:ea typeface="STKaiti"/>
              </a:rPr>
              <a:t>重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1943100" y="4476750"/>
            <a:ext cx="381000" cy="495300"/>
          </a:xfrm>
          <a:prstGeom prst="rect">
            <a:avLst/>
          </a:prstGeom>
          <a:solidFill>
            <a:srgbClr val="8B8175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20764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241C"/>
                </a:solidFill>
                <a:latin typeface="STKaiti"/>
                <a:ea typeface="STKaiti"/>
              </a:rPr>
              <a:t>淡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2362200" y="4476750"/>
            <a:ext cx="381000" cy="495300"/>
          </a:xfrm>
          <a:prstGeom prst="rect">
            <a:avLst/>
          </a:prstGeom>
          <a:solidFill>
            <a:srgbClr val="C4B9A7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24955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241C"/>
                </a:solidFill>
                <a:latin typeface="STKaiti"/>
                <a:ea typeface="STKaiti"/>
              </a:rPr>
              <a:t>清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85800" y="5105400"/>
            <a:ext cx="3390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50">
                <a:solidFill>
                  <a:srgbClr val="15120E"/>
                </a:solidFill>
                <a:latin typeface="STKaiti"/>
                <a:ea typeface="STKaiti"/>
              </a:rPr>
              <a:t>墨分五色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85800" y="5438775"/>
            <a:ext cx="3390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863" spc="22">
                <a:solidFill>
                  <a:srgbClr val="3B342B"/>
                </a:solidFill>
                <a:latin typeface="LXGW WenKai"/>
                <a:ea typeface="LXGW WenKai"/>
              </a:rPr>
              <a:t>焦、浓、重、淡、清。全篇只用这五阶墨，加一点朱砂。朱砂只落在印章、血、与火。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4381500" y="4476750"/>
            <a:ext cx="381000" cy="495300"/>
          </a:xfrm>
          <a:prstGeom prst="rect">
            <a:avLst/>
          </a:prstGeom>
          <a:solidFill>
            <a:srgbClr val="0B0906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45148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3EBDC"/>
                </a:solidFill>
                <a:latin typeface="STKaiti"/>
                <a:ea typeface="STKaiti"/>
              </a:rPr>
              <a:t>焦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4800600" y="4476750"/>
            <a:ext cx="381000" cy="495300"/>
          </a:xfrm>
          <a:prstGeom prst="rect">
            <a:avLst/>
          </a:prstGeom>
          <a:solidFill>
            <a:srgbClr val="241E18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49339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3EBDC"/>
                </a:solidFill>
                <a:latin typeface="STKaiti"/>
                <a:ea typeface="STKaiti"/>
              </a:rPr>
              <a:t>浓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5219700" y="4476750"/>
            <a:ext cx="381000" cy="495300"/>
          </a:xfrm>
          <a:prstGeom prst="rect">
            <a:avLst/>
          </a:prstGeom>
          <a:solidFill>
            <a:srgbClr val="4B4034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53530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3EBDC"/>
                </a:solidFill>
                <a:latin typeface="STKaiti"/>
                <a:ea typeface="STKaiti"/>
              </a:rPr>
              <a:t>重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5638800" y="4476750"/>
            <a:ext cx="381000" cy="495300"/>
          </a:xfrm>
          <a:prstGeom prst="rect">
            <a:avLst/>
          </a:prstGeom>
          <a:solidFill>
            <a:srgbClr val="8B8175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7721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241C"/>
                </a:solidFill>
                <a:latin typeface="STKaiti"/>
                <a:ea typeface="STKaiti"/>
              </a:rPr>
              <a:t>淡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6057900" y="4476750"/>
            <a:ext cx="381000" cy="495300"/>
          </a:xfrm>
          <a:prstGeom prst="rect">
            <a:avLst/>
          </a:prstGeom>
          <a:solidFill>
            <a:srgbClr val="C4B9A7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1912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241C"/>
                </a:solidFill>
                <a:latin typeface="STKaiti"/>
                <a:ea typeface="STKaiti"/>
              </a:rPr>
              <a:t>清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4381500" y="5105400"/>
            <a:ext cx="3390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50">
                <a:solidFill>
                  <a:srgbClr val="15120E"/>
                </a:solidFill>
                <a:latin typeface="STKaiti"/>
                <a:ea typeface="STKaiti"/>
              </a:rPr>
              <a:t>皴法即镜头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4381500" y="5438775"/>
            <a:ext cx="3390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863" spc="22">
                <a:solidFill>
                  <a:srgbClr val="3B342B"/>
                </a:solidFill>
                <a:latin typeface="LXGW WenKai"/>
                <a:ea typeface="LXGW WenKai"/>
              </a:rPr>
              <a:t>北方的山用斧劈皴，南方的山用披麻皴。画法就是地貌的方言——看山形，就能读出它的性格与危险。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8077200" y="4476750"/>
            <a:ext cx="381000" cy="495300"/>
          </a:xfrm>
          <a:prstGeom prst="rect">
            <a:avLst/>
          </a:prstGeom>
          <a:solidFill>
            <a:srgbClr val="0B0906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82105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3EBDC"/>
                </a:solidFill>
                <a:latin typeface="STKaiti"/>
                <a:ea typeface="STKaiti"/>
              </a:rPr>
              <a:t>焦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8496300" y="4476750"/>
            <a:ext cx="381000" cy="495300"/>
          </a:xfrm>
          <a:prstGeom prst="rect">
            <a:avLst/>
          </a:prstGeom>
          <a:solidFill>
            <a:srgbClr val="241E18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6296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3EBDC"/>
                </a:solidFill>
                <a:latin typeface="STKaiti"/>
                <a:ea typeface="STKaiti"/>
              </a:rPr>
              <a:t>浓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8915400" y="4476750"/>
            <a:ext cx="381000" cy="495300"/>
          </a:xfrm>
          <a:prstGeom prst="rect">
            <a:avLst/>
          </a:prstGeom>
          <a:solidFill>
            <a:srgbClr val="4B4034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90487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3EBDC"/>
                </a:solidFill>
                <a:latin typeface="STKaiti"/>
                <a:ea typeface="STKaiti"/>
              </a:rPr>
              <a:t>重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9334500" y="4476750"/>
            <a:ext cx="381000" cy="495300"/>
          </a:xfrm>
          <a:prstGeom prst="rect">
            <a:avLst/>
          </a:prstGeom>
          <a:solidFill>
            <a:srgbClr val="8B8175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94678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241C"/>
                </a:solidFill>
                <a:latin typeface="STKaiti"/>
                <a:ea typeface="STKaiti"/>
              </a:rPr>
              <a:t>淡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9753600" y="4476750"/>
            <a:ext cx="381000" cy="495300"/>
          </a:xfrm>
          <a:prstGeom prst="rect">
            <a:avLst/>
          </a:prstGeom>
          <a:solidFill>
            <a:srgbClr val="C4B9A7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9886950" y="46482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241C"/>
                </a:solidFill>
                <a:latin typeface="STKaiti"/>
                <a:ea typeface="STKaiti"/>
              </a:rPr>
              <a:t>清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077200" y="5105400"/>
            <a:ext cx="3390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50">
                <a:solidFill>
                  <a:srgbClr val="15120E"/>
                </a:solidFill>
                <a:latin typeface="STKaiti"/>
                <a:ea typeface="STKaiti"/>
              </a:rPr>
              <a:t>留白即呼吸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077200" y="5438775"/>
            <a:ext cx="3390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863" spc="22">
                <a:solidFill>
                  <a:srgbClr val="3B342B"/>
                </a:solidFill>
                <a:latin typeface="LXGW WenKai"/>
                <a:ea typeface="LXGW WenKai"/>
              </a:rPr>
              <a:t>留白不是没画完，是给风、给雾、给玩家自己留的位置。一场战斗结束，镜头会自己退开。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10953750" y="6448425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25">
                <a:solidFill>
                  <a:srgbClr val="8B8175"/>
                </a:solidFill>
                <a:latin typeface="LXGW WenKai"/>
                <a:ea typeface="LXGW WenKa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4" name="" descr="&lt;Slide style={{ width: 1280, height: 720, backgroundColor: '#0B0906', position: 'relative', padding: 0 }}&gt;&#13;&#10;    &lt;Image src=&quot;assets/ink_dark_1280.png&quot; style={{ position: 'absolute', left: 0, top: 0, width: 1280, height: 720 }} /&gt;&#13;&#10;    &lt;Image src=&quot;assets/au_river.jpg&quot; style={{ position: 'absolute', left: 0, top: 0, width: 1280, height: 720, objectFit: 'cover', opacity: 0.55 }} /&gt;&#13;&#10;    &lt;Box style={{ position: 'absolute', left: 0, top: 0, width: 1280, height: 720, background: 'linear-gradient(100deg, rgba(11,9,6,0.97) 0%, rgba(11,9,6,0.92) 34%, rgba(11,9,6,0.62) 58%, rgba(11,9,6,0.28) 80%, rgba(11,9,6,0.12) 100%)' }} /&gt;&#13;&#10;    &lt;Box style={{ position: 'absolute', left: 0, top: 0, width: 1280, height: 720, background: 'linear-gradient(180deg, rgba(11,9,6,0.55) 0%, rgba(11,9,6,0) 26%, rgba(11,9,6,0.15) 70%, rgba(11,9,6,0.72) 100%)' }} /&gt;&#13;&#10;&#13;&#10;    &#13;&#10;    &lt;Box style={{position: 'absolute', left: 72, top: 46, flexDirection: 'row', alignItems: 'center', gap: 10}}&gt;&#13;&#10;        &lt;Box style={{width: 5, height: 5, backgroundColor: '#C0503A'}} /&gt;&#13;&#10;        &lt;Text style={{fontFamily: 'LXGW WenKai', fontSize: 11.5, color: 'rgba(239,230,214,0.72)', letterSpacing: 6}}&gt;柒 · 声&lt;/Text&gt;&#13;&#10;    &lt;/Box&gt;&#13;&#10;    &lt;Text style={{fontFamily: 'STKaiti', fontSize: 38, fontWeight: 'bold', color: '#EFE6D6', letterSpacing: 3, lineHeight: 1.2, position: 'absolute', left: 72, top: 64}}&gt;先听见江湖，再看见江湖&lt;/Text&gt;&#13;&#10;    &lt;Text style={{fontFamily: 'LXGW WenKai', fontSize: 10.5, color: '#A2968A', letterSpacing: 3.5, position: 'absolute', right: 72, top: 90}}&gt;SCORE　·　SILENCE　·　THE SOUND OF A RIVER&lt;/Text&gt;&#13;&#10;    &lt;Box style={{position: 'absolute', left: 72, top: 134, width: 1136, height: 1, backgroundColor: 'rgba(239,230,214,0.20)'}} /&gt;&#13;&#10;    &lt;Box style={{position: 'absolute', left: 72, top: 134, width: 64, height: 2, backgroundColor: '#C0503A'}} /&gt;&#13;&#10;&#13;&#10;&#13;&#10;    &lt;Text style={{fontFamily: 'LXGW WenKai', fontSize: 13, color: 'rgba(239,230,214,0.80)', lineHeight: 1.95, letterSpacing: 0.6, position: 'absolute', left: 72, top: 176, width: 620}}&gt;配乐不是伴奏，是地形的一部分：你在山谷里听见回声，在雪线上只听见风。&lt;/Text&gt;&#13;&#10;&#13;&#10;    &lt;Text style={{fontFamily: 'LXGW WenKai', fontSize: 9.5, color: '#C0503A', letterSpacing: 3, position: 'absolute', left: 72, top: 286}}&gt;战斗前 · 八秒静默&lt;/Text&gt;&#13;&#10;    &lt;Box style={{ position: 'absolute', left: 72, top: 306, width: 148, height: 1, backgroundColor: 'rgba(192,80,58,0.7)' }} /&gt;&#13;&#10;    &lt;Box style={{ position: 'absolute', left: 72, top: 330 }}&gt;&lt;svg width='1136' height='100' viewBox='0 0 1136 100'&gt;&lt;rect x='0.0' y='48.0' width='5' height='3.9' fill='rgba(239,230,214,0.55)' /&gt;&lt;rect x='8.6' y='46.8' width='5' height='6.5' fill='rgba(239,230,214,0.55)' /&gt;&lt;rect x='17.2' y='46.9' width='5' height='6.2' fill='rgba(239,230,214,0.55)' /&gt;&lt;rect x='25.8' y='47.6' width='5' height='4.8' fill='rgba(239,230,214,0.55)' /&gt;&lt;rect x='34.4' y='47.8' width='5' height='4.4' fill='rgba(239,230,214,0.55)' /&gt;&lt;rect x='43.0' y='47.6' width='5' height='4.9' fill='rgba(239,230,214,0.55)' /&gt;&lt;rect x='51.6' y='47.5' width='5' height='4.9' fill='rgba(239,230,214,0.55)' /&gt;&lt;rect x='60.2' y='48.0' width='5' height='3.9' fill='rgba(239,230,214,0.55)' /&gt;&lt;rect x='68.8' y='47.4' width='5' height='5.3' fill='rgba(239,230,214,0.55)' /&gt;&lt;rect x='77.4' y='46.3' width='5' height='7.4' fill='rgba(239,230,214,0.55)' /&gt;&lt;rect x='86.0' y='46.6' width='5' height='6.8' fill='rgba(239,230,214,0.55)' /&gt;&lt;rect x='94.6' y='48.0' width='5' height='4.0' fill='rgba(239,230,214,0.55)' /&gt;&lt;rect x='103.2' y='47.4' width='5' height='5.1' fill='rgba(239,230,214,0.55)' /&gt;&lt;rect x='111.8' y='47.9' width='5' height='4.1' fill='rgba(239,230,214,0.55)' /&gt;&lt;rect x='120.4' y='47.7' width='5' height='4.6' fill='rgba(239,230,214,0.55)' /&gt;&lt;rect x='129.0' y='47.6' width='5' height='4.7' fill='rgba(239,230,214,0.55)' /&gt;&lt;rect x='137.6' y='47.3' width='5' height='5.4' fill='rgba(239,230,214,0.55)' /&gt;&lt;rect x='146.2' y='47.9' width='5' height='4.2' fill='rgba(239,230,214,0.55)' /&gt;&lt;rect x='154.8' y='41.9' width='5' height='16.3' fill='#A6361B' /&gt;&lt;rect x='163.4' y='38.8' width='5' height='22.3' fill='#A6361B' /&gt;&lt;rect x='172.0' y='38.3' width='5' height='23.5' fill='#A6361B' /&gt;&lt;rect x='180.6' y='33.9' width='5' height='32.2' fill='#A6361B' /&gt;&lt;rect x='189.2' y='42.8' width='5' height='14.4' fill='#A6361B' /&gt;&lt;rect x='197.8' y='40.7' width='5' height='18.7' fill='rgba(239,230,214,0.55)' /&gt;&lt;rect x='206.4' y='30.8' width='5' height='38.5' fill='rgba(239,230,214,0.55)' /&gt;&lt;rect x='215.0' y='38.6' width='5' height='22.7' fill='rgba(239,230,214,0.55)' /&gt;&lt;rect x='223.6' y='40.4' width='5' height='19.1' fill='rgba(239,230,214,0.55)' /&gt;&lt;rect x='232.2' y='33.7' width='5' height='32.5' fill='rgba(239,230,214,0.55)' /&gt;&lt;rect x='240.8' y='30.1' width='5' height='39.8' fill='rgba(239,230,214,0.55)' /&gt;&lt;rect x='249.4' y='39.8' width='5' height='20.4' fill='rgba(239,230,214,0.55)' /&gt;&lt;rect x='258.0' y='31.6' width='5' height='36.8' fill='rgba(239,230,214,0.55)' /&gt;&lt;rect x='266.6' y='35.1' width='5' height='29.9' fill='rgba(239,230,214,0.55)' /&gt;&lt;rect x='275.2' y='29.5' width='5' height='40.9' fill='rgba(239,230,214,0.55)' /&gt;&lt;rect x='283.8' y='30.7' width='5' height='38.5' fill='rgba(239,230,214,0.55)' /&gt;&lt;rect x='292.4' y='26.8' width='5' height='46.5' fill='rgba(239,230,214,0.55)' /&gt;&lt;rect x='301.0' y='28.7' width='5' height='42.6' fill='rgba(239,230,214,0.55)' /&gt;&lt;rect x='309.6' y='25.8' width='5' height='48.4' fill='rgba(239,230,214,0.55)' /&gt;&lt;rect x='318.2' y='21.2' width='5' height='57.7' fill='rgba(239,230,214,0.55)' /&gt;&lt;rect x='326.8' y='27.1' width='5' height='45.9' fill='rgba(239,230,214,0.55)' /&gt;&lt;rect x='335.4' y='22.1' width='5' height='55.7' fill='rgba(239,230,214,0.55)' /&gt;&lt;rect x='344.0' y='25.7' width='5' height='48.6' fill='rgba(239,230,214,0.55)' /&gt;&lt;rect x='352.6' y='26.7' width='5' height='46.5' fill='rgba(239,230,214,0.55)' /&gt;&lt;rect x='361.2' y='20.7' width='5' height='58.6' fill='rgba(239,230,214,0.55)' /&gt;&lt;rect x='369.8' y='19.9' width='5' height='60.1' fill='rgba(239,230,214,0.55)' /&gt;&lt;rect x='378.4' y='25.5' width='5' height='49.0' fill='rgba(239,230,214,0.55)' /&gt;&lt;rect x='387.0' y='25.1' width='5' height='49.9' fill='rgba(239,230,214,0.55)' /&gt;&lt;rect x='395.6' y='19.1' width='5' height='61.8' fill='rgba(239,230,214,0.55)' /&gt;&lt;rect x='404.2' y='32.4' width='5' height='35.3' fill='rgba(239,230,214,0.55)' /&gt;&lt;rect x='412.8' y='30.1' width='5' height='39.8' fill='rgba(239,230,214,0.55)' /&gt;&lt;rect x='421.4' y='29.2' width='5' height='41.6' fill='rgba(239,230,214,0.55)' /&gt;&lt;rect x='430.0' y='24.7' width='5' height='50.5' fill='rgba(239,230,214,0.55)' /&gt;&lt;rect x='438.6' y='29.3' width='5' height='41.3' fill='rgba(239,230,214,0.55)' /&gt;&lt;rect x='447.2' y='30.9' width='5' height='38.3' fill='rgba(239,230,214,0.55)' /&gt;&lt;rect x='455.8' y='32.4' width='5' height='35.3' fill='rgba(239,230,214,0.55)' /&gt;&lt;rect x='464.4' y='27.6' width='5' height='44.9' fill='rgba(239,230,214,0.55)' /&gt;&lt;rect x='473.0' y='23.9' width='5' height='52.3' fill='rgba(239,230,214,0.55)' /&gt;&lt;rect x='481.6' y='28.3' width='5' height='43.4' fill='rgba(239,230,214,0.55)' /&gt;&lt;rect x='490.2' y='27.0' width='5' height='45.9' fill='rgba(239,230,214,0.55)' /&gt;&lt;rect x='498.8' y='16.6' width='5' height='66.9' fill='rgba(239,230,214,0.55)' /&gt;&lt;rect x='507.4' y='25.8' width='5' height='48.5' fill='rgba(239,230,214,0.55)' /&gt;&lt;rect x='516.0' y='24.7' width='5' height='50.6' fill='rgba(239,230,214,0.55)' /&gt;&lt;rect x='524.6' y='18.7' width='5' height='62.5' fill='rgba(239,230,214,0.55)' /&gt;&lt;rect x='533.2' y='19.5' width='5' height='61.0' fill='rgba(239,230,214,0.55)' /&gt;&lt;rect x='541.8' y='21.0' width='5' height='58.1' fill='rgba(239,230,214,0.55)' /&gt;&lt;rect x='550.4' y='16.8' width='5' height='66.4' fill='rgba(239,230,214,0.55)' /&gt;&lt;rect x='559.0' y='11.2' width='5' height='77.6' fill='rgba(239,230,214,0.55)' /&gt;&lt;rect x='567.6' y='12.0' width='5' height='75.9' fill='rgba(239,230,214,0.55)' /&gt;&lt;rect x='576.2' y='14.8' width='5' height='70.4' fill='rgba(239,230,214,0.55)' /&gt;&lt;rect x='584.8' y='11.1' width='5' height='77.9' fill='rgba(239,230,214,0.55)' /&gt;&lt;rect x='593.4' y='10.4' width='5' height='79.3' fill='rgba(239,230,214,0.55)' /&gt;&lt;rect x='602.0' y='5.9' width='5' height='88.3' fill='rgba(239,230,214,0.55)' /&gt;&lt;rect x='610.6' y='9.7' width='5' height='80.7' fill='rgba(239,230,214,0.55)' /&gt;&lt;rect x='619.2' y='13.3' width='5' height='73.4' fill='rgba(239,230,214,0.55)' /&gt;&lt;rect x='627.8' y='10.4' width='5' height='79.2' fill='rgba(239,230,214,0.55)' /&gt;&lt;rect x='636.4' y='6.4' width='5' height='87.2' fill='rgba(239,230,214,0.55)' /&gt;&lt;rect x='645.0' y='3.9' width='5' height='92.2' fill='rgba(239,230,214,0.55)' /&gt;&lt;rect x='653.6' y='5.9' width='5' height='88.2' fill='rgba(239,230,214,0.55)' /&gt;&lt;rect x='662.2' y='12.2' width='5' height='75.5' fill='rgba(239,230,214,0.55)' /&gt;&lt;rect x='670.8' y='16.4' width='5' height='67.1' fill='rgba(239,230,214,0.55)' /&gt;&lt;rect x='679.4' y='20.2' width='5' height='59.6' fill='rgba(239,230,214,0.55)' /&gt;&lt;rect x='688.0' y='14.0' width='5' height='72.1' fill='rgba(239,230,214,0.55)' /&gt;&lt;rect x='696.6' y='12.6' width='5' height='74.7' fill='rgba(239,230,214,0.55)' /&gt;&lt;rect x='705.2' y='13.0' width='5' height='74.1' fill='rgba(239,230,214,0.55)' /&gt;&lt;rect x='713.8' y='18.4' width='5' height='63.2' fill='rgba(239,230,214,0.55)' /&gt;&lt;rect x='722.4' y='12.6' width='5' height='74.7' fill='rgba(239,230,214,0.55)' /&gt;&lt;rect x='731.0' y='9.9' width='5' height='80.1' fill='rgba(239,230,214,0.55)' /&gt;&lt;rect x='739.6' y='19.2' width='5' height='61.6' fill='rgba(239,230,214,0.55)' /&gt;&lt;rect x='748.2' y='10.6' width='5' height='78.8' fill='rgba(239,230,214,0.55)' /&gt;&lt;rect x='756.8' y='17.6' width='5' height='64.7' fill='rgba(239,230,214,0.55)' /&gt;&lt;rect x='765.4' y='6.6' width='5' height='86.8' fill='rgba(239,230,214,0.55)' /&gt;&lt;rect x='774.0' y='3.9' width='5' height='92.2' fill='rgba(239,230,214,0.55)' /&gt;&lt;rect x='782.6' y='3.9' width='5' height='92.2' fill='rgba(239,230,214,0.55)' /&gt;&lt;rect x='791.2' y='9.5' width='5' height='81.0' fill='rgba(239,230,214,0.55)' /&gt;&lt;rect x='799.8' y='7.1' width='5' height='85.9' fill='rgba(239,230,214,0.55)' /&gt;&lt;rect x='808.4' y='3.9' width='5' height='92.2' fill='rgba(239,230,214,0.55)' /&gt;&lt;rect x='817.0' y='6.8' width='5' height='86.5' fill='rgba(239,230,214,0.55)' /&gt;&lt;rect x='825.6' y='3.9' width='5' height='92.2' fill='rgba(239,230,214,0.55)' /&gt;&lt;rect x='834.2' y='6.1' width='5' height='87.8' fill='rgba(239,230,214,0.55)' /&gt;&lt;rect x='842.8' y='7.8' width='5' height='84.3' fill='rgba(239,230,214,0.55)' /&gt;&lt;rect x='851.4' y='6.3' width='5' height='87.5' fill='rgba(239,230,214,0.55)' /&gt;&lt;rect x='860.0' y='3.9' width='5' height='92.2' fill='rgba(239,230,214,0.55)' /&gt;&lt;rect x='868.6' y='5.5' width='5' height='88.9' fill='rgba(239,230,214,0.55)' /&gt;&lt;rect x='877.2' y='6.9' width='5' height='86.2' fill='rgba(239,230,214,0.55)' /&gt;&lt;rect x='885.8' y='9.6' width='5' height='80.8' fill='rgba(239,230,214,0.55)' /&gt;&lt;rect x='894.4' y='9.8' width='5' height='80.3' fill='rgba(239,230,214,0.55)' /&gt;&lt;rect x='903.0' y='3.9' width='5' height='92.2' fill='rgba(239,230,214,0.55)' /&gt;&lt;rect x='911.6' y='10.7' width='5' height='78.6' fill='rgba(239,230,214,0.55)' /&gt;&lt;rect x='920.2' y='6.8' width='5' height='86.5' fill='rgba(239,230,214,0.55)' /&gt;&lt;rect x='928.8' y='16.1' width='5' height='67.7' fill='rgba(239,230,214,0.55)' /&gt;&lt;rect x='937.4' y='8.1' width='5' height='83.8' fill='rgba(239,230,214,0.55)' /&gt;&lt;rect x='946.0' y='10.3' width='5' height='79.4' fill='rgba(239,230,214,0.55)' /&gt;&lt;rect x='954.6' y='17.7' width='5' height='64.6' fill='rgba(239,230,214,0.55)' /&gt;&lt;rect x='963.2' y='6.6' width='5' height='86.7' fill='rgba(239,230,214,0.55)' /&gt;&lt;rect x='971.8' y='23.2' width='5' height='53.7' fill='rgba(239,230,214,0.55)' /&gt;&lt;rect x='980.4' y='20.6' width='5' height='58.7' fill='rgba(239,230,214,0.55)' /&gt;&lt;rect x='989.0' y='13.3' width='5' height='73.3' fill='rgba(239,230,214,0.55)' /&gt;&lt;rect x='997.6' y='14.3' width='5' height='71.4' fill='rgba(239,230,214,0.55)' /&gt;&lt;rect x='1006.2' y='4.5' width='5' height='91.0' fill='rgba(239,230,214,0.55)' /&gt;&lt;rect x='1014.8' y='17.5' width='5' height='65.1' fill='rgba(239,230,214,0.55)' /&gt;&lt;rect x='1023.4' y='18.1' width='5' height='63.8' fill='rgba(239,230,214,0.55)' /&gt;&lt;rect x='1032.0' y='17.7' width='5' height='64.6' fill='rgba(239,230,214,0.55)' /&gt;&lt;rect x='1040.6' y='15.0' width='5' height='70.0' fill='rgba(239,230,214,0.55)' /&gt;&lt;rect x='1049.2' y='18.3' width='5' height='63.4' fill='rgba(239,230,214,0.55)' /&gt;&lt;rect x='1057.8' y='16.8' width='5' height='66.5' fill='rgba(239,230,214,0.55)' /&gt;&lt;rect x='1066.4' y='17.1' width='5' height='65.8' fill='rgba(239,230,214,0.55)' /&gt;&lt;rect x='1075.0' y='9.4' width='5' height='81.1' fill='rgba(239,230,214,0.55)' /&gt;&lt;rect x='1083.6' y='17.1' width='5' height='65.8' fill='rgba(239,230,214,0.55)' /&gt;&lt;rect x='1092.2' y='9.9' width='5' height='80.3' fill='rgba(239,230,214,0.55)' /&gt;&lt;rect x='1100.8' y='13.6' width='5' height='72.8' fill='rgba(239,230,214,0.55)' /&gt;&lt;rect x='1109.4' y='14.5' width='5' height='71.1' fill='rgba(239,230,214,0.55)' /&gt;&lt;rect x='1118.0' y='3.9' width='5' height='92.2' fill='rgba(239,230,214,0.55)' /&gt;&lt;rect x='1126.6' y='7.1' width='5' height='85.9' fill='rgba(239,230,214,0.55)' /&gt;&lt;/svg&gt;&lt;/Box&gt;&#13;&#10;    &lt;Text style={{fontFamily: 'LXGW WenKai', fontSize: 9, color: 'rgba(239,230,214,0.60)', letterSpacing: 2, position: 'absolute', left: 196, top: 436}}&gt;↑ 音乐进入&lt;/Text&gt;&#13;&#10;&#13;&#10;    &lt;Box style={{ position: 'absolute', left: 72, top: 452, width: 320, flexDirection: 'column' }}&gt;&#13;&#10;        &lt;Box style={{ width: 320, height: 1, backgroundColor: 'rgba(239,230,214,0.28)' }} /&gt;&#13;&#10;        &lt;Box style={{ flexDirection: 'row', alignItems: 'baseline', gap: 12, marginTop: 16 }}&gt;&#13;&#10;            &lt;Text style={{ fontFamily: 'STKaiti', fontSize: 30, fontWeight: 'bold', color: '#EFE6D6', letterSpacing: 2 }}&gt;器&lt;/Text&gt;&#13;&#10;            &lt;Text style={{ fontFamily: 'LXGW WenKai', fontSize: 8.5, color: '#A2968A', letterSpacing: 2.5 }}&gt;INSTRUMENT&lt;/Text&gt;&#13;&#10;        &lt;/Box&gt;&#13;&#10;        &lt;Text style={{ fontFamily: 'LXGW WenKai', fontSize: 11.5, color: 'rgba(239,230,214,0.82)', lineHeight: 2.0, letterSpacing: 0.3, marginTop: 10 }}&gt;古琴、箫、筚篥、鼓。所有音色录自真实乐器，不加电子合成。&lt;/Text&gt;&#13;&#10;    &lt;/Box&gt;&#13;&#10;    &lt;Box style={{ position: 'absolute', left: 444, top: 452, width: 320, flexDirection: 'column' }}&gt;&#13;&#10;        &lt;Box style={{ width: 320, height: 1, backgroundColor: 'rgba(239,230,214,0.28)' }} /&gt;&#13;&#10;        &lt;Box style={{ flexDirection: 'row', alignItems: 'baseline', gap: 12, marginTop: 16 }}&gt;&#13;&#10;            &lt;Text style={{ fontFamily: 'STKaiti', fontSize: 30, fontWeight: 'bold', color: '#EFE6D6', letterSpacing: 2 }}&gt;律&lt;/Text&gt;&#13;&#10;            &lt;Text style={{ fontFamily: 'LXGW WenKai', fontSize: 8.5, color: '#A2968A', letterSpacing: 2.5 }}&gt;SCALE&lt;/Text&gt;&#13;&#10;        &lt;/Box&gt;&#13;&#10;        &lt;Text style={{ fontFamily: 'LXGW WenKai', fontSize: 11.5, color: 'rgba(239,230,214,0.82)', lineHeight: 2.0, letterSpacing: 0.3, marginTop: 10 }}&gt;只用五声音阶。半音留给「不对劲」的时刻——听见半音，说明附近有人。&lt;/Text&gt;&#13;&#10;    &lt;/Box&gt;&#13;&#10;    &lt;Box style={{ position: 'absolute', left: 816, top: 452, width: 320, flexDirection: 'column' }}&gt;&#13;&#10;        &lt;Box style={{ width: 320, height: 1, backgroundColor: 'rgba(239,230,214,0.28)' }} /&gt;&#13;&#10;        &lt;Box style={{ flexDirection: 'row', alignItems: 'baseline', gap: 12, marginTop: 16 }}&gt;&#13;&#10;            &lt;Text style={{ fontFamily: 'STKaiti', fontSize: 30, fontWeight: 'bold', color: '#EFE6D6', letterSpacing: 2 }}&gt;静&lt;/Text&gt;&#13;&#10;            &lt;Text style={{ fontFamily: 'LXGW WenKai', fontSize: 8.5, color: '#A2968A', letterSpacing: 2.5 }}&gt;SILENCE&lt;/Text&gt;&#13;&#10;        &lt;/Box&gt;&#13;&#10;        &lt;Text style={{ fontFamily: 'LXGW WenKai', fontSize: 11.5, color: 'rgba(239,230,214,0.82)', lineHeight: 2.0, letterSpacing: 0.3, marginTop: 10 }}&gt;战斗前八秒没有音乐。风、水、脚步，是这段时间里唯一的配乐。&lt;/Text&gt;&#13;&#10;    &lt;/Box&gt;&#13;&#10;    &lt;Box style={{ position: 'absolute', left: 72, top: 618, width: 1136, height: 1, backgroundColor: 'rgba(239,230,214,0.18)' }} /&gt;&#13;&#10;    &lt;Text style={{fontFamily: 'LXGW WenKai', fontSize: 10, color: 'rgba(239,230,214,0.62)', letterSpacing: 1.5, position: 'absolute', left: 72, top: 630}}&gt;原声带 42 首　·　「入夜」3:12　·　「沉沙」5:40　·　「提剑」2:28&lt;/Text&gt;&#13;&#10;    &lt;Text style={{fontFamily: 'LXGW WenKai', fontSize: 10.5, color: 'rgba(239,230,214,0.6)', letterSpacing: 3, position: 'absolute', right: 72, top: 677}}&gt;10 / 12&lt;/Text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906"/>
          </a:solidFill>
          <a:ln/>
        </p:spPr>
        <p:txBody>
          <a:bodyPr/>
          <a:p/>
        </p:txBody>
      </p:sp>
      <p:pic>
        <p:nvPicPr>
          <p:cNvPr id="26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27" name=""/>
          <p:cNvPicPr>
            <a:picLocks noChangeAspect="1"/>
          </p:cNvPicPr>
          <p:nvPr/>
        </p:nvPicPr>
        <p:blipFill>
          <a:blip r:embed="rId2">
            <a:alphaModFix amt="55000"/>
          </a:blip>
          <a:srcRect l="0" t="4621" r="0" b="462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0906">
                  <a:alpha val="97000"/>
                </a:srgbClr>
              </a:gs>
              <a:gs pos="34000">
                <a:srgbClr val="0B0906">
                  <a:alpha val="92000"/>
                </a:srgbClr>
              </a:gs>
              <a:gs pos="58000">
                <a:srgbClr val="0B0906">
                  <a:alpha val="62000"/>
                </a:srgbClr>
              </a:gs>
              <a:gs pos="80000">
                <a:srgbClr val="0B0906">
                  <a:alpha val="28000"/>
                </a:srgbClr>
              </a:gs>
              <a:gs pos="100000">
                <a:srgbClr val="0B0906">
                  <a:alpha val="12000"/>
                </a:srgbClr>
              </a:gs>
            </a:gsLst>
            <a:lin ang="600000" scaled="1"/>
          </a:gra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0906">
                  <a:alpha val="55000"/>
                </a:srgbClr>
              </a:gs>
              <a:gs pos="26000">
                <a:srgbClr val="0B0906">
                  <a:alpha val="0"/>
                </a:srgbClr>
              </a:gs>
              <a:gs pos="70000">
                <a:srgbClr val="0B0906">
                  <a:alpha val="15000"/>
                </a:srgbClr>
              </a:gs>
              <a:gs pos="100000">
                <a:srgbClr val="0B0906">
                  <a:alpha val="7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685800" y="485775"/>
            <a:ext cx="47625" cy="47625"/>
          </a:xfrm>
          <a:prstGeom prst="rect">
            <a:avLst/>
          </a:prstGeom>
          <a:solidFill>
            <a:srgbClr val="C0503A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28675" y="438150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450">
                <a:solidFill>
                  <a:srgbClr val="EFE6D6">
                    <a:alpha val="72000"/>
                  </a:srgbClr>
                </a:solidFill>
                <a:latin typeface="LXGW WenKai"/>
                <a:ea typeface="LXGW WenKai"/>
              </a:rPr>
              <a:t>柒</a:t>
            </a:r>
            <a:r>
              <a:rPr lang="en-US" sz="863" spc="450">
                <a:solidFill>
                  <a:srgbClr val="EFE6D6">
                    <a:alpha val="72000"/>
                  </a:srgbClr>
                </a:solidFill>
                <a:latin typeface="LXGW WenKai"/>
                <a:ea typeface="LXGW WenKai"/>
              </a:rPr>
              <a:t xml:space="preserve"> · </a:t>
            </a:r>
            <a:r>
              <a:rPr lang="zh-CN" sz="863" spc="450">
                <a:solidFill>
                  <a:srgbClr val="EFE6D6">
                    <a:alpha val="72000"/>
                  </a:srgbClr>
                </a:solidFill>
                <a:latin typeface="LXGW WenKai"/>
                <a:ea typeface="LXGW WenKai"/>
              </a:rPr>
              <a:t>声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85800" y="609600"/>
            <a:ext cx="4295775" cy="5238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850" b="1" spc="225">
                <a:solidFill>
                  <a:srgbClr val="EFE6D6"/>
                </a:solidFill>
                <a:latin typeface="STKaiti"/>
                <a:ea typeface="STKaiti"/>
              </a:rPr>
              <a:t>先听见江湖，再看见江湖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839075" y="857250"/>
            <a:ext cx="3667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63">
                <a:solidFill>
                  <a:srgbClr val="A2968A"/>
                </a:solidFill>
                <a:latin typeface="LXGW WenKai"/>
                <a:ea typeface="LXGW WenKai"/>
              </a:rPr>
              <a:t>SCORE</a:t>
            </a:r>
            <a:r>
              <a:rPr lang="zh-CN" sz="788" spc="263">
                <a:solidFill>
                  <a:srgbClr val="A2968A"/>
                </a:solidFill>
                <a:latin typeface="LXGW WenKai"/>
                <a:ea typeface="LXGW WenKai"/>
              </a:rPr>
              <a:t>　·　</a:t>
            </a:r>
            <a:r>
              <a:rPr lang="en-US" sz="788" spc="263">
                <a:solidFill>
                  <a:srgbClr val="A2968A"/>
                </a:solidFill>
                <a:latin typeface="LXGW WenKai"/>
                <a:ea typeface="LXGW WenKai"/>
              </a:rPr>
              <a:t>SILENCE</a:t>
            </a:r>
            <a:r>
              <a:rPr lang="zh-CN" sz="788" spc="263">
                <a:solidFill>
                  <a:srgbClr val="A2968A"/>
                </a:solidFill>
                <a:latin typeface="LXGW WenKai"/>
                <a:ea typeface="LXGW WenKai"/>
              </a:rPr>
              <a:t>　·　</a:t>
            </a:r>
            <a:r>
              <a:rPr lang="en-US" sz="788" spc="263">
                <a:solidFill>
                  <a:srgbClr val="A2968A"/>
                </a:solidFill>
                <a:latin typeface="LXGW WenKai"/>
                <a:ea typeface="LXGW WenKai"/>
              </a:rPr>
              <a:t>THE SOUND OF A RIVER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85800" y="1276350"/>
            <a:ext cx="10820400" cy="9525"/>
          </a:xfrm>
          <a:prstGeom prst="rect">
            <a:avLst/>
          </a:prstGeom>
          <a:solidFill>
            <a:srgbClr val="EFE6D6">
              <a:alpha val="20000"/>
            </a:srgbClr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685800" y="1276350"/>
            <a:ext cx="609600" cy="19050"/>
          </a:xfrm>
          <a:prstGeom prst="rect">
            <a:avLst/>
          </a:prstGeom>
          <a:solidFill>
            <a:srgbClr val="C0503A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2952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975" spc="45">
                <a:solidFill>
                  <a:srgbClr val="EFE6D6">
                    <a:alpha val="80000"/>
                  </a:srgbClr>
                </a:solidFill>
                <a:latin typeface="LXGW WenKai"/>
                <a:ea typeface="LXGW WenKai"/>
              </a:rPr>
              <a:t>配乐不是伴奏，是地形的一部分：你在山谷里听见回声，在雪线上只听见风。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85800" y="2724150"/>
            <a:ext cx="10191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225">
                <a:solidFill>
                  <a:srgbClr val="C0503A"/>
                </a:solidFill>
                <a:latin typeface="LXGW WenKai"/>
                <a:ea typeface="LXGW WenKai"/>
              </a:rPr>
              <a:t>战斗前</a:t>
            </a:r>
            <a:r>
              <a:rPr lang="en-US" sz="713" spc="225">
                <a:solidFill>
                  <a:srgbClr val="C0503A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713" spc="225">
                <a:solidFill>
                  <a:srgbClr val="C0503A"/>
                </a:solidFill>
                <a:latin typeface="LXGW WenKai"/>
                <a:ea typeface="LXGW WenKai"/>
              </a:rPr>
              <a:t>八秒静默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85800" y="2914650"/>
            <a:ext cx="1409700" cy="9525"/>
          </a:xfrm>
          <a:prstGeom prst="rect">
            <a:avLst/>
          </a:prstGeom>
          <a:solidFill>
            <a:srgbClr val="C0503A">
              <a:alpha val="70000"/>
            </a:srgbClr>
          </a:solidFill>
          <a:ln/>
        </p:spPr>
        <p:txBody>
          <a:bodyPr/>
          <a:p/>
        </p:txBody>
      </p:sp>
      <p:pic>
        <p:nvPicPr>
          <p:cNvPr id="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3143250"/>
            <a:ext cx="10820400" cy="952500"/>
          </a:xfrm>
          <a:prstGeom prst="rect">
            <a:avLst/>
          </a:prstGeom>
          <a:ln/>
        </p:spPr>
      </p:pic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66900" y="4152900"/>
            <a:ext cx="5810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150">
                <a:solidFill>
                  <a:srgbClr val="EFE6D6">
                    <a:alpha val="60000"/>
                  </a:srgbClr>
                </a:solidFill>
                <a:latin typeface="LXGW WenKai"/>
                <a:ea typeface="LXGW WenKai"/>
              </a:rPr>
              <a:t xml:space="preserve">↑ </a:t>
            </a:r>
            <a:r>
              <a:rPr lang="zh-CN" sz="675" spc="150">
                <a:solidFill>
                  <a:srgbClr val="EFE6D6">
                    <a:alpha val="60000"/>
                  </a:srgbClr>
                </a:solidFill>
                <a:latin typeface="LXGW WenKai"/>
                <a:ea typeface="LXGW WenKai"/>
              </a:rPr>
              <a:t>音乐进入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85800" y="4305300"/>
            <a:ext cx="3048000" cy="9525"/>
          </a:xfrm>
          <a:prstGeom prst="rect">
            <a:avLst/>
          </a:prstGeom>
          <a:solidFill>
            <a:srgbClr val="EFE6D6">
              <a:alpha val="28000"/>
            </a:srgbClr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85800" y="4467225"/>
            <a:ext cx="304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 spc="150">
                <a:solidFill>
                  <a:srgbClr val="EFE6D6"/>
                </a:solidFill>
                <a:latin typeface="STKaiti"/>
                <a:ea typeface="STKaiti"/>
              </a:rPr>
              <a:t>器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04900" y="4467225"/>
            <a:ext cx="762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88">
                <a:solidFill>
                  <a:srgbClr val="A2968A"/>
                </a:solidFill>
                <a:latin typeface="LXGW WenKai"/>
                <a:ea typeface="LXGW WenKai"/>
              </a:rPr>
              <a:t>INSTRUMENT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85800" y="4905375"/>
            <a:ext cx="3048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863" spc="22">
                <a:solidFill>
                  <a:srgbClr val="EFE6D6">
                    <a:alpha val="82000"/>
                  </a:srgbClr>
                </a:solidFill>
                <a:latin typeface="LXGW WenKai"/>
                <a:ea typeface="LXGW WenKai"/>
              </a:rPr>
              <a:t>古琴、箫、筚篥、鼓。所有音色录自真实乐器，不加电子合成。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4229100" y="4305300"/>
            <a:ext cx="3048000" cy="9525"/>
          </a:xfrm>
          <a:prstGeom prst="rect">
            <a:avLst/>
          </a:prstGeom>
          <a:solidFill>
            <a:srgbClr val="EFE6D6">
              <a:alpha val="28000"/>
            </a:srgbClr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229100" y="4467225"/>
            <a:ext cx="304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 spc="150">
                <a:solidFill>
                  <a:srgbClr val="EFE6D6"/>
                </a:solidFill>
                <a:latin typeface="STKaiti"/>
                <a:ea typeface="STKaiti"/>
              </a:rPr>
              <a:t>律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648200" y="446722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88">
                <a:solidFill>
                  <a:srgbClr val="A2968A"/>
                </a:solidFill>
                <a:latin typeface="LXGW WenKai"/>
                <a:ea typeface="LXGW WenKai"/>
              </a:rPr>
              <a:t>SCALE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229100" y="4905375"/>
            <a:ext cx="3048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863" spc="22">
                <a:solidFill>
                  <a:srgbClr val="EFE6D6">
                    <a:alpha val="82000"/>
                  </a:srgbClr>
                </a:solidFill>
                <a:latin typeface="LXGW WenKai"/>
                <a:ea typeface="LXGW WenKai"/>
              </a:rPr>
              <a:t>只用五声音阶。半音留给「不对劲」的时刻——听见半音，说明附近有人。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772400" y="4305300"/>
            <a:ext cx="3048000" cy="9525"/>
          </a:xfrm>
          <a:prstGeom prst="rect">
            <a:avLst/>
          </a:prstGeom>
          <a:solidFill>
            <a:srgbClr val="EFE6D6">
              <a:alpha val="28000"/>
            </a:srgbClr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772400" y="4467225"/>
            <a:ext cx="304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 spc="150">
                <a:solidFill>
                  <a:srgbClr val="EFE6D6"/>
                </a:solidFill>
                <a:latin typeface="STKaiti"/>
                <a:ea typeface="STKaiti"/>
              </a:rPr>
              <a:t>静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191500" y="4467225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 spc="188">
                <a:solidFill>
                  <a:srgbClr val="A2968A"/>
                </a:solidFill>
                <a:latin typeface="LXGW WenKai"/>
                <a:ea typeface="LXGW WenKai"/>
              </a:rPr>
              <a:t>SILENCE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772400" y="4905375"/>
            <a:ext cx="3048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863" spc="22">
                <a:solidFill>
                  <a:srgbClr val="EFE6D6">
                    <a:alpha val="82000"/>
                  </a:srgbClr>
                </a:solidFill>
                <a:latin typeface="LXGW WenKai"/>
                <a:ea typeface="LXGW WenKai"/>
              </a:rPr>
              <a:t>战斗前八秒没有音乐。风、水、脚步，是这段时间里唯一的配乐。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85800" y="5886450"/>
            <a:ext cx="10820400" cy="9525"/>
          </a:xfrm>
          <a:prstGeom prst="rect">
            <a:avLst/>
          </a:prstGeom>
          <a:solidFill>
            <a:srgbClr val="EFE6D6">
              <a:alpha val="18000"/>
            </a:srgbClr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85800" y="6000750"/>
            <a:ext cx="3581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113">
                <a:solidFill>
                  <a:srgbClr val="EFE6D6">
                    <a:alpha val="62000"/>
                  </a:srgbClr>
                </a:solidFill>
                <a:latin typeface="LXGW WenKai"/>
                <a:ea typeface="LXGW WenKai"/>
              </a:rPr>
              <a:t>原声带</a:t>
            </a:r>
            <a:r>
              <a:rPr lang="en-US" sz="750" spc="113">
                <a:solidFill>
                  <a:srgbClr val="EFE6D6">
                    <a:alpha val="62000"/>
                  </a:srgbClr>
                </a:solidFill>
                <a:latin typeface="LXGW WenKai"/>
                <a:ea typeface="LXGW WenKai"/>
              </a:rPr>
              <a:t xml:space="preserve"> 42 </a:t>
            </a:r>
            <a:r>
              <a:rPr lang="zh-CN" sz="750" spc="113">
                <a:solidFill>
                  <a:srgbClr val="EFE6D6">
                    <a:alpha val="62000"/>
                  </a:srgbClr>
                </a:solidFill>
                <a:latin typeface="LXGW WenKai"/>
                <a:ea typeface="LXGW WenKai"/>
              </a:rPr>
              <a:t>首　·　「入夜」</a:t>
            </a:r>
            <a:r>
              <a:rPr lang="en-US" sz="750" spc="113">
                <a:solidFill>
                  <a:srgbClr val="EFE6D6">
                    <a:alpha val="62000"/>
                  </a:srgbClr>
                </a:solidFill>
                <a:latin typeface="LXGW WenKai"/>
                <a:ea typeface="LXGW WenKai"/>
              </a:rPr>
              <a:t>3:12</a:t>
            </a:r>
            <a:r>
              <a:rPr lang="zh-CN" sz="750" spc="113">
                <a:solidFill>
                  <a:srgbClr val="EFE6D6">
                    <a:alpha val="62000"/>
                  </a:srgbClr>
                </a:solidFill>
                <a:latin typeface="LXGW WenKai"/>
                <a:ea typeface="LXGW WenKai"/>
              </a:rPr>
              <a:t>　·　「沉沙」</a:t>
            </a:r>
            <a:r>
              <a:rPr lang="en-US" sz="750" spc="113">
                <a:solidFill>
                  <a:srgbClr val="EFE6D6">
                    <a:alpha val="62000"/>
                  </a:srgbClr>
                </a:solidFill>
                <a:latin typeface="LXGW WenKai"/>
                <a:ea typeface="LXGW WenKai"/>
              </a:rPr>
              <a:t>5:40</a:t>
            </a:r>
            <a:r>
              <a:rPr lang="zh-CN" sz="750" spc="113">
                <a:solidFill>
                  <a:srgbClr val="EFE6D6">
                    <a:alpha val="62000"/>
                  </a:srgbClr>
                </a:solidFill>
                <a:latin typeface="LXGW WenKai"/>
                <a:ea typeface="LXGW WenKai"/>
              </a:rPr>
              <a:t>　·　「提剑」</a:t>
            </a:r>
            <a:r>
              <a:rPr lang="en-US" sz="750" spc="113">
                <a:solidFill>
                  <a:srgbClr val="EFE6D6">
                    <a:alpha val="62000"/>
                  </a:srgbClr>
                </a:solidFill>
                <a:latin typeface="LXGW WenKai"/>
                <a:ea typeface="LXGW WenKai"/>
              </a:rPr>
              <a:t>2:28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0953750" y="6448425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25">
                <a:solidFill>
                  <a:srgbClr val="EFE6D6">
                    <a:alpha val="60000"/>
                  </a:srgbClr>
                </a:solidFill>
                <a:latin typeface="LXGW WenKai"/>
                <a:ea typeface="LXGW WenKa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6" name="" descr="&lt;Slide style={{ width: 1280, height: 720, backgroundColor: '#F3EBDC', position: 'relative', padding: 0 }}&gt;&#13;&#10;    &lt;Image src=&quot;assets/paper_1280.png&quot; style={{ position: 'absolute', left: 0, top: 0, width: 1280, height: 720 }} /&gt;&#13;&#10;    &#13;&#10;    &lt;Box style={{position: 'absolute', left: 72, top: 46, flexDirection: 'row', alignItems: 'center', gap: 10}}&gt;&#13;&#10;        &lt;Box style={{width: 5, height: 5, backgroundColor: '#A6361B'}} /&gt;&#13;&#10;        &lt;Text style={{fontFamily: 'LXGW WenKai', fontSize: 11.5, color: '#8B8175', letterSpacing: 6}}&gt;捌 · 期&lt;/Text&gt;&#13;&#10;    &lt;/Box&gt;&#13;&#10;    &lt;Text style={{fontFamily: 'STKaiti', fontSize: 38, fontWeight: 'bold', color: '#15120E', letterSpacing: 3, lineHeight: 1.2, position: 'absolute', left: 72, top: 64}}&gt;从今天，到山河开门&lt;/Text&gt;&#13;&#10;    &lt;Text style={{fontFamily: 'LXGW WenKai', fontSize: 10.5, color: '#A79B8A', letterSpacing: 3.5, position: 'absolute', right: 72, top: 90}}&gt;FROM FIRST LOOK　TO　LAUNCH&lt;/Text&gt;&#13;&#10;    &lt;Box style={{position: 'absolute', left: 72, top: 134, width: 1136, height: 1, backgroundColor: 'rgba(21,18,14,0.14)'}} /&gt;&#13;&#10;    &lt;Box style={{position: 'absolute', left: 72, top: 134, width: 64, height: 2, backgroundColor: '#A6361B'}} /&gt;&#13;&#10;&#13;&#10;    &lt;Text style={{fontFamily: 'LXGW WenKai', fontSize: 13, color: '#3B342B', lineHeight: 1.95, letterSpacing: 0.6, position: 'absolute', left: 72, top: 166, width: 820}}&gt;我们不打算做一个「抢先体验三年」的江湖。四个节点，每个节点都开放一次完整的世界。&lt;/Text&gt;&#13;&#10;&#13;&#10;    &lt;Box style={{ position: 'absolute', left: 72, top: 300, width: 1136, height: 1, backgroundColor: 'rgba(21,18,14,0.26)' }} /&gt;&#13;&#10;    &lt;Box style={{ position: 'absolute', left: 72, top: 299, width: 300, height: 2, backgroundColor: '#A6361B' }} /&gt;&#13;&#10;&#13;&#10;    &lt;Box style={{ position: 'absolute', left: 72, top: 318, flexDirection: 'column', width: 252 }}&gt;&#13;&#10;        &lt;Box style={{ flexDirection: 'row', alignItems: 'center', gap: 10 }}&gt;&#13;&#10;            &lt;Box style={{ width: 11, height: 11, backgroundColor: '#A6361B', border: 'none' }} /&gt;&#13;&#10;            &lt;Text style={{ fontFamily: 'LXGW WenKai', fontSize: 9, color: '#A6361B', letterSpacing: 3 }}&gt;NOW&lt;/Text&gt;&#13;&#10;        &lt;/Box&gt;&#13;&#10;        &lt;Text style={{ fontFamily: 'STKaiti', fontSize: 27, fontWeight: 'bold', color: '#A6361B', letterSpacing: 2, marginTop: 14 }}&gt;2026.10.20&lt;/Text&gt;&#13;&#10;        &lt;Text style={{ fontFamily: 'STKaiti', fontSize: 16, color: '#15120E', letterSpacing: 2, marginTop: 6 }}&gt;全球首曝&lt;/Text&gt;&#13;&#10;        &lt;Text style={{ fontFamily: 'LXGW WenKai', fontSize: 11, color: '#3B342B', lineHeight: 1.95, letterSpacing: 0.2, marginTop: 8 }}&gt;今天。官网与各平台预约同步开启，首支实机演示三分钟。&lt;/Text&gt;&#13;&#10;    &lt;/Box&gt;&#13;&#10;    &lt;Box style={{ position: 'absolute', left: 360, top: 318, flexDirection: 'column', width: 252 }}&gt;&#13;&#10;        &lt;Box style={{ flexDirection: 'row', alignItems: 'center', gap: 10 }}&gt;&#13;&#10;            &lt;Box style={{ width: 11, height: 11, backgroundColor: '#F3EBDC', border: '1px solid #15120E' }} /&gt;&#13;&#10;            &lt;Text style={{ fontFamily: 'LXGW WenKai', fontSize: 9, color: '#A79B8A', letterSpacing: 3 }}&gt;PLANNED&lt;/Text&gt;&#13;&#10;        &lt;/Box&gt;&#13;&#10;        &lt;Text style={{ fontFamily: 'STKaiti', fontSize: 27, fontWeight: 'bold', color: '#15120E', letterSpacing: 2, marginTop: 14 }}&gt;2027.01.15&lt;/Text&gt;&#13;&#10;        &lt;Text style={{ fontFamily: 'STKaiti', fontSize: 16, color: '#15120E', letterSpacing: 2, marginTop: 6 }}&gt;首测 · 听雪&lt;/Text&gt;&#13;&#10;        &lt;Text style={{ fontFamily: 'LXGW WenKai', fontSize: 11, color: '#3B342B', lineHeight: 1.95, letterSpacing: 0.2, marginTop: 8 }}&gt;限量 5,000 人，PC 端。只开放苍岭与云渡两域。&lt;/Text&gt;&#13;&#10;    &lt;/Box&gt;&#13;&#10;    &lt;Box style={{ position: 'absolute', left: 648, top: 318, flexDirection: 'column', width: 252 }}&gt;&#13;&#10;        &lt;Box style={{ flexDirection: 'row', alignItems: 'center', gap: 10 }}&gt;&#13;&#10;            &lt;Box style={{ width: 11, height: 11, backgroundColor: '#F3EBDC', border: '1px solid #15120E' }} /&gt;&#13;&#10;            &lt;Text style={{ fontFamily: 'LXGW WenKai', fontSize: 9, color: '#A79B8A', letterSpacing: 3 }}&gt;PLANNED&lt;/Text&gt;&#13;&#10;        &lt;/Box&gt;&#13;&#10;        &lt;Text style={{ fontFamily: 'STKaiti', fontSize: 27, fontWeight: 'bold', color: '#15120E', letterSpacing: 2, marginTop: 14 }}&gt;2027.04.20&lt;/Text&gt;&#13;&#10;        &lt;Text style={{ fontFamily: 'STKaiti', fontSize: 16, color: '#15120E', letterSpacing: 2, marginTop: 6 }}&gt;二测 · 沉沙&lt;/Text&gt;&#13;&#10;        &lt;Text style={{ fontFamily: 'LXGW WenKai', fontSize: 11, color: '#3B342B', lineHeight: 1.95, letterSpacing: 0.2, marginTop: 8 }}&gt;不限号。开放五域全图、门派系统与武学重制。&lt;/Text&gt;&#13;&#10;    &lt;/Box&gt;&#13;&#10;    &lt;Box style={{ position: 'absolute', left: 936, top: 318, flexDirection: 'column', width: 252 }}&gt;&#13;&#10;        &lt;Box style={{ flexDirection: 'row', alignItems: 'center', gap: 10 }}&gt;&#13;&#10;            &lt;Box style={{ width: 11, height: 11, backgroundColor: '#F3EBDC', border: '1px solid #15120E' }} /&gt;&#13;&#10;            &lt;Text style={{ fontFamily: 'LXGW WenKai', fontSize: 9, color: '#A79B8A', letterSpacing: 3 }}&gt;PLANNED&lt;/Text&gt;&#13;&#10;        &lt;/Box&gt;&#13;&#10;        &lt;Text style={{ fontFamily: 'STKaiti', fontSize: 27, fontWeight: 'bold', color: '#15120E', letterSpacing: 2, marginTop: 14 }}&gt;2027.09.09&lt;/Text&gt;&#13;&#10;        &lt;Text style={{ fontFamily: 'STKaiti', fontSize: 16, color: '#15120E', letterSpacing: 2, marginTop: 6 }}&gt;全平台公测&lt;/Text&gt;&#13;&#10;        &lt;Text style={{ fontFamily: 'LXGW WenKai', fontSize: 11, color: '#3B342B', lineHeight: 1.95, letterSpacing: 0.2, marginTop: 8 }}&gt;PC / 主机 / 云游戏，三端同服，进度互通。&lt;/Text&gt;&#13;&#10;    &lt;/Box&gt;&#13;&#10;&#13;&#10;    &lt;Box style={{ position: 'absolute', left: 72, top: 512, width: 1136, height: 1, backgroundColor: 'rgba(21,18,14,0.14)' }} /&gt;&#13;&#10;    &lt;Box style={{ position: 'absolute', left: 72, top: 532, width: 1136, flexDirection: 'row', justifyContent: 'space-between' }}&gt;&#13;&#10;        &lt;Text style={{ fontFamily: 'LXGW WenKai', fontSize: 11, color: '#3B342B', letterSpacing: 1.5 }}&gt;五域无缝　·　一千二百里&lt;/Text&gt;&#13;&#10;        &lt;Text style={{ fontFamily: 'LXGW WenKai', fontSize: 11, color: '#3B342B', letterSpacing: 1.5 }}&gt;三端同服　·　进度互通&lt;/Text&gt;&#13;&#10;        &lt;Text style={{ fontFamily: 'LXGW WenKai', fontSize: 11, color: '#3B342B', letterSpacing: 1.5 }}&gt;全流程中文配音　·　方言可选&lt;/Text&gt;&#13;&#10;    &lt;/Box&gt;&#13;&#10;    &lt;Text style={{fontFamily: 'STKaiti', fontSize: 21, color: '#A6361B', letterSpacing: 3, position: 'absolute', left: 72, top: 596}}&gt;不删档、不鸽、不卖数值。&lt;/Text&gt;&#13;&#10;    &lt;Text style={{fontFamily: 'LXGW WenKai', fontSize: 10.5, color: '#8B8175', letterSpacing: 1, position: 'absolute', right: 72, top: 606}}&gt;时间若有变更，提前九十天公告。&lt;/Text&gt;&#13;&#10;    &lt;Text style={{fontFamily: 'LXGW WenKai', fontSize: 10.5, color: '#8B8175', letterSpacing: 3, position: 'absolute', right: 72, top: 677}}&gt;11 / 12&lt;/Text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3EBDC"/>
          </a:solidFill>
          <a:ln/>
        </p:spPr>
        <p:txBody>
          <a:bodyPr/>
          <a:p/>
        </p:txBody>
      </p:sp>
      <p:pic>
        <p:nvPicPr>
          <p:cNvPr id="58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9" name=""/>
          <p:cNvSpPr/>
          <p:nvPr/>
        </p:nvSpPr>
        <p:spPr>
          <a:xfrm rot="0" flipH="0" flipV="0">
            <a:off x="685800" y="485775"/>
            <a:ext cx="47625" cy="4762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28675" y="438150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捌</a:t>
            </a:r>
            <a:r>
              <a:rPr lang="en-US" sz="863" spc="450">
                <a:solidFill>
                  <a:srgbClr val="8B8175"/>
                </a:solidFill>
                <a:latin typeface="LXGW WenKai"/>
                <a:ea typeface="LXGW WenKai"/>
              </a:rPr>
              <a:t xml:space="preserve"> · </a:t>
            </a:r>
            <a:r>
              <a:rPr lang="zh-CN" sz="863" spc="450">
                <a:solidFill>
                  <a:srgbClr val="8B8175"/>
                </a:solidFill>
                <a:latin typeface="LXGW WenKai"/>
                <a:ea typeface="LXGW WenKai"/>
              </a:rPr>
              <a:t>期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" y="609600"/>
            <a:ext cx="3514725" cy="5238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850" b="1" spc="225">
                <a:solidFill>
                  <a:srgbClr val="15120E"/>
                </a:solidFill>
                <a:latin typeface="STKaiti"/>
                <a:ea typeface="STKaiti"/>
              </a:rPr>
              <a:t>从今天，到山河开门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039225" y="857250"/>
            <a:ext cx="2466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63">
                <a:solidFill>
                  <a:srgbClr val="A79B8A"/>
                </a:solidFill>
                <a:latin typeface="LXGW WenKai"/>
                <a:ea typeface="LXGW WenKai"/>
              </a:rPr>
              <a:t>FROM FIRST LOOK</a:t>
            </a:r>
            <a:r>
              <a:rPr lang="zh-CN" sz="788" spc="263">
                <a:solidFill>
                  <a:srgbClr val="A79B8A"/>
                </a:solidFill>
                <a:latin typeface="LXGW WenKai"/>
                <a:ea typeface="LXGW WenKai"/>
              </a:rPr>
              <a:t>　</a:t>
            </a:r>
            <a:r>
              <a:rPr lang="en-US" sz="788" spc="263">
                <a:solidFill>
                  <a:srgbClr val="A79B8A"/>
                </a:solidFill>
                <a:latin typeface="LXGW WenKai"/>
                <a:ea typeface="LXGW WenKai"/>
              </a:rPr>
              <a:t>TO</a:t>
            </a:r>
            <a:r>
              <a:rPr lang="zh-CN" sz="788" spc="263">
                <a:solidFill>
                  <a:srgbClr val="A79B8A"/>
                </a:solidFill>
                <a:latin typeface="LXGW WenKai"/>
                <a:ea typeface="LXGW WenKai"/>
              </a:rPr>
              <a:t>　</a:t>
            </a:r>
            <a:r>
              <a:rPr lang="en-US" sz="788" spc="263">
                <a:solidFill>
                  <a:srgbClr val="A79B8A"/>
                </a:solidFill>
                <a:latin typeface="LXGW WenKai"/>
                <a:ea typeface="LXGW WenKai"/>
              </a:rPr>
              <a:t>LAUNCH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85800" y="1276350"/>
            <a:ext cx="108204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85800" y="1276350"/>
            <a:ext cx="609600" cy="190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85800" y="1581150"/>
            <a:ext cx="7810500" cy="2952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975" spc="45">
                <a:solidFill>
                  <a:srgbClr val="3B342B"/>
                </a:solidFill>
                <a:latin typeface="LXGW WenKai"/>
                <a:ea typeface="LXGW WenKai"/>
              </a:rPr>
              <a:t>我们不打算做一个「抢先体验三年」的江湖。四个节点，每个节点都开放一次完整的世界。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85800" y="2857500"/>
            <a:ext cx="10820400" cy="9525"/>
          </a:xfrm>
          <a:prstGeom prst="rect">
            <a:avLst/>
          </a:prstGeom>
          <a:solidFill>
            <a:srgbClr val="15120E">
              <a:alpha val="26000"/>
            </a:srgbClr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685800" y="2847975"/>
            <a:ext cx="2857500" cy="190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685800" y="3028950"/>
            <a:ext cx="104775" cy="104775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85825" y="3028950"/>
            <a:ext cx="2952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225">
                <a:solidFill>
                  <a:srgbClr val="A6361B"/>
                </a:solidFill>
                <a:latin typeface="LXGW WenKai"/>
                <a:ea typeface="LXGW WenKai"/>
              </a:rPr>
              <a:t>NOW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85800" y="3267075"/>
            <a:ext cx="24003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 spc="150">
                <a:solidFill>
                  <a:srgbClr val="A6361B"/>
                </a:solidFill>
                <a:latin typeface="STKaiti"/>
                <a:ea typeface="STKaiti"/>
              </a:rPr>
              <a:t>2026.10.20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85800" y="3638550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15120E"/>
                </a:solidFill>
                <a:latin typeface="STKaiti"/>
                <a:ea typeface="STKaiti"/>
              </a:rPr>
              <a:t>全球首曝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85800" y="3905250"/>
            <a:ext cx="24003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825" spc="15">
                <a:solidFill>
                  <a:srgbClr val="3B342B"/>
                </a:solidFill>
                <a:latin typeface="LXGW WenKai"/>
                <a:ea typeface="LXGW WenKai"/>
              </a:rPr>
              <a:t>今天。官网与各平台预约同步开启，首支实机演示三分钟。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3429000" y="3028950"/>
            <a:ext cx="104775" cy="104775"/>
          </a:xfrm>
          <a:prstGeom prst="rect">
            <a:avLst/>
          </a:prstGeom>
          <a:solidFill>
            <a:srgbClr val="F3EBDC"/>
          </a:solidFill>
          <a:ln w="12700">
            <a:solidFill>
              <a:srgbClr val="15120E"/>
            </a:solidFill>
            <a:prstDash val="solid"/>
          </a:ln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629025" y="3028950"/>
            <a:ext cx="6096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225">
                <a:solidFill>
                  <a:srgbClr val="A79B8A"/>
                </a:solidFill>
                <a:latin typeface="LXGW WenKai"/>
                <a:ea typeface="LXGW WenKai"/>
              </a:rPr>
              <a:t>PLANNED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429000" y="3267075"/>
            <a:ext cx="24003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 spc="150">
                <a:solidFill>
                  <a:srgbClr val="15120E"/>
                </a:solidFill>
                <a:latin typeface="STKaiti"/>
                <a:ea typeface="STKaiti"/>
              </a:rPr>
              <a:t>2027.01.15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429000" y="3638550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15120E"/>
                </a:solidFill>
                <a:latin typeface="STKaiti"/>
                <a:ea typeface="STKaiti"/>
              </a:rPr>
              <a:t>首测</a:t>
            </a:r>
            <a:r>
              <a:rPr lang="en-US" sz="1200" spc="150">
                <a:solidFill>
                  <a:srgbClr val="15120E"/>
                </a:solidFill>
                <a:latin typeface="STKaiti"/>
                <a:ea typeface="STKaiti"/>
              </a:rPr>
              <a:t xml:space="preserve"> · </a:t>
            </a:r>
            <a:r>
              <a:rPr lang="zh-CN" sz="1200" spc="150">
                <a:solidFill>
                  <a:srgbClr val="15120E"/>
                </a:solidFill>
                <a:latin typeface="STKaiti"/>
                <a:ea typeface="STKaiti"/>
              </a:rPr>
              <a:t>听雪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429000" y="3905250"/>
            <a:ext cx="2400300" cy="247650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825" spc="15">
                <a:solidFill>
                  <a:srgbClr val="3B342B"/>
                </a:solidFill>
                <a:latin typeface="LXGW WenKai"/>
                <a:ea typeface="LXGW WenKai"/>
              </a:rPr>
              <a:t>限量</a:t>
            </a:r>
            <a:r>
              <a:rPr lang="en-US" sz="825" spc="15">
                <a:solidFill>
                  <a:srgbClr val="3B342B"/>
                </a:solidFill>
                <a:latin typeface="LXGW WenKai"/>
                <a:ea typeface="LXGW WenKai"/>
              </a:rPr>
              <a:t xml:space="preserve"> 5,000 </a:t>
            </a:r>
            <a:r>
              <a:rPr lang="zh-CN" sz="825" spc="15">
                <a:solidFill>
                  <a:srgbClr val="3B342B"/>
                </a:solidFill>
                <a:latin typeface="LXGW WenKai"/>
                <a:ea typeface="LXGW WenKai"/>
              </a:rPr>
              <a:t>人，</a:t>
            </a:r>
            <a:r>
              <a:rPr lang="en-US" sz="825" spc="15">
                <a:solidFill>
                  <a:srgbClr val="3B342B"/>
                </a:solidFill>
                <a:latin typeface="LXGW WenKai"/>
                <a:ea typeface="LXGW WenKai"/>
              </a:rPr>
              <a:t xml:space="preserve">PC </a:t>
            </a:r>
            <a:r>
              <a:rPr lang="zh-CN" sz="825" spc="15">
                <a:solidFill>
                  <a:srgbClr val="3B342B"/>
                </a:solidFill>
                <a:latin typeface="LXGW WenKai"/>
                <a:ea typeface="LXGW WenKai"/>
              </a:rPr>
              <a:t>端。只开放苍岭与云渡两域。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172200" y="3028950"/>
            <a:ext cx="104775" cy="104775"/>
          </a:xfrm>
          <a:prstGeom prst="rect">
            <a:avLst/>
          </a:prstGeom>
          <a:solidFill>
            <a:srgbClr val="F3EBDC"/>
          </a:solidFill>
          <a:ln w="12700">
            <a:solidFill>
              <a:srgbClr val="15120E"/>
            </a:solidFill>
            <a:prstDash val="solid"/>
          </a:ln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372225" y="3028950"/>
            <a:ext cx="6096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225">
                <a:solidFill>
                  <a:srgbClr val="A79B8A"/>
                </a:solidFill>
                <a:latin typeface="LXGW WenKai"/>
                <a:ea typeface="LXGW WenKai"/>
              </a:rPr>
              <a:t>PLANNED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172200" y="3267075"/>
            <a:ext cx="24003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 spc="150">
                <a:solidFill>
                  <a:srgbClr val="15120E"/>
                </a:solidFill>
                <a:latin typeface="STKaiti"/>
                <a:ea typeface="STKaiti"/>
              </a:rPr>
              <a:t>2027.04.20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172200" y="3638550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15120E"/>
                </a:solidFill>
                <a:latin typeface="STKaiti"/>
                <a:ea typeface="STKaiti"/>
              </a:rPr>
              <a:t>二测</a:t>
            </a:r>
            <a:r>
              <a:rPr lang="en-US" sz="1200" spc="150">
                <a:solidFill>
                  <a:srgbClr val="15120E"/>
                </a:solidFill>
                <a:latin typeface="STKaiti"/>
                <a:ea typeface="STKaiti"/>
              </a:rPr>
              <a:t xml:space="preserve"> · </a:t>
            </a:r>
            <a:r>
              <a:rPr lang="zh-CN" sz="1200" spc="150">
                <a:solidFill>
                  <a:srgbClr val="15120E"/>
                </a:solidFill>
                <a:latin typeface="STKaiti"/>
                <a:ea typeface="STKaiti"/>
              </a:rPr>
              <a:t>沉沙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172200" y="3905250"/>
            <a:ext cx="2400300" cy="247650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825" spc="15">
                <a:solidFill>
                  <a:srgbClr val="3B342B"/>
                </a:solidFill>
                <a:latin typeface="LXGW WenKai"/>
                <a:ea typeface="LXGW WenKai"/>
              </a:rPr>
              <a:t>不限号。开放五域全图、门派系统与武学重制。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8915400" y="3028950"/>
            <a:ext cx="104775" cy="104775"/>
          </a:xfrm>
          <a:prstGeom prst="rect">
            <a:avLst/>
          </a:prstGeom>
          <a:solidFill>
            <a:srgbClr val="F3EBDC"/>
          </a:solidFill>
          <a:ln w="12700">
            <a:solidFill>
              <a:srgbClr val="15120E"/>
            </a:solidFill>
            <a:prstDash val="solid"/>
          </a:ln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115425" y="3028950"/>
            <a:ext cx="6096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225">
                <a:solidFill>
                  <a:srgbClr val="A79B8A"/>
                </a:solidFill>
                <a:latin typeface="LXGW WenKai"/>
                <a:ea typeface="LXGW WenKai"/>
              </a:rPr>
              <a:t>PLANNED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915400" y="3267075"/>
            <a:ext cx="24003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 spc="150">
                <a:solidFill>
                  <a:srgbClr val="15120E"/>
                </a:solidFill>
                <a:latin typeface="STKaiti"/>
                <a:ea typeface="STKaiti"/>
              </a:rPr>
              <a:t>2027.09.09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915400" y="3638550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15120E"/>
                </a:solidFill>
                <a:latin typeface="STKaiti"/>
                <a:ea typeface="STKaiti"/>
              </a:rPr>
              <a:t>全平台公测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915400" y="3905250"/>
            <a:ext cx="2400300" cy="247650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825" spc="15">
                <a:solidFill>
                  <a:srgbClr val="3B342B"/>
                </a:solidFill>
                <a:latin typeface="LXGW WenKai"/>
                <a:ea typeface="LXGW WenKai"/>
              </a:rPr>
              <a:t xml:space="preserve">PC / </a:t>
            </a:r>
            <a:r>
              <a:rPr lang="zh-CN" sz="825" spc="15">
                <a:solidFill>
                  <a:srgbClr val="3B342B"/>
                </a:solidFill>
                <a:latin typeface="LXGW WenKai"/>
                <a:ea typeface="LXGW WenKai"/>
              </a:rPr>
              <a:t>主机</a:t>
            </a:r>
            <a:r>
              <a:rPr lang="en-US" sz="825" spc="15">
                <a:solidFill>
                  <a:srgbClr val="3B342B"/>
                </a:solidFill>
                <a:latin typeface="LXGW WenKai"/>
                <a:ea typeface="LXGW WenKai"/>
              </a:rPr>
              <a:t xml:space="preserve"> / </a:t>
            </a:r>
            <a:r>
              <a:rPr lang="zh-CN" sz="825" spc="15">
                <a:solidFill>
                  <a:srgbClr val="3B342B"/>
                </a:solidFill>
                <a:latin typeface="LXGW WenKai"/>
                <a:ea typeface="LXGW WenKai"/>
              </a:rPr>
              <a:t>云游戏，三端同服，进度互通。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85800" y="4876800"/>
            <a:ext cx="1082040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85800" y="5067300"/>
            <a:ext cx="1362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13">
                <a:solidFill>
                  <a:srgbClr val="3B342B"/>
                </a:solidFill>
                <a:latin typeface="LXGW WenKai"/>
                <a:ea typeface="LXGW WenKai"/>
              </a:rPr>
              <a:t>五域无缝　·　一千二百里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353050" y="5067300"/>
            <a:ext cx="1247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13">
                <a:solidFill>
                  <a:srgbClr val="3B342B"/>
                </a:solidFill>
                <a:latin typeface="LXGW WenKai"/>
                <a:ea typeface="LXGW WenKai"/>
              </a:rPr>
              <a:t>三端同服　·　进度互通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9906000" y="5067300"/>
            <a:ext cx="1600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13">
                <a:solidFill>
                  <a:srgbClr val="3B342B"/>
                </a:solidFill>
                <a:latin typeface="LXGW WenKai"/>
                <a:ea typeface="LXGW WenKai"/>
              </a:rPr>
              <a:t>全流程中文配音　·　方言可选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85800" y="5676900"/>
            <a:ext cx="2743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spc="225">
                <a:solidFill>
                  <a:srgbClr val="A6361B"/>
                </a:solidFill>
                <a:latin typeface="STKaiti"/>
                <a:ea typeface="STKaiti"/>
              </a:rPr>
              <a:t>不删档、不鸽、不卖数值。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858375" y="5772150"/>
            <a:ext cx="1647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75">
                <a:solidFill>
                  <a:srgbClr val="8B8175"/>
                </a:solidFill>
                <a:latin typeface="LXGW WenKai"/>
                <a:ea typeface="LXGW WenKai"/>
              </a:rPr>
              <a:t>时间若有变更，提前九十天公告。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0953750" y="6448425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25">
                <a:solidFill>
                  <a:srgbClr val="8B8175"/>
                </a:solidFill>
                <a:latin typeface="LXGW WenKai"/>
                <a:ea typeface="LXGW WenKa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95" name="" descr="&lt;Slide style={{ width: 1280, height: 720, backgroundColor: '#F3EBDC', position: 'relative', padding: 0 }}&gt;&#13;&#10;    &lt;Image src=&quot;assets/08_dusk_road.jpg&quot; style={{ position: 'absolute', left: 0, top: 0, width: 1280, height: 720, objectFit: 'cover' }} /&gt;&#13;&#10;    &lt;Box style={{ position: 'absolute', left: 0, top: 0, width: 1280, height: 720, background: 'linear-gradient(180deg, rgba(243,235,220,0.98) 0%, rgba(243,235,220,0.96) 28%, rgba(243,235,220,0.64) 42%, rgba(243,235,220,0.12) 58%, rgba(21,18,14,0.05) 100%)' }} /&gt;&#13;&#10;    &lt;Box style={{ position: 'absolute', left: 0, top: 0, width: 720, height: 720, background: 'linear-gradient(90deg, rgba(243,235,220,0.55) 0%, rgba(243,235,220,0.18) 52%, rgba(243,235,220,0) 100%)' }} /&gt;&#13;&#10;    &lt;Box style={{ position: 'absolute', left: 0, top: 540, width: 700, height: 126, background: 'linear-gradient(90deg, rgba(243,235,220,0.94) 0%, rgba(243,235,220,0.80) 62%, rgba(243,235,220,0) 100%)' }} /&gt;&#13;&#10;&#13;&#10;    &lt;Animation animType=&quot;fadeIn&quot; duration={800} startType=&quot;withPrevious&quot; delay={0}&gt;&lt;Box style={{ position: 'absolute', left: 72, top: 82, flexDirection: 'column' }}&gt;&#13;&#10;        &lt;Text style={{ fontFamily: 'STKaiti', fontSize: 42, fontWeight: 'bold', color: '#15120E', letterSpacing: 5 }}&gt;山河已开，只欠一人。&lt;/Text&gt;&#13;&#10;        &lt;Text style={{ fontFamily: 'LXGW WenKai', fontSize: 10, color: '#A6361B', letterSpacing: 4, marginTop: 12 }}&gt;THE LAND IS OPEN　·　ONE IS STILL MISSING&lt;/Text&gt;&#13;&#10;    &lt;/Box&gt;&lt;/Animation&gt;&#13;&#10;&#13;&#10;    &lt;Animation animType=&quot;zoom&quot; duration={900} startType=&quot;afterPrevious&quot; delay={150}&gt;&lt;Box style={{ position: 'absolute', left: 68, top: 166, flexDirection: 'column' }}&gt;&#13;&#10;        &lt;Text style={{ fontFamily: 'STKaiti', fontSize: 88, fontWeight: 'bold', color: '#15120E', letterSpacing: 4, lineHeight: 1 }}&gt;2027.09.09&lt;/Text&gt;&#13;&#10;        &lt;Box style={{ flexDirection: 'row', alignItems: 'center', gap: 14, marginTop: 16 }}&gt;&#13;&#10;            &lt;Box style={{ width: 56, height: 2, backgroundColor: '#A6361B' }} /&gt;&#13;&#10;            &lt;Text style={{ fontFamily: 'LXGW WenKai', fontSize: 12.5, color: '#15120E', letterSpacing: 4 }}&gt;全平台公测　·　PC / 主机 / 云游戏&lt;/Text&gt;&#13;&#10;        &lt;/Box&gt;&#13;&#10;    &lt;/Box&gt;&lt;/Animation&gt;&#13;&#10;&#13;&#10;    &lt;Box style={{ position: 'absolute', left: 852, top: 206, width: 356, height: 262, backgroundColor: 'rgba(243,235,220,0.94)', border: '1px solid rgba(21,18,14,0.22)', padding: 26, flexDirection: 'column' }}&gt;&#13;&#10;        &lt;Text style={{ fontFamily: 'LXGW WenKai', fontSize: 9.5, color: '#A6361B', letterSpacing: 3 }}&gt;预约里程碑　MILESTONES&lt;/Text&gt;&#13;&#10;        &lt;Box style={{ width: 302, height: 1, backgroundColor: 'rgba(21,18,14,0.22)', marginTop: 12 }} /&gt;&#13;&#10;        &lt;Box style={{ flexDirection: 'column', marginTop: 2 }}&gt;&#13;&#10;&#13;&#10;            &lt;Box style={{ flexDirection: 'row', alignItems: 'baseline', marginTop: 14 }}&gt;&#13;&#10;                &lt;Text style={{ fontFamily: 'STKaiti', fontSize: 19, fontWeight: 'bold', color: '#A6361B', letterSpacing: 1, width: 66 }}&gt;30 万&lt;/Text&gt;&#13;&#10;                &lt;Text style={{ fontFamily: 'LXGW WenKai', fontSize: 10.5, color: '#3B342B', letterSpacing: 0.3 }}&gt;解锁坐骑「墨驴」&lt;/Text&gt;&#13;&#10;            &lt;/Box&gt;&#13;&#10;            &lt;Box style={{ width: 302, height: 1, backgroundColor: 'rgba(21,18,14,0.14)', marginTop: 8 }} /&gt;&#13;&#10;            &lt;Box style={{ flexDirection: 'row', alignItems: 'baseline', marginTop: 14 }}&gt;&#13;&#10;                &lt;Text style={{ fontFamily: 'STKaiti', fontSize: 19, fontWeight: 'bold', color: '#A6361B', letterSpacing: 1, width: 66 }}&gt;50 万&lt;/Text&gt;&#13;&#10;                &lt;Text style={{ fontFamily: 'LXGW WenKai', fontSize: 10.5, color: '#3B342B', letterSpacing: 0.3 }}&gt;解锁外观「雪夜行」&lt;/Text&gt;&#13;&#10;            &lt;/Box&gt;&#13;&#10;            &lt;Box style={{ width: 302, height: 1, backgroundColor: 'rgba(21,18,14,0.14)', marginTop: 8 }} /&gt;&#13;&#10;            &lt;Box style={{ flexDirection: 'row', alignItems: 'baseline', marginTop: 14 }}&gt;&#13;&#10;                &lt;Text style={{ fontFamily: 'STKaiti', fontSize: 19, fontWeight: 'bold', color: '#A6361B', letterSpacing: 1, width: 66 }}&gt;100 万&lt;/Text&gt;&#13;&#10;                &lt;Text style={{ fontFamily: 'LXGW WenKai', fontSize: 10.5, color: '#3B342B', letterSpacing: 0.3 }}&gt;解锁资料片「沉沙」先行体验&lt;/Text&gt;&#13;&#10;            &lt;/Box&gt;&#13;&#10;            &lt;Box style={{ width: 302, height: 1, backgroundColor: 'rgba(21,18,14,0.14)', marginTop: 8 }} /&gt;&#13;&#10;        &lt;/Box&gt;&#13;&#10;        &lt;Box href='ppaction://hlinkshowjump?jump=firstslide' style={{ flexDirection: 'row', alignItems: 'center', gap: 10, marginTop: 6 }}&gt;&#13;&#10;            &lt;Box style={{ width: 20, height: 20, backgroundColor: '#A6361B', alignItems: 'center', justifyContent: 'center' }}&gt;&#13;&#10;                &lt;Text style={{ fontFamily: 'STKaiti', fontSize: 11, color: '#F3EBDC', lineHeight: 1 }}&gt;预&lt;/Text&gt;&#13;&#10;            &lt;/Box&gt;&#13;&#10;            &lt;Text style={{ fontFamily: 'LXGW WenKai', fontSize: 10, color: '#3B342B', letterSpacing: 1.5 }}&gt;预约已开启 · 点击回到开篇&lt;/Text&gt;&#13;&#10;        &lt;/Box&gt;&#13;&#10;    &lt;/Box&gt;&#13;&#10;&#13;&#10;    &lt;Animation animType=&quot;fadeIn&quot; duration={800} startType=&quot;afterPrevious&quot; delay={250}&gt;&lt;Box style={{ position: 'absolute', left: 72, top: 556, flexDirection: 'column' }}&gt;&#13;&#10;        &lt;Box style={{ width: 420, height: 1, backgroundColor: 'rgba(21,18,14,0.30)' }} /&gt;&#13;&#10;        &lt;Text style={{ fontFamily: 'STKaiti', fontSize: 17, color: '#15120E', letterSpacing: 1.5, marginTop: 14 }}&gt;提剑的人，路上见。&lt;/Text&gt;&#13;&#10;        &lt;Text style={{ fontFamily: 'LXGW WenKai', fontSize: 11, color: '#3B342B', letterSpacing: 2.2, marginTop: 7 }}&gt;—— 剑隐山河 制作组　·　2026.10.20&lt;/Text&gt;&#13;&#10;    &lt;/Box&gt;&lt;/Animation&gt;&#13;&#10;&#13;&#10;    &lt;Text style={{fontFamily: 'LXGW WenKai', fontSize: 10.5, color: 'rgba(243,235,220,0.95)', letterSpacing: 3, position: 'absolute', right: 72, top: 677}}&gt;12 / 12&lt;/Text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3EBDC"/>
          </a:solidFill>
          <a:ln/>
        </p:spPr>
        <p:txBody>
          <a:bodyPr/>
          <a:p/>
        </p:txBody>
      </p:sp>
      <p:pic>
        <p:nvPicPr>
          <p:cNvPr id="97" name=""/>
          <p:cNvPicPr>
            <a:picLocks noChangeAspect="1"/>
          </p:cNvPicPr>
          <p:nvPr/>
        </p:nvPicPr>
        <p:blipFill>
          <a:blip r:embed="rId1"/>
          <a:srcRect l="0" t="5093" r="0" b="5093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EBDC">
                  <a:alpha val="98000"/>
                </a:srgbClr>
              </a:gs>
              <a:gs pos="28000">
                <a:srgbClr val="F3EBDC">
                  <a:alpha val="96000"/>
                </a:srgbClr>
              </a:gs>
              <a:gs pos="42000">
                <a:srgbClr val="F3EBDC">
                  <a:alpha val="64000"/>
                </a:srgbClr>
              </a:gs>
              <a:gs pos="58000">
                <a:srgbClr val="F3EBDC">
                  <a:alpha val="12000"/>
                </a:srgbClr>
              </a:gs>
              <a:gs pos="100000">
                <a:srgbClr val="15120E">
                  <a:alpha val="5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0" y="0"/>
            <a:ext cx="6858000" cy="6858000"/>
          </a:xfrm>
          <a:prstGeom prst="rect">
            <a:avLst/>
          </a:prstGeom>
          <a:gradFill>
            <a:gsLst>
              <a:gs pos="0">
                <a:srgbClr val="F3EBDC">
                  <a:alpha val="55000"/>
                </a:srgbClr>
              </a:gs>
              <a:gs pos="52000">
                <a:srgbClr val="F3EBDC">
                  <a:alpha val="18000"/>
                </a:srgbClr>
              </a:gs>
              <a:gs pos="100000">
                <a:srgbClr val="F3EBDC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0" y="5143500"/>
            <a:ext cx="6667500" cy="1200150"/>
          </a:xfrm>
          <a:prstGeom prst="rect">
            <a:avLst/>
          </a:prstGeom>
          <a:gradFill>
            <a:gsLst>
              <a:gs pos="0">
                <a:srgbClr val="F3EBDC">
                  <a:alpha val="94000"/>
                </a:srgbClr>
              </a:gs>
              <a:gs pos="62000">
                <a:srgbClr val="F3EBDC">
                  <a:alpha val="80000"/>
                </a:srgbClr>
              </a:gs>
              <a:gs pos="100000">
                <a:srgbClr val="F3EBDC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85800" y="781050"/>
            <a:ext cx="447675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 spc="375">
                <a:solidFill>
                  <a:srgbClr val="15120E"/>
                </a:solidFill>
                <a:latin typeface="STKaiti"/>
                <a:ea typeface="STKaiti"/>
              </a:rPr>
              <a:t>山河已开，只欠一人。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85800" y="1381125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300">
                <a:solidFill>
                  <a:srgbClr val="A6361B"/>
                </a:solidFill>
                <a:latin typeface="LXGW WenKai"/>
                <a:ea typeface="LXGW WenKai"/>
              </a:rPr>
              <a:t>THE LAND IS OPEN</a:t>
            </a:r>
            <a:r>
              <a:rPr lang="zh-CN" sz="750" spc="300">
                <a:solidFill>
                  <a:srgbClr val="A6361B"/>
                </a:solidFill>
                <a:latin typeface="LXGW WenKai"/>
                <a:ea typeface="LXGW WenKai"/>
              </a:rPr>
              <a:t>　·　</a:t>
            </a:r>
            <a:r>
              <a:rPr lang="en-US" sz="750" spc="300">
                <a:solidFill>
                  <a:srgbClr val="A6361B"/>
                </a:solidFill>
                <a:latin typeface="LXGW WenKai"/>
                <a:ea typeface="LXGW WenKai"/>
              </a:rPr>
              <a:t>ONE IS STILL MISSING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47700" y="1581150"/>
            <a:ext cx="389572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 spc="300">
                <a:solidFill>
                  <a:srgbClr val="15120E"/>
                </a:solidFill>
                <a:latin typeface="STKaiti"/>
                <a:ea typeface="STKaiti"/>
              </a:rPr>
              <a:t>2027.09.09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47700" y="2809875"/>
            <a:ext cx="533400" cy="19050"/>
          </a:xfrm>
          <a:prstGeom prst="rect">
            <a:avLst/>
          </a:prstGeom>
          <a:solidFill>
            <a:srgbClr val="A6361B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314450" y="2743200"/>
            <a:ext cx="2686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300">
                <a:solidFill>
                  <a:srgbClr val="15120E"/>
                </a:solidFill>
                <a:latin typeface="LXGW WenKai"/>
                <a:ea typeface="LXGW WenKai"/>
              </a:rPr>
              <a:t>全平台公测　·　</a:t>
            </a:r>
            <a:r>
              <a:rPr lang="en-US" sz="938" spc="300">
                <a:solidFill>
                  <a:srgbClr val="15120E"/>
                </a:solidFill>
                <a:latin typeface="LXGW WenKai"/>
                <a:ea typeface="LXGW WenKai"/>
              </a:rPr>
              <a:t xml:space="preserve">PC / </a:t>
            </a:r>
            <a:r>
              <a:rPr lang="zh-CN" sz="938" spc="300">
                <a:solidFill>
                  <a:srgbClr val="15120E"/>
                </a:solidFill>
                <a:latin typeface="LXGW WenKai"/>
                <a:ea typeface="LXGW WenKai"/>
              </a:rPr>
              <a:t>主机</a:t>
            </a:r>
            <a:r>
              <a:rPr lang="en-US" sz="938" spc="300">
                <a:solidFill>
                  <a:srgbClr val="15120E"/>
                </a:solidFill>
                <a:latin typeface="LXGW WenKai"/>
                <a:ea typeface="LXGW WenKai"/>
              </a:rPr>
              <a:t xml:space="preserve"> / </a:t>
            </a:r>
            <a:r>
              <a:rPr lang="zh-CN" sz="938" spc="300">
                <a:solidFill>
                  <a:srgbClr val="15120E"/>
                </a:solidFill>
                <a:latin typeface="LXGW WenKai"/>
                <a:ea typeface="LXGW WenKai"/>
              </a:rPr>
              <a:t>云游戏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8115300" y="1962150"/>
            <a:ext cx="3390900" cy="2495550"/>
          </a:xfrm>
          <a:prstGeom prst="rect">
            <a:avLst/>
          </a:prstGeom>
          <a:solidFill>
            <a:srgbClr val="F3EBDC">
              <a:alpha val="94000"/>
            </a:srgbClr>
          </a:solidFill>
          <a:ln w="12700">
            <a:solidFill>
              <a:srgbClr val="15120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362950" y="2209800"/>
            <a:ext cx="2895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225">
                <a:solidFill>
                  <a:srgbClr val="A6361B"/>
                </a:solidFill>
                <a:latin typeface="LXGW WenKai"/>
                <a:ea typeface="LXGW WenKai"/>
              </a:rPr>
              <a:t>预约里程碑　</a:t>
            </a:r>
            <a:r>
              <a:rPr lang="en-US" sz="713" spc="225">
                <a:solidFill>
                  <a:srgbClr val="A6361B"/>
                </a:solidFill>
                <a:latin typeface="LXGW WenKai"/>
                <a:ea typeface="LXGW WenKai"/>
              </a:rPr>
              <a:t>MILESTONES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8362950" y="2438400"/>
            <a:ext cx="2876550" cy="9525"/>
          </a:xfrm>
          <a:prstGeom prst="rect">
            <a:avLst/>
          </a:prstGeom>
          <a:solidFill>
            <a:srgbClr val="15120E">
              <a:alpha val="22000"/>
            </a:srgbClr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362950" y="2600325"/>
            <a:ext cx="628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 spc="75">
                <a:solidFill>
                  <a:srgbClr val="A6361B"/>
                </a:solidFill>
                <a:latin typeface="STKaiti"/>
                <a:ea typeface="STKaiti"/>
              </a:rPr>
              <a:t xml:space="preserve">30 </a:t>
            </a:r>
            <a:r>
              <a:rPr lang="zh-CN" sz="1425" b="1" spc="75">
                <a:solidFill>
                  <a:srgbClr val="A6361B"/>
                </a:solidFill>
                <a:latin typeface="STKaiti"/>
                <a:ea typeface="STKaiti"/>
              </a:rPr>
              <a:t>万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991600" y="2600325"/>
            <a:ext cx="828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22">
                <a:solidFill>
                  <a:srgbClr val="3B342B"/>
                </a:solidFill>
                <a:latin typeface="LXGW WenKai"/>
                <a:ea typeface="LXGW WenKai"/>
              </a:rPr>
              <a:t>解锁坐骑「墨驴」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8362950" y="2895600"/>
            <a:ext cx="287655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362950" y="3038475"/>
            <a:ext cx="628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 spc="75">
                <a:solidFill>
                  <a:srgbClr val="A6361B"/>
                </a:solidFill>
                <a:latin typeface="STKaiti"/>
                <a:ea typeface="STKaiti"/>
              </a:rPr>
              <a:t xml:space="preserve">50 </a:t>
            </a:r>
            <a:r>
              <a:rPr lang="zh-CN" sz="1425" b="1" spc="75">
                <a:solidFill>
                  <a:srgbClr val="A6361B"/>
                </a:solidFill>
                <a:latin typeface="STKaiti"/>
                <a:ea typeface="STKaiti"/>
              </a:rPr>
              <a:t>万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991600" y="3038475"/>
            <a:ext cx="933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22">
                <a:solidFill>
                  <a:srgbClr val="3B342B"/>
                </a:solidFill>
                <a:latin typeface="LXGW WenKai"/>
                <a:ea typeface="LXGW WenKai"/>
              </a:rPr>
              <a:t>解锁外观「雪夜行」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8362950" y="3333750"/>
            <a:ext cx="287655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362950" y="3476625"/>
            <a:ext cx="628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 spc="75">
                <a:solidFill>
                  <a:srgbClr val="A6361B"/>
                </a:solidFill>
                <a:latin typeface="STKaiti"/>
                <a:ea typeface="STKaiti"/>
              </a:rPr>
              <a:t xml:space="preserve">100 </a:t>
            </a:r>
            <a:r>
              <a:rPr lang="zh-CN" sz="1425" b="1" spc="75">
                <a:solidFill>
                  <a:srgbClr val="A6361B"/>
                </a:solidFill>
                <a:latin typeface="STKaiti"/>
                <a:ea typeface="STKaiti"/>
              </a:rPr>
              <a:t>万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991600" y="3476625"/>
            <a:ext cx="1343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22">
                <a:solidFill>
                  <a:srgbClr val="3B342B"/>
                </a:solidFill>
                <a:latin typeface="LXGW WenKai"/>
                <a:ea typeface="LXGW WenKai"/>
              </a:rPr>
              <a:t>解锁资料片「沉沙」先行体验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8362950" y="3771900"/>
            <a:ext cx="2876550" cy="9525"/>
          </a:xfrm>
          <a:prstGeom prst="rect">
            <a:avLst/>
          </a:prstGeom>
          <a:solidFill>
            <a:srgbClr val="15120E">
              <a:alpha val="14000"/>
            </a:srgbClr>
          </a:solidFill>
          <a:ln/>
        </p:spPr>
        <p:txBody>
          <a:bodyPr/>
          <a:p/>
        </p:txBody>
      </p:sp>
      <p:grpSp>
        <p:nvGrpSpPr>
          <p:cNvPr id="118" name="">
            <a:hlinkClick r:id="rId2"/>
          </p:cNvPr>
          <p:cNvGrpSpPr/>
          <p:nvPr/>
        </p:nvGrpSpPr>
        <p:grpSpPr>
          <a:xfrm rot="0" flipH="0" flipV="0">
            <a:off x="8362950" y="3838575"/>
            <a:ext cx="2895600" cy="190500"/>
            <a:chOff x="8362950" y="3838575"/>
            <a:chExt cx="1638300" cy="190500"/>
          </a:xfrm>
        </p:grpSpPr>
        <p:sp>
          <p:nvSpPr>
            <p:cNvPr id="119" name=""/>
            <p:cNvSpPr/>
            <p:nvPr/>
          </p:nvSpPr>
          <p:spPr>
            <a:xfrm rot="0" flipH="0" flipV="0">
              <a:off x="8362950" y="3838575"/>
              <a:ext cx="190500" cy="190500"/>
            </a:xfrm>
            <a:prstGeom prst="rect">
              <a:avLst/>
            </a:prstGeom>
            <a:solidFill>
              <a:srgbClr val="A6361B"/>
            </a:solidFill>
            <a:ln/>
          </p:spPr>
          <p:txBody>
            <a:bodyPr/>
            <a:p/>
          </p:txBody>
        </p:sp>
        <p:sp>
          <p:nvSpPr>
            <p:cNvPr id="120" name="" descr="{&quot;isTemplate&quot;:true,&quot;type&quot;:&quot;text&quot;}"/>
            <p:cNvSpPr txBox="1"/>
            <p:nvPr/>
          </p:nvSpPr>
          <p:spPr>
            <a:xfrm rot="0" flipH="0" flipV="0">
              <a:off x="8410575" y="3867150"/>
              <a:ext cx="104775" cy="133350"/>
            </a:xfrm>
            <a:prstGeom prst="rect"/>
          </p:spPr>
          <p:txBody>
            <a:bodyPr wrap="none" lIns="0" tIns="0" rIns="0" bIns="0"/>
            <a:p>
              <a:pPr>
                <a:lnSpc>
                  <a:spcPct val="100000"/>
                </a:lnSpc>
              </a:pPr>
              <a:r>
                <a:rPr lang="zh-CN" sz="825">
                  <a:solidFill>
                    <a:srgbClr val="F3EBDC"/>
                  </a:solidFill>
                  <a:latin typeface="STKaiti"/>
                  <a:ea typeface="STKaiti"/>
                </a:rPr>
                <a:t>预</a:t>
              </a:r>
              <a:endParaRPr/>
            </a:p>
          </p:txBody>
        </p:sp>
        <p:sp>
          <p:nvSpPr>
            <p:cNvPr id="121" name="" descr="{&quot;isTemplate&quot;:true,&quot;type&quot;:&quot;text&quot;}"/>
            <p:cNvSpPr txBox="1"/>
            <p:nvPr/>
          </p:nvSpPr>
          <p:spPr>
            <a:xfrm rot="0" flipH="0" flipV="0">
              <a:off x="8648700" y="3876675"/>
              <a:ext cx="1352550" cy="114300"/>
            </a:xfrm>
            <a:prstGeom prst="rect"/>
          </p:spPr>
          <p:txBody>
            <a:bodyPr wrap="none" lIns="0" tIns="0" rIns="0" bIns="0"/>
            <a:p>
              <a:pPr>
                <a:lnSpc>
                  <a:spcPct val="100000"/>
                </a:lnSpc>
              </a:pPr>
              <a:r>
                <a:rPr lang="zh-CN" sz="750" spc="113">
                  <a:solidFill>
                    <a:srgbClr val="3B342B"/>
                  </a:solidFill>
                  <a:latin typeface="LXGW WenKai"/>
                  <a:ea typeface="LXGW WenKai"/>
                </a:rPr>
                <a:t>预约已开启</a:t>
              </a:r>
              <a:r>
                <a:rPr lang="en-US" sz="750" spc="113">
                  <a:solidFill>
                    <a:srgbClr val="3B342B"/>
                  </a:solidFill>
                  <a:latin typeface="LXGW WenKai"/>
                  <a:ea typeface="LXGW WenKai"/>
                </a:rPr>
                <a:t xml:space="preserve"> · </a:t>
              </a:r>
              <a:r>
                <a:rPr lang="zh-CN" sz="750" spc="113">
                  <a:solidFill>
                    <a:srgbClr val="3B342B"/>
                  </a:solidFill>
                  <a:latin typeface="LXGW WenKai"/>
                  <a:ea typeface="LXGW WenKai"/>
                </a:rPr>
                <a:t>点击回到开篇</a:t>
              </a:r>
              <a:endParaRPr/>
            </a:p>
          </p:txBody>
        </p:sp>
      </p:grpSp>
      <p:sp>
        <p:nvSpPr>
          <p:cNvPr id="122" name=""/>
          <p:cNvSpPr/>
          <p:nvPr/>
        </p:nvSpPr>
        <p:spPr>
          <a:xfrm rot="0" flipH="0" flipV="0">
            <a:off x="685800" y="5295900"/>
            <a:ext cx="4000500" cy="9525"/>
          </a:xfrm>
          <a:prstGeom prst="rect">
            <a:avLst/>
          </a:prstGeom>
          <a:solidFill>
            <a:srgbClr val="15120E">
              <a:alpha val="30000"/>
            </a:srgbClr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85800" y="543877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113">
                <a:solidFill>
                  <a:srgbClr val="15120E"/>
                </a:solidFill>
                <a:latin typeface="STKaiti"/>
                <a:ea typeface="STKaiti"/>
              </a:rPr>
              <a:t>提剑的人，路上见。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85800" y="5705475"/>
            <a:ext cx="400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65">
                <a:solidFill>
                  <a:srgbClr val="3B342B"/>
                </a:solidFill>
                <a:latin typeface="LXGW WenKai"/>
                <a:ea typeface="LXGW WenKai"/>
              </a:rPr>
              <a:t xml:space="preserve">—— </a:t>
            </a:r>
            <a:r>
              <a:rPr lang="zh-CN" sz="825" spc="165">
                <a:solidFill>
                  <a:srgbClr val="3B342B"/>
                </a:solidFill>
                <a:latin typeface="LXGW WenKai"/>
                <a:ea typeface="LXGW WenKai"/>
              </a:rPr>
              <a:t>剑隐山河</a:t>
            </a:r>
            <a:r>
              <a:rPr lang="en-US" sz="825" spc="165">
                <a:solidFill>
                  <a:srgbClr val="3B342B"/>
                </a:solidFill>
                <a:latin typeface="LXGW WenKai"/>
                <a:ea typeface="LXGW WenKai"/>
              </a:rPr>
              <a:t xml:space="preserve"> </a:t>
            </a:r>
            <a:r>
              <a:rPr lang="zh-CN" sz="825" spc="165">
                <a:solidFill>
                  <a:srgbClr val="3B342B"/>
                </a:solidFill>
                <a:latin typeface="LXGW WenKai"/>
                <a:ea typeface="LXGW WenKai"/>
              </a:rPr>
              <a:t>制作组　·　</a:t>
            </a:r>
            <a:r>
              <a:rPr lang="en-US" sz="825" spc="165">
                <a:solidFill>
                  <a:srgbClr val="3B342B"/>
                </a:solidFill>
                <a:latin typeface="LXGW WenKai"/>
                <a:ea typeface="LXGW WenKai"/>
              </a:rPr>
              <a:t>2026.10.20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953750" y="6448425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225">
                <a:solidFill>
                  <a:srgbClr val="F3EBDC">
                    <a:alpha val="95000"/>
                  </a:srgbClr>
                </a:solidFill>
                <a:latin typeface="LXGW WenKai"/>
                <a:ea typeface="LXGW WenKai"/>
              </a:rPr>
              <a:t>12 / 12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8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9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9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9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9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8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8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id="67" presetID="23" presetClass="entr" presetSubtype="16" fill="hold" grpId="1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9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9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50"/>
                            </p:stCondLst>
                            <p:childTnLst>
                              <p:par>
                                <p:cTn id="71" presetID="10" presetClass="entr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2026-10-20T17:59:11Z</dcterms:created>
  <dcterms:modified xsi:type="dcterms:W3CDTF">2026-10-20T17:59:11Z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{"AIGC":{"Label":"1","ContentProducer":"00119111010856365494821B355","ProduceID":"01a158906a547da789097ef4982f80e2","ReservedCode1":"","ContentPropagator":"00119111010856365494821B355","PropagateID":"01a158906a547da789097ef4982f80e2","ReservedCode2":""}}</vt:lpwstr>
  </property>
</Properties>
</file>