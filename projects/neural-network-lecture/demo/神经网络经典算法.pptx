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12" Type="http://schemas.openxmlformats.org/officeDocument/2006/relationships/viewProps" Target="viewProps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&#10;    width: 1280,&#10;    height: 720,&#10;    position: 'relative',&#10;    overflow: 'hidden',&#10;    background: 'linear-gradient(120deg, #15296D 0%, #1E40AF 46%, #2563EB 100%)',&#10;    fontFamily: 'Sarasa Gothic SC',&#10;}}&gt;&#10;    {/* 顶部 12px 蓝→橙渐变顶栏 */}&#10;    &lt;Box style={{&#10;        position: 'absolute', top: 0, left: 0, width: 1280, height: 12,&#10;        background: 'linear-gradient(90deg, #2563EB 0%, #3B82F6 45%, #F59E0B 100%)',&#10;        zIndex: 20,&#10;    }} /&gt;&#10;&#10;    {/* 右侧 AI 插画面板 */}&#10;    &lt;Box style={{&#10;        position: 'absolute', top: 56, right: 56, width: 552, height: 608,&#10;        borderRadius: 20, overflow: 'hidden',&#10;        border: '1px solid rgba(255, 255, 255, 0.22)',&#10;        boxShadow: '0 24px 64px rgba(4, 10, 32, 0.45)',&#10;        zIndex: 2,&#10;    }}&gt;&#10;        &lt;Image&#10;            src='assets/cover_neural_art.png'&#10;            style={{ width: '100%', height: '100%', objectFit: 'cover' }}&#10;        /&gt;&#10;        {/* 图注条 */}&#10;        &lt;Box style={{&#10;            position: 'absolute', left: 0, right: 0, bottom: 0, height: 46,&#10;            background: 'rgba(8, 16, 42, 0.78)',&#10;            justifyContent: 'center', paddingLeft: 18, paddingRight: 18,&#10;        }}&gt;&#10;            &lt;Text style={{&#10;                fontSize: 12.5, color: 'rgba(255, 255, 255, 0.88)',&#10;                fontFamily: 'Sarasa Gothic SC', letterSpacing: 0.5,&#10;            }}&gt;&#10;                图：抽象神经网络拓扑 —— 节点为神经元，连线为可学习权重&#10;            &lt;/Text&gt;&#10;        &lt;/Box&gt;&#10;    &lt;/Box&gt;&#10;&#10;    {/* 左侧文字区 */}&#10;    &lt;Box style={{&#10;        position: 'absolute', top: 128, left: 72, width: 560,&#10;        display: 'flex', flexDirection: 'column',&#10;        zIndex: 5,&#10;    }}&gt;&#10;        &lt;Box style={{ flexDirection: 'row', alignItems: 'center', gap: 10 }}&gt;&#10;            &lt;Box style={{ width: 8, height: 8, borderRadius: 4, background: '#F59E0B' }} /&gt;&#10;            &lt;Text style={{&#10;                fontSize: 14, letterSpacing: 3, color: 'rgba(255, 255, 255, 0.78)',&#10;                fontFamily: 'Sarasa Gothic SC',&#10;            }}&gt;&#10;                学术报告讲义 · ACADEMIC REPORT&#10;            &lt;/Text&gt;&#10;        &lt;/Box&gt;&#10;&#10;        &lt;Text style={{&#10;            fontSize: 58, fontWeight: 'bold', color: '#FFFFFF',&#10;            fontFamily: 'Noto Serif SC', letterSpacing: 5, marginTop: 20,&#10;        }}&gt;&#10;            神经网络经典算法&#10;        &lt;/Text&gt;&#10;&#10;        &lt;Text style={{&#10;            fontSize: 24, fontStyle: 'italic', color: 'rgba(255, 255, 255, 0.85)',&#10;            fontFamily: 'Crimson Pro, serif', marginTop: 12, letterSpacing: 1,&#10;        }}&gt;&#10;            Classic Algorithms of Neural Networks&#10;        &lt;/Text&gt;&#10;&#10;        &lt;Box style={{&#10;            width: 64, height: 4, background: '#F59E0B', borderRadius: 2, marginTop: 20,&#10;        }} /&gt;&#10;&#10;        &lt;Text style={{&#10;            fontSize: 16, color: 'rgba(255, 255, 255, 0.72)', lineHeight: 1.7,&#10;            fontFamily: 'Sarasa Gothic SC', marginTop: 16,&#10;        }}&gt;&#10;            四种经典架构的原理、公式与取舍&lt;br /&gt;&#10;            从序列递归到全局注意的三十四年演进&#10;        &lt;/Text&gt;&#10;&#10;        {/* 四模型标签横排 */}&#10;        &lt;Box style={{&#10;            flexDirection: 'row', gap: 10, marginTop: 24, width: 560,&#10;        }}&gt;&#10;            &lt;Box style={{&#10;                flex: 1, height: 58, borderRadius: 10,&#10;                background: 'rgba(255, 255, 255, 0.10)',&#10;                border: '1px solid rgba(255, 255, 255, 0.28)',&#10;                alignItems: 'center', justifyContent: 'center',&#10;            }}&gt;&#10;                &lt;Text style={{ fontSize: 16, fontWeight: 'bold', color: '#FFFFFF', fontFamily: 'Crimson Pro, serif' }}&gt;RNN&lt;/Text&gt;&#10;                &lt;Text style={{ fontSize: 11, color: 'rgba(255,255,255,0.72)', fontFamily: 'Sarasa Gothic SC', marginTop: 2 }}&gt;循环神经网络&lt;/Text&gt;&#10;            &lt;/Box&gt;&#10;            &lt;Box style={{&#10;                flex: 1, height: 58, borderRadius: 10,&#10;                background: 'rgba(255, 255, 255, 0.10)',&#10;                border: '1px solid rgba(255, 255, 255, 0.28)',&#10;                alignItems: 'center', justifyContent: 'center',&#10;            }}&gt;&#10;                &lt;Text style={{ fontSize: 16, fontWeight: 'bold', color: '#FFFFFF', fontFamily: 'Crimson Pro, serif' }}&gt;LSTM&lt;/Text&gt;&#10;                &lt;Text style={{ fontSize: 11, color: 'rgba(255,255,255,0.72)', fontFamily: 'Sarasa Gothic SC', marginTop: 2 }}&gt;长短期记忆&lt;/Text&gt;&#10;            &lt;/Box&gt;&#10;            &lt;Box style={{&#10;                flex: 1, height: 58, borderRadius: 10,&#10;                background: 'rgba(255, 255, 255, 0.10)',&#10;                border: '1px solid rgba(255, 255, 255, 0.28)',&#10;                alignItems: 'center', justifyContent: 'center',&#10;            }}&gt;&#10;                &lt;Text style={{ fontSize: 16, fontWeight: 'bold', color: '#FFFFFF', fontFamily: 'Crimson Pro, serif' }}&gt;CNN&lt;/Text&gt;&#10;                &lt;Text style={{ fontSize: 11, color: 'rgba(255,255,255,0.72)', fontFamily: 'Sarasa Gothic SC', marginTop: 2 }}&gt;卷积神经网络&lt;/Text&gt;&#10;            &lt;/Box&gt;&#10;            &lt;Box style={{&#10;                flex: 1, height: 58, borderRadius: 10,&#10;                background: 'rgba(255, 255, 255, 0.10)',&#10;                border: '1px solid rgba(255, 255, 255, 0.28)',&#10;                alignItems: 'center', justifyContent: 'center',&#10;            }}&gt;&#10;                &lt;Text style={{ fontSize: 16, fontWeight: 'bold', color: '#FFFFFF', fontFamily: 'Crimson Pro, serif' }}&gt;Transformer&lt;/Text&gt;&#10;                &lt;Text style={{ fontSize: 11, color: 'rgba(255,255,255,0.72)', fontFamily: 'Sarasa Gothic SC', marginTop: 2 }}&gt;注意力架构&lt;/Text&gt;&#10;            &lt;/Box&gt;&#10;        &lt;/Box&gt;&#10;    &lt;/Box&gt;&#10;&#10;    {/* 左下：内容速览 + 信息条 */}&#10;    &lt;Box style={{&#10;        position: 'absolute', left: 72, bottom: 76, width: 560, zIndex: 5,&#10;    }}&gt;&#10;        &lt;Box style={{ width: '100%', height: 1, background: 'rgba(255, 255, 255, 0.22)' }} /&gt;&#10;        &lt;Box style={{ flexDirection: 'row', alignItems: 'center', gap: 8, marginTop: 14 }}&gt;&#10;            &lt;Text style={{ fontSize: 13, color: '#F59E0B', fontFamily: 'Crimson Pro, serif', fontWeight: 'bold', letterSpacing: 1 }}&gt;CONTENTS&lt;/Text&gt;&#10;            &lt;Text style={{ fontSize: 13, color: 'rgba(255,255,255,0.70)', fontFamily: 'Sarasa Gothic SC' }}&gt;&#10;                演进概览 · RNN · LSTM · CNN · Transformer · 对比总结&#10;            &lt;/Text&gt;&#10;        &lt;/Box&gt;&#10;    &lt;/Box&gt;&#10;&#10;    &lt;Box style={{&#10;        position: 'absolute', left: 72, bottom: 32, zIndex: 5,&#10;        flexDirection: 'row', alignItems: 'center', gap: 16,&#10;    }}&gt;&#10;        &lt;Text style={{&#10;            fontSize: 14, color: 'rgba(255, 255, 255, 0.66)',&#10;            fontFamily: 'Crimson Pro, serif', letterSpacing: 2,&#10;        }}&gt;&#10;            2026.10&#10;        &lt;/Text&gt;&#10;        &lt;Box style={{ width: 1, height: 14, background: 'rgba(255, 255, 255, 0.35)' }} /&gt;&#10;        &lt;Text style={{&#10;            fontSize: 13, color: 'rgba(255, 255, 255, 0.55)', fontFamily: 'Sarasa Gothic SC',&#10;        }}&gt;&#10;            封面插画由 AI 生成 · 抽象神经网络拓扑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296D"/>
              </a:gs>
              <a:gs pos="46000">
                <a:srgbClr val="1E40AF"/>
              </a:gs>
              <a:gs pos="100000">
                <a:srgbClr val="2563EB"/>
              </a:gs>
            </a:gsLst>
            <a:lin ang="18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400800" y="533400"/>
            <a:ext cx="5257800" cy="5791200"/>
          </a:xfrm>
          <a:prstGeom prst="roundRect">
            <a:avLst>
              <a:gd name="adj" fmla="val 3623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blurRad="609600" dist="228600" dir="5400000">
              <a:srgbClr val="040A20">
                <a:alpha val="45000"/>
              </a:srgbClr>
            </a:outerShdw>
          </a:effectLst>
        </p:spPr>
        <p:txBody>
          <a:bodyPr/>
          <a:p/>
        </p:txBody>
      </p:sp>
      <p:pic>
        <p:nvPicPr>
          <p:cNvPr id="4" name=""/>
          <p:cNvPicPr>
            <a:picLocks noChangeAspect="1"/>
          </p:cNvPicPr>
          <p:nvPr/>
        </p:nvPicPr>
        <p:blipFill>
          <a:blip r:embed="rId1"/>
          <a:srcRect l="0" t="5942" r="0" b="5942"/>
          <a:stretch>
            <a:fillRect/>
          </a:stretch>
        </p:blipFill>
        <p:spPr>
          <a:xfrm rot="0" flipH="0" flipV="0">
            <a:off x="6400800" y="533400"/>
            <a:ext cx="5257800" cy="5791200"/>
          </a:xfrm>
          <a:custGeom>
            <a:pathLst>
              <a:path w="552" h="608">
                <a:moveTo>
                  <a:pt x="533" y="0"/>
                </a:moveTo>
                <a:cubicBezTo>
                  <a:pt x="543" y="0"/>
                  <a:pt x="552" y="9"/>
                  <a:pt x="552" y="20"/>
                </a:cubicBezTo>
                <a:lnTo>
                  <a:pt x="552" y="588"/>
                </a:lnTo>
                <a:cubicBezTo>
                  <a:pt x="552" y="599"/>
                  <a:pt x="543" y="608"/>
                  <a:pt x="532" y="608"/>
                </a:cubicBezTo>
                <a:lnTo>
                  <a:pt x="20" y="608"/>
                </a:lnTo>
                <a:cubicBezTo>
                  <a:pt x="9" y="608"/>
                  <a:pt x="0" y="599"/>
                  <a:pt x="0" y="588"/>
                </a:cubicBezTo>
                <a:lnTo>
                  <a:pt x="0" y="20"/>
                </a:lnTo>
                <a:cubicBezTo>
                  <a:pt x="0" y="9"/>
                  <a:pt x="9" y="0"/>
                  <a:pt x="20" y="0"/>
                </a:cubicBezTo>
                <a:lnTo>
                  <a:pt x="532" y="0"/>
                </a:lnTo>
                <a:close/>
              </a:path>
            </a:pathLst>
          </a:custGeom>
          <a:ln/>
        </p:spPr>
      </p:pic>
      <p:sp>
        <p:nvSpPr>
          <p:cNvPr id="5" name=""/>
          <p:cNvSpPr/>
          <p:nvPr/>
        </p:nvSpPr>
        <p:spPr>
          <a:xfrm rot="0" flipH="0" flipV="0">
            <a:off x="6400800" y="5886450"/>
            <a:ext cx="5257800" cy="438150"/>
          </a:xfrm>
          <a:custGeom>
            <a:pathLst>
              <a:path w="552" h="46">
                <a:moveTo>
                  <a:pt x="552" y="26"/>
                </a:moveTo>
                <a:cubicBezTo>
                  <a:pt x="552" y="37"/>
                  <a:pt x="543" y="46"/>
                  <a:pt x="532" y="46"/>
                </a:cubicBezTo>
                <a:lnTo>
                  <a:pt x="20" y="46"/>
                </a:lnTo>
                <a:cubicBezTo>
                  <a:pt x="9" y="46"/>
                  <a:pt x="0" y="37"/>
                  <a:pt x="0" y="26"/>
                </a:cubicBezTo>
                <a:lnTo>
                  <a:pt x="0" y="0"/>
                </a:lnTo>
                <a:lnTo>
                  <a:pt x="552" y="0"/>
                </a:lnTo>
                <a:close/>
              </a:path>
            </a:pathLst>
          </a:custGeom>
          <a:solidFill>
            <a:srgbClr val="08102A">
              <a:alpha val="78000"/>
            </a:srgbClr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572250" y="6038850"/>
            <a:ext cx="4914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38">
                <a:solidFill>
                  <a:srgbClr val="FFFFFF">
                    <a:alpha val="88000"/>
                  </a:srgbClr>
                </a:solidFill>
                <a:latin typeface="Sarasa Gothic SC"/>
                <a:ea typeface="Sarasa Gothic SC"/>
              </a:rPr>
              <a:t>图：抽象神经网络拓扑</a:t>
            </a:r>
            <a:r>
              <a:rPr lang="en-US" sz="938" spc="38">
                <a:solidFill>
                  <a:srgbClr val="FFFFFF">
                    <a:alpha val="88000"/>
                  </a:srgbClr>
                </a:solidFill>
                <a:latin typeface="Sarasa Gothic SC"/>
                <a:ea typeface="Sarasa Gothic SC"/>
              </a:rPr>
              <a:t xml:space="preserve"> —— </a:t>
            </a:r>
            <a:r>
              <a:rPr lang="zh-CN" sz="938" spc="38">
                <a:solidFill>
                  <a:srgbClr val="FFFFFF">
                    <a:alpha val="88000"/>
                  </a:srgbClr>
                </a:solidFill>
                <a:latin typeface="Sarasa Gothic SC"/>
                <a:ea typeface="Sarasa Gothic SC"/>
              </a:rPr>
              <a:t>节点为神经元，连线为可学习权重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85800" y="1266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57250" y="12192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FFFFFF">
                    <a:alpha val="78000"/>
                  </a:srgbClr>
                </a:solidFill>
                <a:latin typeface="Sarasa Gothic SC"/>
                <a:ea typeface="Sarasa Gothic SC"/>
              </a:rPr>
              <a:t>学术报告讲义</a:t>
            </a:r>
            <a:r>
              <a:rPr lang="en-US" sz="1050" spc="225">
                <a:solidFill>
                  <a:srgbClr val="FFFFFF">
                    <a:alpha val="78000"/>
                  </a:srgbClr>
                </a:solidFill>
                <a:latin typeface="Sarasa Gothic SC"/>
                <a:ea typeface="Sarasa Gothic SC"/>
              </a:rPr>
              <a:t xml:space="preserve"> · ACADEMIC REPORT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85800" y="1571625"/>
            <a:ext cx="53340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350" b="1" spc="375">
                <a:solidFill>
                  <a:srgbClr val="FFFFFF"/>
                </a:solidFill>
                <a:latin typeface="Noto Serif SC"/>
                <a:ea typeface="Noto Serif SC"/>
              </a:rPr>
              <a:t>神经网络经典算法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85800" y="2352675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i="1" spc="75">
                <a:solidFill>
                  <a:srgbClr val="FFFFFF">
                    <a:alpha val="85000"/>
                  </a:srgbClr>
                </a:solidFill>
                <a:latin typeface="Crimson Pro"/>
                <a:ea typeface="Crimson Pro"/>
              </a:rPr>
              <a:t>Classic Algorithms of Neural Networks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85800" y="281940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85800" y="3009900"/>
            <a:ext cx="533400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FFFFFF">
                    <a:alpha val="72000"/>
                  </a:srgbClr>
                </a:solidFill>
                <a:latin typeface="Sarasa Gothic SC"/>
                <a:ea typeface="Sarasa Gothic SC"/>
              </a:rPr>
              <a:t>四种经典架构的原理、公式与取舍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FFFFFF">
                    <a:alpha val="72000"/>
                  </a:srgbClr>
                </a:solidFill>
                <a:latin typeface="Sarasa Gothic SC"/>
                <a:ea typeface="Sarasa Gothic SC"/>
              </a:rPr>
              <a:t>从序列递归到全局注意的三十四年演进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685800" y="3867150"/>
            <a:ext cx="1266825" cy="552450"/>
          </a:xfrm>
          <a:prstGeom prst="roundRect">
            <a:avLst>
              <a:gd name="adj" fmla="val 1724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133475" y="3971925"/>
            <a:ext cx="381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Crimson Pro"/>
                <a:ea typeface="Crimson Pro"/>
              </a:rPr>
              <a:t>RNN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009650" y="4181475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72000"/>
                  </a:srgbClr>
                </a:solidFill>
                <a:latin typeface="Sarasa Gothic SC"/>
                <a:ea typeface="Sarasa Gothic SC"/>
              </a:rPr>
              <a:t>循环神经网络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2047875" y="3867150"/>
            <a:ext cx="1257300" cy="552450"/>
          </a:xfrm>
          <a:prstGeom prst="roundRect">
            <a:avLst>
              <a:gd name="adj" fmla="val 1724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2447925" y="3971925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Crimson Pro"/>
                <a:ea typeface="Crimson Pro"/>
              </a:rPr>
              <a:t>LSTM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2419350" y="4181475"/>
            <a:ext cx="523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72000"/>
                  </a:srgbClr>
                </a:solidFill>
                <a:latin typeface="Sarasa Gothic SC"/>
                <a:ea typeface="Sarasa Gothic SC"/>
              </a:rPr>
              <a:t>长短期记忆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3400425" y="3867150"/>
            <a:ext cx="1266825" cy="552450"/>
          </a:xfrm>
          <a:prstGeom prst="roundRect">
            <a:avLst>
              <a:gd name="adj" fmla="val 1724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48100" y="3971925"/>
            <a:ext cx="371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Crimson Pro"/>
                <a:ea typeface="Crimson Pro"/>
              </a:rPr>
              <a:t>CNN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3724275" y="4181475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72000"/>
                  </a:srgbClr>
                </a:solidFill>
                <a:latin typeface="Sarasa Gothic SC"/>
                <a:ea typeface="Sarasa Gothic SC"/>
              </a:rPr>
              <a:t>卷积神经网络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4762500" y="3867150"/>
            <a:ext cx="1257300" cy="552450"/>
          </a:xfrm>
          <a:prstGeom prst="roundRect">
            <a:avLst>
              <a:gd name="adj" fmla="val 1724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4886325" y="3971925"/>
            <a:ext cx="1019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Crimson Pro"/>
                <a:ea typeface="Crimson Pro"/>
              </a:rPr>
              <a:t>Transformer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133975" y="4181475"/>
            <a:ext cx="523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72000"/>
                  </a:srgbClr>
                </a:solidFill>
                <a:latin typeface="Sarasa Gothic SC"/>
                <a:ea typeface="Sarasa Gothic SC"/>
              </a:rPr>
              <a:t>注意力架构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85800" y="5838825"/>
            <a:ext cx="5334000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85800" y="5981700"/>
            <a:ext cx="81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F59E0B"/>
                </a:solidFill>
                <a:latin typeface="Crimson Pro"/>
                <a:ea typeface="Crimson Pro"/>
              </a:rPr>
              <a:t>CONTENTS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581150" y="5981700"/>
            <a:ext cx="3038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0000"/>
                  </a:srgbClr>
                </a:solidFill>
                <a:latin typeface="Sarasa Gothic SC"/>
                <a:ea typeface="Sarasa Gothic SC"/>
              </a:rPr>
              <a:t>演进概览</a:t>
            </a:r>
            <a:r>
              <a:rPr lang="en-US" sz="975">
                <a:solidFill>
                  <a:srgbClr val="FFFFFF">
                    <a:alpha val="70000"/>
                  </a:srgbClr>
                </a:solidFill>
                <a:latin typeface="Sarasa Gothic SC"/>
                <a:ea typeface="Sarasa Gothic SC"/>
              </a:rPr>
              <a:t xml:space="preserve"> · RNN · LSTM · CNN · Transformer · </a:t>
            </a:r>
            <a:r>
              <a:rPr lang="zh-CN" sz="975">
                <a:solidFill>
                  <a:srgbClr val="FFFFFF">
                    <a:alpha val="70000"/>
                  </a:srgbClr>
                </a:solidFill>
                <a:latin typeface="Sarasa Gothic SC"/>
                <a:ea typeface="Sarasa Gothic SC"/>
              </a:rPr>
              <a:t>对比总结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85800" y="6391275"/>
            <a:ext cx="619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FFFFFF">
                    <a:alpha val="66000"/>
                  </a:srgbClr>
                </a:solidFill>
                <a:latin typeface="Crimson Pro"/>
                <a:ea typeface="Crimson Pro"/>
              </a:rPr>
              <a:t>2026.10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1457325" y="6410325"/>
            <a:ext cx="9525" cy="1333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619250" y="6400800"/>
            <a:ext cx="2181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55000"/>
                  </a:srgbClr>
                </a:solidFill>
                <a:latin typeface="Sarasa Gothic SC"/>
                <a:ea typeface="Sarasa Gothic SC"/>
              </a:rPr>
              <a:t>封面插画由</a:t>
            </a:r>
            <a:r>
              <a:rPr lang="en-US" sz="975">
                <a:solidFill>
                  <a:srgbClr val="FFFFFF">
                    <a:alpha val="55000"/>
                  </a:srgbClr>
                </a:solidFill>
                <a:latin typeface="Sarasa Gothic SC"/>
                <a:ea typeface="Sarasa Gothic SC"/>
              </a:rPr>
              <a:t xml:space="preserve"> AI </a:t>
            </a:r>
            <a:r>
              <a:rPr lang="zh-CN" sz="975">
                <a:solidFill>
                  <a:srgbClr val="FFFFFF">
                    <a:alpha val="55000"/>
                  </a:srgbClr>
                </a:solidFill>
                <a:latin typeface="Sarasa Gothic SC"/>
                <a:ea typeface="Sarasa Gothic SC"/>
              </a:rPr>
              <a:t>生成</a:t>
            </a:r>
            <a:r>
              <a:rPr lang="en-US" sz="975">
                <a:solidFill>
                  <a:srgbClr val="FFFFFF">
                    <a:alpha val="55000"/>
                  </a:srgbClr>
                </a:solidFill>
                <a:latin typeface="Sarasa Gothic SC"/>
                <a:ea typeface="Sarasa Gothic SC"/>
              </a:rPr>
              <a:t xml:space="preserve"> · </a:t>
            </a:r>
            <a:r>
              <a:rPr lang="zh-CN" sz="975">
                <a:solidFill>
                  <a:srgbClr val="FFFFFF">
                    <a:alpha val="55000"/>
                  </a:srgbClr>
                </a:solidFill>
                <a:latin typeface="Sarasa Gothic SC"/>
                <a:ea typeface="Sarasa Gothic SC"/>
              </a:rPr>
              <a:t>抽象神经网络拓扑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0" y="0"/>
            <a:ext cx="12192000" cy="114300"/>
          </a:xfrm>
          <a:prstGeom prst="rect">
            <a:avLst/>
          </a:prstGeom>
          <a:gradFill>
            <a:gsLst>
              <a:gs pos="0">
                <a:srgbClr val="2563EB"/>
              </a:gs>
              <a:gs pos="45000">
                <a:srgbClr val="3B82F6"/>
              </a:gs>
              <a:gs pos="100000">
                <a:srgbClr val="F59E0B"/>
              </a:gs>
            </a:gsLst>
            <a:lin ang="0" scaled="1"/>
          </a:gradFill>
          <a:ln/>
        </p:spPr>
        <p:txBody>
          <a:bodyPr/>
          <a:p/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2" name="" descr="&lt;Slide style={{&#10;    width: 1280,&#10;    height: 720,&#10;    position: 'relative',&#10;    background: '#F5F7FC',&#10;    fontFamily: 'Sarasa Gothic SC',&#10;    padding: 0,&#10;}}&gt;&#10;    {/* 顶部 12px 蓝→橙渐变顶栏 */}&#10;    &lt;Box style={{&#10;        position: 'absolute', top: 0, left: 0, width: 1280, height: 12,&#10;        background: 'linear-gradient(90deg, #2563EB 0%, #3B82F6 45%, #F59E0B 100%)',&#10;        zIndex: 20,&#10;    }} /&gt;&#10;&#10;    {/* 页眉 */}&#10;    &lt;Box style={{ position: 'absolute', top: 36, left: 40, width: 1200 }}&gt;&#10;        &lt;Box style={{ flexDirection: 'row', alignItems: 'center', gap: 10 }}&gt;&#10;            &lt;Box style={{ width: 8, height: 8, background: '#EA580C' }} /&gt;&#10;            &lt;Text style={{&#10;                fontSize: 13, letterSpacing: 3, color: '#EA580C',&#10;                fontFamily: 'Crimson Pro, serif', fontWeight: 'bold',&#10;            }}&gt;&#10;                PART 01 · OVERVIEW&#10;            &lt;/Text&gt;&#10;        &lt;/Box&gt;&#10;        &lt;Text style={{&#10;            fontSize: 30, fontWeight: 'bold', color: '#15296D',&#10;            fontFamily: 'Noto Serif SC', marginTop: 8, letterSpacing: 1,&#10;        }}&gt;&#10;            演进脉络 · 从递归到注意&#10;        &lt;/Text&gt;&#10;        &lt;Text style={{&#10;            fontSize: 15, fontStyle: 'italic', color: '#64748B',&#10;            fontFamily: 'Crimson Pro, serif', marginTop: 4,&#10;        }}&gt;&#10;            From Recursion to Attention — Four Milestones, 1986–2017&#10;        &lt;/Text&gt;&#10;    &lt;/Box&gt;&#10;&#10;    {/* 时间轴主线 + 年份节点 */}&#10;    &lt;Box style={{ position: 'absolute', top: 150, left: 40, width: 1200, height: 64 }}&gt;&#10;        &lt;Box style={{&#10;            position: 'absolute', top: 50, left: 0, width: 1200, height: 2,&#10;            background: 'linear-gradient(90deg, #2563EB 0%, #3B82F6 60%, #F59E0B 100%)',&#10;        }} /&gt;&#10;        {[&#10;            { year: '1986', x: 130 },&#10;            { year: '1997', x: 443 },&#10;            { year: '1998', x: 757 },&#10;            { year: '2017', x: 1070, hot: true },&#10;        ].map((n, i) =&gt; (&#10;            &lt;Box key={i} style={{ position: 'absolute', top: 0, left: n.x - 60, width: 120, height: 64, alignItems: 'center' }}&gt;&#10;                &lt;Text style={{&#10;                    fontSize: 34, fontWeight: 'bold',&#10;                    color: n.hot ? '#EA580C' : '#15296D',&#10;                    fontFamily: 'Crimson Pro, serif', letterSpacing: 1,&#10;                }}&gt;&#10;                    {n.year}&#10;                &lt;/Text&gt;&#10;                &lt;Box style={{&#10;                    width: n.hot ? 16 : 12, height: n.hot ? 16 : 12, borderRadius: 8,&#10;                    background: n.hot ? '#F59E0B' : '#2563EB', marginTop: 2,&#10;                    border: '2px solid #F5F7FC',&#10;                }} /&gt;&#10;            &lt;/Box&gt;&#10;        ))}&#10;    &lt;/Box&gt;&#10;&#10;    {/* 四张里程碑卡片 */}&#10;    &lt;Box style={{&#10;        position: 'absolute', top: 222, left: 40, width: 1200, height: 344,&#10;        flexDirection: 'row', gap: 20,&#10;    }}&gt;&#10;        {/* 卡片 1 · 1986 RNN */}&#10;        &lt;Box style={{&#10;            flex: 1, background: '#FFFFFF', borderRadius: 12, border: '1px solid #E2E8F0',&#10;            padding: 18, justifyContent: 'space-between',&#10;        }}&gt;&#10;            &lt;Box&gt;&#10;                &lt;Box style={{ width: 40, height: 4, background: '#2563EB', borderRadius: 2 }} /&gt;&#10;                &lt;Text style={{ fontSize: 23, fontWeight: 'bold', color: '#1E40AF', fontFamily: 'Crimson Pro, serif', marginTop: 12 }}&gt;&#10;                    RNN&#10;                &lt;/Text&gt;&#10;                &lt;Text style={{ fontSize: 17, fontWeight: 'bold', color: '#1E293B', fontFamily: 'Noto Serif SC', marginTop: 2 }}&gt;&#10;                    循环神经网络&#10;                &lt;/Text&gt;&#10;                &lt;Text style={{ fontSize: 13.5, color: '#64748B', lineHeight: 1.65, marginTop: 10 }}&gt;&#10;                    Rumelhart、Hinton 与 Williams 发表反向传播算法，循环网络获得可训练的梯度基础，BPTT 随之成型。&#10;                &lt;/Text&gt;&#10;            &lt;/Box&gt;&#10;            &lt;Box&gt;&#10;                &lt;Box style={{ flexDirection: 'row', gap: 6, flexWrap: 'wrap' }}&gt;&#10;                    &lt;Box style={{ background: '#EFF6FF', borderRadius: 4, paddingTop: 3, paddingBottom: 3, paddingLeft: 8, paddingRight: 8 }}&gt;&#10;                        &lt;Text style={{ fontSize: 11.5, color: '#1E40AF', fontFamily: 'Sarasa Gothic SC' }}&gt;时间步展开&lt;/Text&gt;&#10;                    &lt;/Box&gt;&#10;                    &lt;Box style={{ background: '#EFF6FF', borderRadius: 4, paddingTop: 3, paddingBottom: 3, paddingLeft: 8, paddingRight: 8 }}&gt;&#10;                        &lt;Text style={{ fontSize: 11.5, color: '#1E40AF', fontFamily: 'Sarasa Gothic SC' }}&gt;权重共享&lt;/Text&gt;&#10;                    &lt;/Box&gt;&#10;                    &lt;Box style={{ background: '#EFF6FF', borderRadius: 4, paddingTop: 3, paddingBottom: 3, paddingLeft: 8, paddingRight: 8 }}&gt;&#10;                        &lt;Text style={{ fontSize: 11.5, color: '#1E40AF', fontFamily: 'Sarasa Gothic SC' }}&gt;BPTT&lt;/Text&gt;&#10;                    &lt;/Box&gt;&#10;                &lt;/Box&gt;&#10;                &lt;Text style={{ fontSize: 12, fontStyle: 'italic', color: '#94A3B8', fontFamily: 'Crimson Pro, serif', marginTop: 10 }}&gt;&#10;                    Nature, 1986&#10;                &lt;/Text&gt;&#10;            &lt;/Box&gt;&#10;        &lt;/Box&gt;&#10;&#10;        {/* 卡片 2 · 1997 LSTM */}&#10;        &lt;Box style={{&#10;            flex: 1, background: '#FFFFFF', borderRadius: 12, border: '1px solid #E2E8F0',&#10;            padding: 18, justifyContent: 'space-between',&#10;        }}&gt;&#10;            &lt;Box&gt;&#10;                &lt;Box style={{ width: 40, height: 4, background: '#2563EB', borderRadius: 2 }} /&gt;&#10;                &lt;Text style={{ fontSize: 23, fontWeight: 'bold', color: '#1E40AF', fontFamily: 'Crimson Pro, serif', marginTop: 12 }}&gt;&#10;                    LSTM&#10;                &lt;/Text&gt;&#10;                &lt;Text style={{ fontSize: 17, fontWeight: 'bold', color: '#1E293B', fontFamily: 'Noto Serif SC', marginTop: 2 }}&gt;&#10;                    长短期记忆网络&#10;                &lt;/Text&gt;&#10;                &lt;Text style={{ fontSize: 13.5, color: '#64748B', lineHeight: 1.65, marginTop: 10 }}&gt;&#10;                    Hochreiter 与 Schmidhuber 以门控和细胞状态对抗梯度消失，首次让百步量级的依赖可被学习。&#10;                &lt;/Text&gt;&#10;            &lt;/Box&gt;&#10;            &lt;Box&gt;&#10;                &lt;Box style={{ flexDirection: 'row', gap: 6, flexWrap: 'wrap' }}&gt;&#10;                    &lt;Box style={{ background: '#EFF6FF', borderRadius: 4, paddingTop: 3, paddingBottom: 3, paddingLeft: 8, paddingRight: 8 }}&gt;&#10;                        &lt;Text style={{ fontSize: 11.5, color: '#1E40AF', fontFamily: 'Sarasa Gothic SC' }}&gt;门控机制&lt;/Text&gt;&#10;                    &lt;/Box&gt;&#10;                    &lt;Box style={{ background: '#EFF6FF', borderRadius: 4, paddingTop: 3, paddingBottom: 3, paddingLeft: 8, paddingRight: 8 }}&gt;&#10;                        &lt;Text style={{ fontSize: 11.5, color: '#1E40AF', fontFamily: 'Sarasa Gothic SC' }}&gt;细胞状态&lt;/Text&gt;&#10;                    &lt;/Box&gt;&#10;                    &lt;Box style={{ background: '#EFF6FF', borderRadius: 4, paddingTop: 3, paddingBottom: 3, paddingLeft: 8, paddingRight: 8 }}&gt;&#10;                        &lt;Text style={{ fontSize: 11.5, color: '#1E40AF', fontFamily: 'Sarasa Gothic SC' }}&gt;长程依赖&lt;/Text&gt;&#10;                    &lt;/Box&gt;&#10;                &lt;/Box&gt;&#10;                &lt;Text style={{ fontSize: 12, fontStyle: 'italic', color: '#94A3B8', fontFamily: 'Crimson Pro, serif', marginTop: 10 }}&gt;&#10;                    Neural Computation, 1997&#10;                &lt;/Text&gt;&#10;            &lt;/Box&gt;&#10;        &lt;/Box&gt;&#10;&#10;        {/* 卡片 3 · 1998 CNN */}&#10;        &lt;Box style={{&#10;            flex: 1, background: '#FFFFFF', borderRadius: 12, border: '1px solid #E2E8F0',&#10;            padding: 18, justifyContent: 'space-between',&#10;        }}&gt;&#10;            &lt;Box&gt;&#10;                &lt;Box style={{ width: 40, height: 4, background: '#2563EB', borderRadius: 2 }} /&gt;&#10;                &lt;Text style={{ fontSize: 23, fontWeight: 'bold', color: '#1E40AF', fontFamily: 'Crimson Pro, serif', marginTop: 12 }}&gt;&#10;                    CNN&#10;                &lt;/Text&gt;&#10;                &lt;Text style={{ fontSize: 17, fontWeight: 'bold', color: '#1E293B', fontFamily: 'Noto Serif SC', marginTop: 2 }}&gt;&#10;                    卷积神经网络 · LeNet-5&#10;                &lt;/Text&gt;&#10;                &lt;Text style={{ fontSize: 13.5, color: '#64748B', lineHeight: 1.65, marginTop: 10 }}&gt;&#10;                    LeCun 等用梯度学习训练卷积网络完成文档识别，「卷积 + 池化」的层次特征范式自此确立。&#10;                &lt;/Text&gt;&#10;            &lt;/Box&gt;&#10;            &lt;Box&gt;&#10;                &lt;Box style={{ flexDirection: 'row', gap: 6, flexWrap: 'wrap' }}&gt;&#10;                    &lt;Box style={{ background: '#EFF6FF', borderRadius: 4, paddingTop: 3, paddingBottom: 3, paddingLeft: 8, paddingRight: 8 }}&gt;&#10;                        &lt;Text style={{ fontSize: 11.5, color: '#1E40AF', fontFamily: 'Sarasa Gothic SC' }}&gt;局部感受野&lt;/Text&gt;&#10;                    &lt;/Box&gt;&#10;                    &lt;Box style={{ background: '#EFF6FF', borderRadius: 4, paddingTop: 3, paddingBottom: 3, paddingLeft: 8, paddingRight: 8 }}&gt;&#10;                        &lt;Text style={{ fontSize: 11.5, color: '#1E40AF', fontFamily: 'Sarasa Gothic SC' }}&gt;权重共享&lt;/Text&gt;&#10;                    &lt;/Box&gt;&#10;                    &lt;Box style={{ background: '#EFF6FF', borderRadius: 4, paddingTop: 3, paddingBottom: 3, paddingLeft: 8, paddingRight: 8 }}&gt;&#10;                        &lt;Text style={{ fontSize: 11.5, color: '#1E40AF', fontFamily: 'Sarasa Gothic SC' }}&gt;层次特征&lt;/Text&gt;&#10;                    &lt;/Box&gt;&#10;                &lt;/Box&gt;&#10;                &lt;Text style={{ fontSize: 12, fontStyle: 'italic', color: '#94A3B8', fontFamily: 'Crimson Pro, serif', marginTop: 10 }}&gt;&#10;                    Proc. IEEE, 1998&#10;                &lt;/Text&gt;&#10;            &lt;/Box&gt;&#10;        &lt;/Box&gt;&#10;&#10;        {/* 卡片 4 · 2017 Transformer */}&#10;        &lt;Box style={{&#10;            flex: 1, background: '#FFFFFF', borderRadius: 12, border: '1px solid #E2E8F0',&#10;            boxShadow: '0 6px 20px rgba(21, 41, 109, 0.10)',&#10;            padding: 18, justifyContent: 'space-between',&#10;        }}&gt;&#10;            &lt;Box&gt;&#10;                &lt;Box style={{ width: 40, height: 4, background: '#EA580C', borderRadius: 2 }} /&gt;&#10;                &lt;Text style={{ fontSize: 23, fontWeight: 'bold', color: '#1E40AF', fontFamily: 'Crimson Pro, serif', marginTop: 12 }}&gt;&#10;                    Transformer&#10;                &lt;/Text&gt;&#10;                &lt;Text style={{ fontSize: 17, fontWeight: 'bold', color: '#1E293B', fontFamily: 'Noto Serif SC', marginTop: 2 }}&gt;&#10;                    注意力架构&#10;                &lt;/Text&gt;&#10;                &lt;Text style={{ fontSize: 13.5, color: '#64748B', lineHeight: 1.65, marginTop: 10 }}&gt;&#10;                    Vaswani 等完全摒弃递归与卷积，仅以自注意力建模序列，成为此后大模型的共同架构底座。&#10;                &lt;/Text&gt;&#10;            &lt;/Box&gt;&#10;            &lt;Box&gt;&#10;                &lt;Box style={{ flexDirection: 'row', gap: 6, flexWrap: 'wrap' }}&gt;&#10;                    &lt;Box style={{ background: '#FFF7ED', borderRadius: 4, paddingTop: 3, paddingBottom: 3, paddingLeft: 8, paddingRight: 8 }}&gt;&#10;                        &lt;Text style={{ fontSize: 11.5, color: '#EA580C', fontFamily: 'Sarasa Gothic SC' }}&gt;自注意力&lt;/Text&gt;&#10;                    &lt;/Box&gt;&#10;                    &lt;Box style={{ background: '#FFF7ED', borderRadius: 4, paddingTop: 3, paddingBottom: 3, paddingLeft: 8, paddingRight: 8 }}&gt;&#10;                        &lt;Text style={{ fontSize: 11.5, color: '#EA580C', fontFamily: 'Sarasa Gothic SC' }}&gt;位置编码&lt;/Text&gt;&#10;                    &lt;/Box&gt;&#10;                    &lt;Box style={{ background: '#FFF7ED', borderRadius: 4, paddingTop: 3, paddingBottom: 3, paddingLeft: 8, paddingRight: 8 }}&gt;&#10;                        &lt;Text style={{ fontSize: 11.5, color: '#EA580C', fontFamily: 'Sarasa Gothic SC' }}&gt;全局建模&lt;/Text&gt;&#10;                    &lt;/Box&gt;&#10;                &lt;/Box&gt;&#10;                &lt;Text style={{ fontSize: 12, fontStyle: 'italic', color: '#94A3B8', fontFamily: 'Crimson Pro, serif', marginTop: 10 }}&gt;&#10;                    NeurIPS, 2017&#10;                &lt;/Text&gt;&#10;            &lt;/Box&gt;&#10;        &lt;/Box&gt;&#10;    &lt;/Box&gt;&#10;&#10;    {/* 底部结论条 */}&#10;    &lt;Box style={{&#10;        position: 'absolute', top: 582, left: 40, width: 1200, height: 66,&#10;        background: '#EFF6FF', borderLeft: '4px solid #F59E0B', borderRadius: 8,&#10;        justifyContent: 'center', paddingLeft: 18, paddingRight: 18,&#10;    }}&gt;&#10;        &lt;Text style={{ fontSize: 15.5, color: '#1E293B', lineHeight: 1.5 }}&gt;&#10;            &lt;span style={{ fontWeight: 'bold', color: '#15296D' }}&gt;演进逻辑：&lt;/span&gt;&#10;            序列递归 &lt;span style={{ color: '#EA580C', fontWeight: 'bold' }}&gt;→&lt;/span&gt; 门控记忆 &lt;span style={{ color: '#EA580C', fontWeight: 'bold' }}&gt;→&lt;/span&gt; 局部卷积 &lt;span style={{ color: '#EA580C', fontWeight: 'bold' }}&gt;→&lt;/span&gt; 全局注意——三十年竞争的实质是&#10;            &lt;span style={{ fontWeight: 'bold', color: '#1E40AF' }}&gt;归纳偏置的迁移&lt;/span&gt;，而非单纯的精度叠加。&#10;        &lt;/Text&gt;&#10;    &lt;/Box&gt;&#10;&#10;    {/* 页脚 */}&#10;    &lt;Box style={{&#10;        position: 'absolute', top: 668, left: 40, width: 1200, height: 28,&#10;        flexDirection: 'row', justifyContent: 'space-between', alignItems: 'center',&#10;        borderTop: '1px solid #E2E8F0',&#10;    }}&gt;&#10;        &lt;Text style={{ fontSize: 12, color: '#94A3B8', fontFamily: 'Sarasa Gothic SC' }}&gt;&#10;            神经网络经典算法 · 学术报告讲义&#10;        &lt;/Text&gt;&#10;        &lt;Text style={{ fontSize: 13, color: '#1E40AF', fontFamily: 'Crimson Pro, serif', letterSpacing: 1 }}&gt;&#10;            02 / 08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381000" y="381000"/>
            <a:ext cx="76200" cy="762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52450" y="342900"/>
            <a:ext cx="1933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EA580C"/>
                </a:solidFill>
                <a:latin typeface="Crimson Pro"/>
                <a:ea typeface="Crimson Pro"/>
              </a:rPr>
              <a:t>PART 01 · OVERVIEW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381000" y="571500"/>
            <a:ext cx="11430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 spc="75">
                <a:solidFill>
                  <a:srgbClr val="15296D"/>
                </a:solidFill>
                <a:latin typeface="Noto Serif SC"/>
                <a:ea typeface="Noto Serif SC"/>
              </a:rPr>
              <a:t>演进脉络</a:t>
            </a:r>
            <a:r>
              <a:rPr lang="en-US" sz="2250" b="1" spc="75">
                <a:solidFill>
                  <a:srgbClr val="15296D"/>
                </a:solidFill>
                <a:latin typeface="Noto Serif SC"/>
                <a:ea typeface="Noto Serif SC"/>
              </a:rPr>
              <a:t xml:space="preserve"> · </a:t>
            </a:r>
            <a:r>
              <a:rPr lang="zh-CN" sz="2250" b="1" spc="75">
                <a:solidFill>
                  <a:srgbClr val="15296D"/>
                </a:solidFill>
                <a:latin typeface="Noto Serif SC"/>
                <a:ea typeface="Noto Serif SC"/>
              </a:rPr>
              <a:t>从递归到注意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81000" y="952500"/>
            <a:ext cx="1143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i="1">
                <a:solidFill>
                  <a:srgbClr val="64748B"/>
                </a:solidFill>
                <a:latin typeface="Crimson Pro"/>
                <a:ea typeface="Crimson Pro"/>
              </a:rPr>
              <a:t>From Recursion to Attention — Four Milestones, 1986–2017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381000" y="1905000"/>
            <a:ext cx="11430000" cy="19050"/>
          </a:xfrm>
          <a:prstGeom prst="rect">
            <a:avLst/>
          </a:prstGeom>
          <a:gradFill>
            <a:gsLst>
              <a:gs pos="0">
                <a:srgbClr val="2563EB"/>
              </a:gs>
              <a:gs pos="60000">
                <a:srgbClr val="3B82F6"/>
              </a:gs>
              <a:gs pos="100000">
                <a:srgbClr val="F59E0B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200150" y="1428750"/>
            <a:ext cx="838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75">
                <a:solidFill>
                  <a:srgbClr val="15296D"/>
                </a:solidFill>
                <a:latin typeface="Crimson Pro"/>
                <a:ea typeface="Crimson Pro"/>
              </a:rPr>
              <a:t>1986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1562100" y="1838325"/>
            <a:ext cx="114300" cy="114300"/>
          </a:xfrm>
          <a:prstGeom prst="roundRect">
            <a:avLst>
              <a:gd name="adj" fmla="val 66667"/>
            </a:avLst>
          </a:prstGeom>
          <a:solidFill>
            <a:srgbClr val="2563EB"/>
          </a:solidFill>
          <a:ln w="25400">
            <a:solidFill>
              <a:srgbClr val="F5F7FC"/>
            </a:solidFill>
            <a:prstDash val="solid"/>
          </a:ln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200525" y="1428750"/>
            <a:ext cx="800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75">
                <a:solidFill>
                  <a:srgbClr val="15296D"/>
                </a:solidFill>
                <a:latin typeface="Crimson Pro"/>
                <a:ea typeface="Crimson Pro"/>
              </a:rPr>
              <a:t>1997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4543425" y="1838325"/>
            <a:ext cx="114300" cy="114300"/>
          </a:xfrm>
          <a:prstGeom prst="roundRect">
            <a:avLst>
              <a:gd name="adj" fmla="val 66667"/>
            </a:avLst>
          </a:prstGeom>
          <a:solidFill>
            <a:srgbClr val="2563EB"/>
          </a:solidFill>
          <a:ln w="25400">
            <a:solidFill>
              <a:srgbClr val="F5F7FC"/>
            </a:solidFill>
            <a:prstDash val="solid"/>
          </a:ln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172325" y="1428750"/>
            <a:ext cx="838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75">
                <a:solidFill>
                  <a:srgbClr val="15296D"/>
                </a:solidFill>
                <a:latin typeface="Crimson Pro"/>
                <a:ea typeface="Crimson Pro"/>
              </a:rPr>
              <a:t>1998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7534275" y="1838325"/>
            <a:ext cx="114300" cy="114300"/>
          </a:xfrm>
          <a:prstGeom prst="roundRect">
            <a:avLst>
              <a:gd name="adj" fmla="val 66667"/>
            </a:avLst>
          </a:prstGeom>
          <a:solidFill>
            <a:srgbClr val="2563EB"/>
          </a:solidFill>
          <a:ln w="25400">
            <a:solidFill>
              <a:srgbClr val="F5F7FC"/>
            </a:solidFill>
            <a:prstDash val="solid"/>
          </a:ln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0172700" y="1428750"/>
            <a:ext cx="8096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75">
                <a:solidFill>
                  <a:srgbClr val="EA580C"/>
                </a:solidFill>
                <a:latin typeface="Crimson Pro"/>
                <a:ea typeface="Crimson Pro"/>
              </a:rPr>
              <a:t>2017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10496550" y="18383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25400">
            <a:solidFill>
              <a:srgbClr val="F5F7FC"/>
            </a:solidFill>
            <a:prstDash val="solid"/>
          </a:ln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381000" y="2114550"/>
            <a:ext cx="2714625" cy="32766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552450" y="22860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52450" y="2438400"/>
            <a:ext cx="23717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1E40AF"/>
                </a:solidFill>
                <a:latin typeface="Crimson Pro"/>
                <a:ea typeface="Crimson Pro"/>
              </a:rPr>
              <a:t>RNN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552450" y="2724150"/>
            <a:ext cx="2371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293B"/>
                </a:solidFill>
                <a:latin typeface="Noto Serif SC"/>
                <a:ea typeface="Noto Serif SC"/>
              </a:rPr>
              <a:t>循环神经网络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52450" y="3019425"/>
            <a:ext cx="237172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13">
                <a:solidFill>
                  <a:srgbClr val="64748B"/>
                </a:solidFill>
                <a:latin typeface="Sarasa Gothic SC"/>
                <a:ea typeface="Sarasa Gothic SC"/>
              </a:rPr>
              <a:t>Rumelhart</a:t>
            </a:r>
            <a:r>
              <a:rPr lang="zh-CN" sz="1013">
                <a:solidFill>
                  <a:srgbClr val="64748B"/>
                </a:solidFill>
                <a:latin typeface="Sarasa Gothic SC"/>
                <a:ea typeface="Sarasa Gothic SC"/>
              </a:rPr>
              <a:t>、</a:t>
            </a:r>
            <a:r>
              <a:rPr lang="en-US" sz="1013">
                <a:solidFill>
                  <a:srgbClr val="64748B"/>
                </a:solidFill>
                <a:latin typeface="Sarasa Gothic SC"/>
                <a:ea typeface="Sarasa Gothic SC"/>
              </a:rPr>
              <a:t xml:space="preserve">Hinton </a:t>
            </a:r>
            <a:r>
              <a:rPr lang="zh-CN" sz="1013">
                <a:solidFill>
                  <a:srgbClr val="64748B"/>
                </a:solidFill>
                <a:latin typeface="Sarasa Gothic SC"/>
                <a:ea typeface="Sarasa Gothic SC"/>
              </a:rPr>
              <a:t>与</a:t>
            </a:r>
            <a:r>
              <a:rPr lang="en-US" sz="1013">
                <a:solidFill>
                  <a:srgbClr val="64748B"/>
                </a:solidFill>
                <a:latin typeface="Sarasa Gothic SC"/>
                <a:ea typeface="Sarasa Gothic SC"/>
              </a:rPr>
              <a:t xml:space="preserve"> Williams </a:t>
            </a:r>
            <a:r>
              <a:rPr lang="zh-CN" sz="1013">
                <a:solidFill>
                  <a:srgbClr val="64748B"/>
                </a:solidFill>
                <a:latin typeface="Sarasa Gothic SC"/>
                <a:ea typeface="Sarasa Gothic SC"/>
              </a:rPr>
              <a:t>发表反向传播算法，循环网络获得可训练的梯度基础，</a:t>
            </a:r>
            <a:r>
              <a:rPr lang="en-US" sz="1013">
                <a:solidFill>
                  <a:srgbClr val="64748B"/>
                </a:solidFill>
                <a:latin typeface="Sarasa Gothic SC"/>
                <a:ea typeface="Sarasa Gothic SC"/>
              </a:rPr>
              <a:t xml:space="preserve">BPTT </a:t>
            </a:r>
            <a:r>
              <a:rPr lang="zh-CN" sz="1013">
                <a:solidFill>
                  <a:srgbClr val="64748B"/>
                </a:solidFill>
                <a:latin typeface="Sarasa Gothic SC"/>
                <a:ea typeface="Sarasa Gothic SC"/>
              </a:rPr>
              <a:t>随之成型。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552450" y="4791075"/>
            <a:ext cx="704850" cy="1905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28650" y="4819650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1E40AF"/>
                </a:solidFill>
                <a:latin typeface="Sarasa Gothic SC"/>
                <a:ea typeface="Sarasa Gothic SC"/>
              </a:rPr>
              <a:t>时间步展开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1314450" y="4791075"/>
            <a:ext cx="590550" cy="1905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390650" y="4819650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1E40AF"/>
                </a:solidFill>
                <a:latin typeface="Sarasa Gothic SC"/>
                <a:ea typeface="Sarasa Gothic SC"/>
              </a:rPr>
              <a:t>权重共享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1962150" y="4791075"/>
            <a:ext cx="400050" cy="1905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2038350" y="4819650"/>
            <a:ext cx="247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1E40AF"/>
                </a:solidFill>
                <a:latin typeface="Sarasa Gothic SC"/>
                <a:ea typeface="Sarasa Gothic SC"/>
              </a:rPr>
              <a:t>BPTT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52450" y="5076825"/>
            <a:ext cx="2371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i="1">
                <a:solidFill>
                  <a:srgbClr val="94A3B8"/>
                </a:solidFill>
                <a:latin typeface="Crimson Pro"/>
                <a:ea typeface="Crimson Pro"/>
              </a:rPr>
              <a:t>Nature, 1986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3286125" y="2114550"/>
            <a:ext cx="2714625" cy="32766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3457575" y="22860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457575" y="2438400"/>
            <a:ext cx="23717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1E40AF"/>
                </a:solidFill>
                <a:latin typeface="Crimson Pro"/>
                <a:ea typeface="Crimson Pro"/>
              </a:rPr>
              <a:t>LSTM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457575" y="2724150"/>
            <a:ext cx="2371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293B"/>
                </a:solidFill>
                <a:latin typeface="Noto Serif SC"/>
                <a:ea typeface="Noto Serif SC"/>
              </a:rPr>
              <a:t>长短期记忆网络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3457575" y="3019425"/>
            <a:ext cx="237172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13">
                <a:solidFill>
                  <a:srgbClr val="64748B"/>
                </a:solidFill>
                <a:latin typeface="Sarasa Gothic SC"/>
                <a:ea typeface="Sarasa Gothic SC"/>
              </a:rPr>
              <a:t xml:space="preserve">Hochreiter </a:t>
            </a:r>
            <a:r>
              <a:rPr lang="zh-CN" sz="1013">
                <a:solidFill>
                  <a:srgbClr val="64748B"/>
                </a:solidFill>
                <a:latin typeface="Sarasa Gothic SC"/>
                <a:ea typeface="Sarasa Gothic SC"/>
              </a:rPr>
              <a:t>与</a:t>
            </a:r>
            <a:r>
              <a:rPr lang="en-US" sz="1013">
                <a:solidFill>
                  <a:srgbClr val="64748B"/>
                </a:solidFill>
                <a:latin typeface="Sarasa Gothic SC"/>
                <a:ea typeface="Sarasa Gothic SC"/>
              </a:rPr>
              <a:t xml:space="preserve"> Schmidhuber </a:t>
            </a:r>
            <a:r>
              <a:rPr lang="zh-CN" sz="1013">
                <a:solidFill>
                  <a:srgbClr val="64748B"/>
                </a:solidFill>
                <a:latin typeface="Sarasa Gothic SC"/>
                <a:ea typeface="Sarasa Gothic SC"/>
              </a:rPr>
              <a:t>以门控和细胞状态对抗梯度消失，首次让百步量级的依赖可被学习。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3457575" y="4791075"/>
            <a:ext cx="590550" cy="1905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3533775" y="4819650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1E40AF"/>
                </a:solidFill>
                <a:latin typeface="Sarasa Gothic SC"/>
                <a:ea typeface="Sarasa Gothic SC"/>
              </a:rPr>
              <a:t>门控机制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4105275" y="4791075"/>
            <a:ext cx="590550" cy="1905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181475" y="4819650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1E40AF"/>
                </a:solidFill>
                <a:latin typeface="Sarasa Gothic SC"/>
                <a:ea typeface="Sarasa Gothic SC"/>
              </a:rPr>
              <a:t>细胞状态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4752975" y="4791075"/>
            <a:ext cx="590550" cy="1905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829175" y="4819650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1E40AF"/>
                </a:solidFill>
                <a:latin typeface="Sarasa Gothic SC"/>
                <a:ea typeface="Sarasa Gothic SC"/>
              </a:rPr>
              <a:t>长程依赖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3457575" y="5076825"/>
            <a:ext cx="2371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i="1">
                <a:solidFill>
                  <a:srgbClr val="94A3B8"/>
                </a:solidFill>
                <a:latin typeface="Crimson Pro"/>
                <a:ea typeface="Crimson Pro"/>
              </a:rPr>
              <a:t>Neural Computation, 1997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191250" y="2114550"/>
            <a:ext cx="2714625" cy="32766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6362700" y="22860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362700" y="2438400"/>
            <a:ext cx="23717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1E40AF"/>
                </a:solidFill>
                <a:latin typeface="Crimson Pro"/>
                <a:ea typeface="Crimson Pro"/>
              </a:rPr>
              <a:t>CNN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362700" y="2724150"/>
            <a:ext cx="2371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293B"/>
                </a:solidFill>
                <a:latin typeface="Noto Serif SC"/>
                <a:ea typeface="Noto Serif SC"/>
              </a:rPr>
              <a:t>卷积神经网络</a:t>
            </a:r>
            <a:r>
              <a:rPr lang="en-US" sz="1275" b="1">
                <a:solidFill>
                  <a:srgbClr val="1E293B"/>
                </a:solidFill>
                <a:latin typeface="Noto Serif SC"/>
                <a:ea typeface="Noto Serif SC"/>
              </a:rPr>
              <a:t xml:space="preserve"> · LeNet-5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362700" y="3019425"/>
            <a:ext cx="237172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13">
                <a:solidFill>
                  <a:srgbClr val="64748B"/>
                </a:solidFill>
                <a:latin typeface="Sarasa Gothic SC"/>
                <a:ea typeface="Sarasa Gothic SC"/>
              </a:rPr>
              <a:t xml:space="preserve">LeCun </a:t>
            </a:r>
            <a:r>
              <a:rPr lang="zh-CN" sz="1013">
                <a:solidFill>
                  <a:srgbClr val="64748B"/>
                </a:solidFill>
                <a:latin typeface="Sarasa Gothic SC"/>
                <a:ea typeface="Sarasa Gothic SC"/>
              </a:rPr>
              <a:t>等用梯度学习训练卷积网络完成文档识别，「卷积</a:t>
            </a:r>
            <a:r>
              <a:rPr lang="en-US" sz="1013">
                <a:solidFill>
                  <a:srgbClr val="64748B"/>
                </a:solidFill>
                <a:latin typeface="Sarasa Gothic SC"/>
                <a:ea typeface="Sarasa Gothic SC"/>
              </a:rPr>
              <a:t xml:space="preserve"> + </a:t>
            </a:r>
            <a:r>
              <a:rPr lang="zh-CN" sz="1013">
                <a:solidFill>
                  <a:srgbClr val="64748B"/>
                </a:solidFill>
                <a:latin typeface="Sarasa Gothic SC"/>
                <a:ea typeface="Sarasa Gothic SC"/>
              </a:rPr>
              <a:t>池化」的层次特征范式自此确立。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362700" y="4791075"/>
            <a:ext cx="704850" cy="1905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438900" y="4819650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1E40AF"/>
                </a:solidFill>
                <a:latin typeface="Sarasa Gothic SC"/>
                <a:ea typeface="Sarasa Gothic SC"/>
              </a:rPr>
              <a:t>局部感受野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7124700" y="4791075"/>
            <a:ext cx="590550" cy="1905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200900" y="4819650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1E40AF"/>
                </a:solidFill>
                <a:latin typeface="Sarasa Gothic SC"/>
                <a:ea typeface="Sarasa Gothic SC"/>
              </a:rPr>
              <a:t>权重共享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7772400" y="4791075"/>
            <a:ext cx="590550" cy="1905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848600" y="4819650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1E40AF"/>
                </a:solidFill>
                <a:latin typeface="Sarasa Gothic SC"/>
                <a:ea typeface="Sarasa Gothic SC"/>
              </a:rPr>
              <a:t>层次特征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362700" y="5076825"/>
            <a:ext cx="2371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i="1">
                <a:solidFill>
                  <a:srgbClr val="94A3B8"/>
                </a:solidFill>
                <a:latin typeface="Crimson Pro"/>
                <a:ea typeface="Crimson Pro"/>
              </a:rPr>
              <a:t>Proc. IEEE, 1998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9096375" y="2114550"/>
            <a:ext cx="2714625" cy="32766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0" dist="57150" dir="5400000">
              <a:srgbClr val="15296D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9267825" y="22860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267825" y="2438400"/>
            <a:ext cx="23717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1E40AF"/>
                </a:solidFill>
                <a:latin typeface="Crimson Pro"/>
                <a:ea typeface="Crimson Pro"/>
              </a:rPr>
              <a:t>Transformer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9267825" y="2724150"/>
            <a:ext cx="2371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293B"/>
                </a:solidFill>
                <a:latin typeface="Noto Serif SC"/>
                <a:ea typeface="Noto Serif SC"/>
              </a:rPr>
              <a:t>注意力架构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9267825" y="3019425"/>
            <a:ext cx="237172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13">
                <a:solidFill>
                  <a:srgbClr val="64748B"/>
                </a:solidFill>
                <a:latin typeface="Sarasa Gothic SC"/>
                <a:ea typeface="Sarasa Gothic SC"/>
              </a:rPr>
              <a:t xml:space="preserve">Vaswani </a:t>
            </a:r>
            <a:r>
              <a:rPr lang="zh-CN" sz="1013">
                <a:solidFill>
                  <a:srgbClr val="64748B"/>
                </a:solidFill>
                <a:latin typeface="Sarasa Gothic SC"/>
                <a:ea typeface="Sarasa Gothic SC"/>
              </a:rPr>
              <a:t>等完全摒弃递归与卷积，仅以自注意力建模序列，成为此后大模型的共同架构底座。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9267825" y="4791075"/>
            <a:ext cx="590550" cy="19050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9344025" y="4819650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EA580C"/>
                </a:solidFill>
                <a:latin typeface="Sarasa Gothic SC"/>
                <a:ea typeface="Sarasa Gothic SC"/>
              </a:rPr>
              <a:t>自注意力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9915525" y="4791075"/>
            <a:ext cx="590550" cy="19050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9991725" y="4819650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EA580C"/>
                </a:solidFill>
                <a:latin typeface="Sarasa Gothic SC"/>
                <a:ea typeface="Sarasa Gothic SC"/>
              </a:rPr>
              <a:t>位置编码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10563225" y="4791075"/>
            <a:ext cx="590550" cy="19050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0639425" y="4819650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EA580C"/>
                </a:solidFill>
                <a:latin typeface="Sarasa Gothic SC"/>
                <a:ea typeface="Sarasa Gothic SC"/>
              </a:rPr>
              <a:t>全局建模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267825" y="5076825"/>
            <a:ext cx="2371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i="1">
                <a:solidFill>
                  <a:srgbClr val="94A3B8"/>
                </a:solidFill>
                <a:latin typeface="Crimson Pro"/>
                <a:ea typeface="Crimson Pro"/>
              </a:rPr>
              <a:t>NeurIPS, 2017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419100" y="5543550"/>
            <a:ext cx="11391900" cy="628650"/>
          </a:xfrm>
          <a:prstGeom prst="roundRect">
            <a:avLst>
              <a:gd name="adj" fmla="val 12121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419100" y="5543550"/>
            <a:ext cx="11391900" cy="628650"/>
          </a:xfrm>
          <a:custGeom>
            <a:pathLst>
              <a:path w="1196" h="6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2"/>
                </a:lnTo>
                <a:cubicBezTo>
                  <a:pt x="4" y="64"/>
                  <a:pt x="5" y="66"/>
                  <a:pt x="7" y="66"/>
                </a:cubicBezTo>
                <a:cubicBezTo>
                  <a:pt x="3" y="66"/>
                  <a:pt x="0" y="62"/>
                  <a:pt x="0" y="5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90550" y="5724525"/>
            <a:ext cx="11049000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 b="1">
                <a:solidFill>
                  <a:srgbClr val="15296D"/>
                </a:solidFill>
                <a:latin typeface="Sarasa Gothic SC"/>
                <a:ea typeface="Sarasa Gothic SC"/>
              </a:rPr>
              <a:t>演进逻辑：</a:t>
            </a:r>
            <a:r>
              <a:rPr lang="zh-CN" sz="1163">
                <a:solidFill>
                  <a:srgbClr val="1E293B"/>
                </a:solidFill>
                <a:latin typeface="Sarasa Gothic SC"/>
                <a:ea typeface="Sarasa Gothic SC"/>
              </a:rPr>
              <a:t>序列递归</a:t>
            </a:r>
            <a:r>
              <a:rPr lang="en-US" sz="1163">
                <a:solidFill>
                  <a:srgbClr val="1E293B"/>
                </a:solidFill>
                <a:latin typeface="Sarasa Gothic SC"/>
                <a:ea typeface="Sarasa Gothic SC"/>
              </a:rPr>
              <a:t xml:space="preserve"> </a:t>
            </a:r>
            <a:r>
              <a:rPr sz="1163" b="1">
                <a:solidFill>
                  <a:srgbClr val="EA580C"/>
                </a:solidFill>
                <a:latin typeface="Sarasa Gothic SC"/>
                <a:ea typeface="Sarasa Gothic SC"/>
              </a:rPr>
              <a:t>→</a:t>
            </a:r>
            <a:r>
              <a:rPr lang="en-US" sz="1163">
                <a:solidFill>
                  <a:srgbClr val="1E293B"/>
                </a:solidFill>
                <a:latin typeface="Sarasa Gothic SC"/>
                <a:ea typeface="Sarasa Gothic SC"/>
              </a:rPr>
              <a:t xml:space="preserve"> </a:t>
            </a:r>
            <a:r>
              <a:rPr lang="zh-CN" sz="1163">
                <a:solidFill>
                  <a:srgbClr val="1E293B"/>
                </a:solidFill>
                <a:latin typeface="Sarasa Gothic SC"/>
                <a:ea typeface="Sarasa Gothic SC"/>
              </a:rPr>
              <a:t>门控记忆</a:t>
            </a:r>
            <a:r>
              <a:rPr lang="en-US" sz="1163">
                <a:solidFill>
                  <a:srgbClr val="1E293B"/>
                </a:solidFill>
                <a:latin typeface="Sarasa Gothic SC"/>
                <a:ea typeface="Sarasa Gothic SC"/>
              </a:rPr>
              <a:t xml:space="preserve"> </a:t>
            </a:r>
            <a:r>
              <a:rPr sz="1163" b="1">
                <a:solidFill>
                  <a:srgbClr val="EA580C"/>
                </a:solidFill>
                <a:latin typeface="Sarasa Gothic SC"/>
                <a:ea typeface="Sarasa Gothic SC"/>
              </a:rPr>
              <a:t>→</a:t>
            </a:r>
            <a:r>
              <a:rPr lang="en-US" sz="1163">
                <a:solidFill>
                  <a:srgbClr val="1E293B"/>
                </a:solidFill>
                <a:latin typeface="Sarasa Gothic SC"/>
                <a:ea typeface="Sarasa Gothic SC"/>
              </a:rPr>
              <a:t xml:space="preserve"> </a:t>
            </a:r>
            <a:r>
              <a:rPr lang="zh-CN" sz="1163">
                <a:solidFill>
                  <a:srgbClr val="1E293B"/>
                </a:solidFill>
                <a:latin typeface="Sarasa Gothic SC"/>
                <a:ea typeface="Sarasa Gothic SC"/>
              </a:rPr>
              <a:t>局部卷积</a:t>
            </a:r>
            <a:r>
              <a:rPr lang="en-US" sz="1163">
                <a:solidFill>
                  <a:srgbClr val="1E293B"/>
                </a:solidFill>
                <a:latin typeface="Sarasa Gothic SC"/>
                <a:ea typeface="Sarasa Gothic SC"/>
              </a:rPr>
              <a:t xml:space="preserve"> </a:t>
            </a:r>
            <a:r>
              <a:rPr sz="1163" b="1">
                <a:solidFill>
                  <a:srgbClr val="EA580C"/>
                </a:solidFill>
                <a:latin typeface="Sarasa Gothic SC"/>
                <a:ea typeface="Sarasa Gothic SC"/>
              </a:rPr>
              <a:t>→</a:t>
            </a:r>
            <a:r>
              <a:rPr lang="en-US" sz="1163">
                <a:solidFill>
                  <a:srgbClr val="1E293B"/>
                </a:solidFill>
                <a:latin typeface="Sarasa Gothic SC"/>
                <a:ea typeface="Sarasa Gothic SC"/>
              </a:rPr>
              <a:t xml:space="preserve"> </a:t>
            </a:r>
            <a:r>
              <a:rPr lang="zh-CN" sz="1163">
                <a:solidFill>
                  <a:srgbClr val="1E293B"/>
                </a:solidFill>
                <a:latin typeface="Sarasa Gothic SC"/>
                <a:ea typeface="Sarasa Gothic SC"/>
              </a:rPr>
              <a:t>全局注意——三十年竞争的实质是</a:t>
            </a:r>
            <a:r>
              <a:rPr lang="zh-CN" sz="1163" b="1">
                <a:solidFill>
                  <a:srgbClr val="1E40AF"/>
                </a:solidFill>
                <a:latin typeface="Sarasa Gothic SC"/>
                <a:ea typeface="Sarasa Gothic SC"/>
              </a:rPr>
              <a:t>归纳偏置的迁移</a:t>
            </a:r>
            <a:r>
              <a:rPr lang="zh-CN" sz="1163">
                <a:solidFill>
                  <a:srgbClr val="1E293B"/>
                </a:solidFill>
                <a:latin typeface="Sarasa Gothic SC"/>
                <a:ea typeface="Sarasa Gothic SC"/>
              </a:rPr>
              <a:t>，而非单纯的精度叠加。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381000" y="6362700"/>
            <a:ext cx="11430000" cy="266700"/>
          </a:xfrm>
          <a:custGeom>
            <a:pathLst>
              <a:path w="1200" h="28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381000" y="6429375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Sarasa Gothic SC"/>
                <a:ea typeface="Sarasa Gothic SC"/>
              </a:rPr>
              <a:t>神经网络经典算法</a:t>
            </a:r>
            <a:r>
              <a:rPr lang="en-US" sz="900">
                <a:solidFill>
                  <a:srgbClr val="94A3B8"/>
                </a:solidFill>
                <a:latin typeface="Sarasa Gothic SC"/>
                <a:ea typeface="Sarasa Gothic SC"/>
              </a:rPr>
              <a:t xml:space="preserve"> · </a:t>
            </a:r>
            <a:r>
              <a:rPr lang="zh-CN" sz="900">
                <a:solidFill>
                  <a:srgbClr val="94A3B8"/>
                </a:solidFill>
                <a:latin typeface="Sarasa Gothic SC"/>
                <a:ea typeface="Sarasa Gothic SC"/>
              </a:rPr>
              <a:t>学术报告讲义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1325225" y="642937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1E40AF"/>
                </a:solidFill>
                <a:latin typeface="Crimson Pro"/>
                <a:ea typeface="Crimson Pro"/>
              </a:rPr>
              <a:t>02 / 08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0" y="0"/>
            <a:ext cx="12192000" cy="114300"/>
          </a:xfrm>
          <a:prstGeom prst="rect">
            <a:avLst/>
          </a:prstGeom>
          <a:gradFill>
            <a:gsLst>
              <a:gs pos="0">
                <a:srgbClr val="2563EB"/>
              </a:gs>
              <a:gs pos="45000">
                <a:srgbClr val="3B82F6"/>
              </a:gs>
              <a:gs pos="100000">
                <a:srgbClr val="F59E0B"/>
              </a:gs>
            </a:gsLst>
            <a:lin ang="0" scaled="1"/>
          </a:gradFill>
          <a:ln/>
        </p:spPr>
        <p:txBody>
          <a:bodyPr/>
          <a:p/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2" name="" descr="&lt;Slide style={{&#10;    width: 1280,&#10;    height: 720,&#10;    position: 'relative',&#10;    background: '#F5F7FC',&#10;    fontFamily: 'Sarasa Gothic SC',&#10;    padding: 0,&#10;}}&gt;&#10;    {/* 顶部 12px 蓝→橙渐变顶栏 */}&#10;    &lt;Box style={{&#10;        position: 'absolute', top: 0, left: 0, width: 1280, height: 12,&#10;        background: 'linear-gradient(90deg, #2563EB 0%, #3B82F6 45%, #F59E0B 100%)',&#10;        zIndex: 20,&#10;    }} /&gt;&#10;&#10;    {/* 页眉 */}&#10;    &lt;Box style={{ position: 'absolute', top: 34, left: 40, width: 1200 }}&gt;&#10;        &lt;Box style={{ flexDirection: 'row', alignItems: 'center', gap: 10 }}&gt;&#10;            &lt;Box style={{ width: 8, height: 8, background: '#EA580C' }} /&gt;&#10;            &lt;Text style={{&#10;                fontSize: 13, letterSpacing: 3, color: '#EA580C',&#10;                fontFamily: 'Crimson Pro, serif', fontWeight: 'bold',&#10;            }}&gt;&#10;                PART 02 · METHODS&#10;            &lt;/Text&gt;&#10;            &lt;Text style={{&#10;                fontSize: 13, letterSpacing: 2, color: '#94A3B8',&#10;                fontFamily: 'Crimson Pro, serif',&#10;            }}&gt;&#10;                MODEL 01 / 04&#10;            &lt;/Text&gt;&#10;        &lt;/Box&gt;&#10;        &lt;Box style={{ flexDirection: 'row', alignItems: 'baseline', gap: 14, marginTop: 8 }}&gt;&#10;            &lt;Text style={{&#10;                fontSize: 30, fontWeight: 'bold', color: '#15296D',&#10;                fontFamily: 'Noto Serif SC', letterSpacing: 1,&#10;            }}&gt;&#10;                RNN · 循环神经网络&#10;            &lt;/Text&gt;&#10;            &lt;Text style={{&#10;                fontSize: 16, fontStyle: 'italic', color: '#64748B',&#10;                fontFamily: 'Crimson Pro, serif',&#10;            }}&gt;&#10;                Recurrent Neural Network — Recursion over Time&#10;            &lt;/Text&gt;&#10;        &lt;/Box&gt;&#10;    &lt;/Box&gt;&#10;&#10;    {/* 左：架构图卡 */}&#10;    &lt;Box style={{&#10;        position: 'absolute', top: 126, left: 40, width: 600, height: 400,&#10;        background: '#FFFFFF', borderRadius: 12, border: '1px solid #E2E8F0', padding: 20,&#10;    }}&gt;&#10;        &lt;Box style={{ flexDirection: 'row', justifyContent: 'space-between', alignItems: 'center' }}&gt;&#10;            &lt;Text style={{ fontSize: 15, fontWeight: 'bold', color: '#15296D', fontFamily: 'Noto Serif SC' }}&gt;&#10;                架构图 · 时间步展开&#10;            &lt;/Text&gt;&#10;            &lt;Text style={{ fontSize: 12, fontStyle: 'italic', color: '#94A3B8', fontFamily: 'Crimson Pro, serif' }}&gt;&#10;                Fig. 1 · Unrolled through time&#10;            &lt;/Text&gt;&#10;        &lt;/Box&gt;&#10;        &lt;Box style={{ width: '100%', height: 1, background: '#E2E8F0', marginTop: 10, marginBottom: 6 }} /&gt;&#10;        &lt;svg width='560' height='300' viewBox='0 0 560 300' style={{ display: 'block' }}&gt;&#10;            {/* 参数共享虚线框 */}&#10;            &lt;rect x='76' y='106' width='428' height='76' rx='12' fill='none' stroke='#CBD5E1' strokeWidth='1.2' strokeDasharray='5 4' /&gt;&#10;            &lt;text x='84' y='99' fontFamily='Crimson Pro, serif' fontSize='11.5' fill='#94A3B8'&gt;同一细胞 · 跨时间步复用&lt;/text&gt;&#10;&#10;            {/* 时间标签 */}&#10;            &lt;text x='120' y='26' fontFamily='Crimson Pro, serif' fontSize='12.5' fontStyle='italic' fill='#94A3B8' textAnchor='middle'&gt;t − 1&lt;/text&gt;&#10;            &lt;text x='280' y='26' fontFamily='Crimson Pro, serif' fontSize='12.5' fontStyle='italic' fill='#94A3B8' textAnchor='middle'&gt;t&lt;/text&gt;&#10;            &lt;text x='440' y='26' fontFamily='Crimson Pro, serif' fontSize='12.5' fontStyle='italic' fill='#94A3B8' textAnchor='middle'&gt;t + 1&lt;/text&gt;&#10;&#10;            {/* 隐状态标签 */}&#10;            &lt;text x='120' y='52' fontFamily='Crimson Pro, serif' fontSize='15' fontStyle='italic' fill='#15296D' textAnchor='middle'&gt;hₜ₋₁&lt;/text&gt;&#10;            &lt;text x='280' y='52' fontFamily='Crimson Pro, serif' fontSize='15' fontStyle='italic' fill='#15296D' textAnchor='middle'&gt;hₜ&lt;/text&gt;&#10;            &lt;text x='440' y='52' fontFamily='Crimson Pro, serif' fontSize='15' fontStyle='italic' fill='#15296D' textAnchor='middle'&gt;hₜ₊₁&lt;/text&gt;&#10;&#10;            {/* 输出箭头（向上） */}&#10;            &lt;line x1='120' y1='120' x2='120' y2='64' stroke='#1E40AF' strokeWidth='1.6' /&gt;&#10;            &lt;polygon points='116,64 120,56 124,64' fill='#1E40AF' /&gt;&#10;            &lt;line x1='280' y1='120' x2='280' y2='64' stroke='#1E40AF' strokeWidth='1.6' /&gt;&#10;            &lt;polygon points='276,64 280,56 284,64' fill='#1E40AF' /&gt;&#10;            &lt;line x1='440' y1='120' x2='440' y2='64' stroke='#1E40AF' strokeWidth='1.6' /&gt;&#10;            &lt;polygon points='436,64 440,56 444,64' fill='#1E40AF' /&gt;&#10;&#10;            {/* tanh 细胞 */}&#10;            &lt;rect x='88' y='120' width='64' height='46' rx='10' fill='#EFF6FF' stroke='#2563EB' strokeWidth='1.5' /&gt;&#10;            &lt;text x='120' y='148' fontFamily='Crimson Pro, serif' fontSize='14' fill='#1E40AF' textAnchor='middle'&gt;tanh&lt;/text&gt;&#10;            &lt;rect x='248' y='120' width='64' height='46' rx='10' fill='#EFF6FF' stroke='#2563EB' strokeWidth='1.5' /&gt;&#10;            &lt;text x='280' y='148' fontFamily='Crimson Pro, serif' fontSize='14' fill='#1E40AF' textAnchor='middle'&gt;tanh&lt;/text&gt;&#10;            &lt;rect x='408' y='120' width='64' height='46' rx='10' fill='#EFF6FF' stroke='#2563EB' strokeWidth='1.5' /&gt;&#10;            &lt;text x='440' y='148' fontFamily='Crimson Pro, serif' fontSize='14' fill='#1E40AF' textAnchor='middle'&gt;tanh&lt;/text&gt;&#10;&#10;            {/* 递归箭头（橙色） */}&#10;            &lt;line x1='152' y1='143' x2='242' y2='143' stroke='#EA580C' strokeWidth='1.8' /&gt;&#10;            &lt;polygon points='242,138 251,143 242,148' fill='#EA580C' /&gt;&#10;            &lt;text x='197' y='134' fontFamily='Crimson Pro, serif' fontSize='11.5' fontStyle='italic' fill='#EA580C' textAnchor='middle'&gt;W_h h&lt;/text&gt;&#10;            &lt;line x1='312' y1='143' x2='402' y2='143' stroke='#EA580C' strokeWidth='1.8' /&gt;&#10;            &lt;polygon points='402,138 411,143 402,148' fill='#EA580C' /&gt;&#10;            &lt;text x='357' y='134' fontFamily='Crimson Pro, serif' fontSize='11.5' fontStyle='italic' fill='#EA580C' textAnchor='middle'&gt;W_h h&lt;/text&gt;&#10;&#10;            {/* 输入 */}&#10;            &lt;rect x='97' y='232' width='46' height='30' rx='6' fill='#F8FAFC' stroke='#94A3B8' strokeWidth='1.2' /&gt;&#10;            &lt;text x='120' y='252' fontFamily='Crimson Pro, serif' fontSize='12.5' fill='#475569' textAnchor='middle'&gt;xₜ₋₁&lt;/text&gt;&#10;            &lt;rect x='257' y='232' width='46' height='30' rx='6' fill='#F8FAFC' stroke='#94A3B8' strokeWidth='1.2' /&gt;&#10;            &lt;text x='280' y='252' fontFamily='Crimson Pro, serif' fontSize='12.5' fill='#475569' textAnchor='middle'&gt;xₜ&lt;/text&gt;&#10;            &lt;rect x='417' y='232' width='46' height='30' rx='6' fill='#F8FAFC' stroke='#94A3B8' strokeWidth='1.2' /&gt;&#10;            &lt;text x='440' y='252' fontFamily='Crimson Pro, serif' fontSize='12.5' fill='#475569' textAnchor='middle'&gt;xₜ₊₁&lt;/text&gt;&#10;&#10;            {/* 输入箭头（向上） */}&#10;            &lt;line x1='120' y1='230' x2='120' y2='172' stroke='#1E40AF' strokeWidth='1.6' /&gt;&#10;            &lt;polygon points='116,172 120,164 124,172' fill='#1E40AF' /&gt;&#10;            &lt;line x1='280' y1='230' x2='280' y2='172' stroke='#1E40AF' strokeWidth='1.6' /&gt;&#10;            &lt;polygon points='276,172 280,164 284,172' fill='#1E40AF' /&gt;&#10;            &lt;line x1='440' y1='230' x2='440' y2='172' stroke='#1E40AF' strokeWidth='1.6' /&gt;&#10;            &lt;polygon points='436,172 440,164 444,172' fill='#1E40AF' /&gt;&#10;&#10;            {/* 底部注释 */}&#10;            &lt;text x='280' y='288' fontFamily='Sarasa Gothic SC, sans-serif' fontSize='12.5' fill='#64748B' textAnchor='middle'&gt;BPTT：沿时间步展开为深层前馈图，再做标准反向传播&lt;/text&gt;&#10;        &lt;/svg&gt;&#10;    &lt;/Box&gt;&#10;&#10;    {/* 右：核心要点面板 */}&#10;    &lt;Box style={{&#10;        position: 'absolute', top: 126, left: 664, width: 576, height: 400,&#10;        background: '#FFFFFF', borderRadius: 12, border: '1px solid #E2E8F0', padding: 20,&#10;        justifyContent: 'space-between',&#10;    }}&gt;&#10;        &lt;Box style={{ flexDirection: 'row', justifyContent: 'space-between', alignItems: 'center' }}&gt;&#10;            &lt;Text style={{ fontSize: 15, fontWeight: 'bold', color: '#15296D', fontFamily: 'Noto Serif SC' }}&gt;&#10;                核心要点 · Key Points&#10;            &lt;/Text&gt;&#10;            &lt;Box style={{ width: 28, height: 4, background: '#F59E0B', borderRadius: 2 }} /&gt;&#10;        &lt;/Box&gt;&#10;&#10;        &lt;Box style={{ flexDirection: 'row', gap: 12, alignItems: 'flex-start', marginTop: 12 }}&gt;&#10;            &lt;Box style={{ width: 26, height: 26, borderRadius: 6, background: '#15296D', alignItems: 'center', justifyContent: 'center' }}&gt;&#10;                &lt;Text style={{ fontSize: 13, color: '#FFFFFF', fontFamily: 'Crimson Pro, serif', fontWeight: 'bold' }}&gt;01&lt;/Text&gt;&#10;            &lt;/Box&gt;&#10;            &lt;Box style={{ flex: 1 }}&gt;&#10;                &lt;Text style={{ fontSize: 16.5, fontWeight: 'bold', color: '#1E293B' }}&gt;递归的本质：滚动记忆&lt;/Text&gt;&#10;                &lt;Text style={{ fontSize: 13, color: '#64748B', lineHeight: 1.6, marginTop: 3 }}&gt;&#10;                    同一组参数在所有时间步复用；隐状态 hₜ 是序列的压缩记忆，随输入逐个时间步滚动更新。&#10;                &lt;/Text&gt;&#10;            &lt;/Box&gt;&#10;        &lt;/Box&gt;&#10;&#10;        &lt;Box style={{ flexDirection: 'row', gap: 12, alignItems: 'flex-start', marginTop: 12 }}&gt;&#10;            &lt;Box style={{ width: 26, height: 26, borderRadius: 6, background: '#15296D', alignItems: 'center', justifyContent: 'center' }}&gt;&#10;                &lt;Text style={{ fontSize: 13, color: '#FFFFFF', fontFamily: 'Crimson Pro, serif', fontWeight: 'bold' }}&gt;02&lt;/Text&gt;&#10;            &lt;/Box&gt;&#10;            &lt;Box style={{ flex: 1 }}&gt;&#10;                &lt;Text style={{ fontSize: 16.5, fontWeight: 'bold', color: '#1E293B' }}&gt;训练方式：BPTT&lt;/Text&gt;&#10;                &lt;Text style={{ fontSize: 13, color: '#64748B', lineHeight: 1.6, marginTop: 3 }}&gt;&#10;                    将网络沿时间展开为深层前馈图，用反向传播算梯度；时序依赖由此转化为链式求导。&#10;                &lt;/Text&gt;&#10;            &lt;/Box&gt;&#10;        &lt;/Box&gt;&#10;&#10;        &lt;Box style={{ flexDirection: 'row', gap: 12, alignItems: 'flex-start', marginTop: 12 }}&gt;&#10;            &lt;Box style={{ width: 26, height: 26, borderRadius: 6, background: '#15296D', alignItems: 'center', justifyContent: 'center' }}&gt;&#10;                &lt;Text style={{ fontSize: 13, color: '#FFFFFF', fontFamily: 'Crimson Pro, serif', fontWeight: 'bold' }}&gt;03&lt;/Text&gt;&#10;            &lt;/Box&gt;&#10;            &lt;Box style={{ flex: 1 }}&gt;&#10;                &lt;Text style={{ fontSize: 16.5, fontWeight: 'bold', color: '#1E293B' }}&gt;瓶颈：长期依赖&lt;/Text&gt;&#10;                &lt;Text style={{ fontSize: 13, color: '#64748B', lineHeight: 1.6, marginTop: 3 }}&gt;&#10;                    梯度随时间步指数级消失或爆炸，远距离信息传不过去——这正是 LSTM 要解决的问题。&#10;                &lt;/Text&gt;&#10;            &lt;/Box&gt;&#10;        &lt;/Box&gt;&#10;&#10;        &lt;Box style={{&#10;            background: '#FFF7ED', borderLeft: '3px solid #F59E0B', borderRadius: 6,&#10;            paddingTop: 10, paddingBottom: 10, paddingLeft: 14, paddingRight: 14, marginTop: 14,&#10;        }}&gt;&#10;            &lt;Text style={{ fontSize: 13.5, color: '#1E293B', lineHeight: 1.55 }}&gt;&#10;                &lt;span style={{ fontWeight: 'bold', color: '#EA580C' }}&gt;一句话本质：&lt;/span&gt;把序列「读」进一个滚动更新的隐状态，用同一个细胞反复处理每一步。&#10;            &lt;/Text&gt;&#10;        &lt;/Box&gt;&#10;    &lt;/Box&gt;&#10;&#10;    {/* 底部公式条 */}&#10;    &lt;Box style={{&#10;        position: 'absolute', top: 546, left: 40, width: 1200, height: 86,&#10;        background: 'linear-gradient(90deg, #15296D 0%, #1E40AF 55%, #2563EB 100%)',&#10;        borderRadius: 10, flexDirection: 'row', alignItems: 'center',&#10;        paddingLeft: 28, paddingRight: 28,&#10;    }}&gt;&#10;        &lt;Text style={{&#10;            fontSize: 13, color: '#F59E0B', fontFamily: 'Crimson Pro, serif',&#10;            fontWeight: 'bold', letterSpacing: 2,&#10;        }}&gt;&#10;            FORMULA&#10;        &lt;/Text&gt;&#10;        &lt;Text style={{&#10;            flex: 1, textAlign: 'center', fontSize: 25, color: '#FFFFFF',&#10;            fontFamily: 'Crimson Pro, serif', fontStyle: 'italic',&#10;        }}&gt;&#10;            hₜ = tanh(W_h · hₜ₋₁ + W_x · xₜ + b)&#10;        &lt;/Text&gt;&#10;        &lt;Text style={{&#10;            fontSize: 12.5, color: 'rgba(255, 255, 255, 0.75)',&#10;            fontFamily: 'Sarasa Gothic SC', width: 300, textAlign: 'right', lineHeight: 1.5,&#10;        }}&gt;&#10;            隐状态递推式&lt;br /&gt;W_x：输入权重 · W_h：递归权重&#10;        &lt;/Text&gt;&#10;    &lt;/Box&gt;&#10;&#10;    {/* 页脚 */}&#10;    &lt;Box style={{&#10;        position: 'absolute', top: 668, left: 40, width: 1200, height: 28,&#10;        flexDirection: 'row', justifyContent: 'space-between', alignItems: 'center',&#10;        borderTop: '1px solid #E2E8F0',&#10;    }}&gt;&#10;        &lt;Text style={{ fontSize: 12, color: '#94A3B8', fontFamily: 'Sarasa Gothic SC' }}&gt;&#10;            神经网络经典算法 · 学术报告讲义&#10;        &lt;/Text&gt;&#10;        &lt;Text style={{ fontSize: 13, color: '#1E40AF', fontFamily: 'Crimson Pro, serif', letterSpacing: 1 }}&gt;&#10;            03 / 08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381000" y="361950"/>
            <a:ext cx="76200" cy="762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52450" y="323850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EA580C"/>
                </a:solidFill>
                <a:latin typeface="Crimson Pro"/>
                <a:ea typeface="Crimson Pro"/>
              </a:rPr>
              <a:t>PART 02 · METHODS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2505075" y="323850"/>
            <a:ext cx="1133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94A3B8"/>
                </a:solidFill>
                <a:latin typeface="Crimson Pro"/>
                <a:ea typeface="Crimson Pro"/>
              </a:rPr>
              <a:t>MODEL 01 / 04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81000" y="552450"/>
            <a:ext cx="27527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75">
                <a:solidFill>
                  <a:srgbClr val="15296D"/>
                </a:solidFill>
                <a:latin typeface="Noto Serif SC"/>
                <a:ea typeface="Noto Serif SC"/>
              </a:rPr>
              <a:t xml:space="preserve">RNN · </a:t>
            </a:r>
            <a:r>
              <a:rPr lang="zh-CN" sz="2250" b="1" spc="75">
                <a:solidFill>
                  <a:srgbClr val="15296D"/>
                </a:solidFill>
                <a:latin typeface="Noto Serif SC"/>
                <a:ea typeface="Noto Serif SC"/>
              </a:rPr>
              <a:t>循环神经网络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267075" y="552450"/>
            <a:ext cx="3467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i="1">
                <a:solidFill>
                  <a:srgbClr val="64748B"/>
                </a:solidFill>
                <a:latin typeface="Crimson Pro"/>
                <a:ea typeface="Crimson Pro"/>
              </a:rPr>
              <a:t>Recurrent Neural Network — Recursion over Time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381000" y="1200150"/>
            <a:ext cx="57150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71500" y="139065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5296D"/>
                </a:solidFill>
                <a:latin typeface="Noto Serif SC"/>
                <a:ea typeface="Noto Serif SC"/>
              </a:rPr>
              <a:t>架构图</a:t>
            </a:r>
            <a:r>
              <a:rPr lang="en-US" sz="1125" b="1">
                <a:solidFill>
                  <a:srgbClr val="15296D"/>
                </a:solidFill>
                <a:latin typeface="Noto Serif SC"/>
                <a:ea typeface="Noto Serif SC"/>
              </a:rPr>
              <a:t xml:space="preserve"> · </a:t>
            </a:r>
            <a:r>
              <a:rPr lang="zh-CN" sz="1125" b="1">
                <a:solidFill>
                  <a:srgbClr val="15296D"/>
                </a:solidFill>
                <a:latin typeface="Noto Serif SC"/>
                <a:ea typeface="Noto Serif SC"/>
              </a:rPr>
              <a:t>时间步展开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391025" y="1409700"/>
            <a:ext cx="1514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i="1">
                <a:solidFill>
                  <a:srgbClr val="94A3B8"/>
                </a:solidFill>
                <a:latin typeface="Crimson Pro"/>
                <a:ea typeface="Crimson Pro"/>
              </a:rPr>
              <a:t>Fig. 1 · Unrolled through time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571500" y="1657350"/>
            <a:ext cx="5334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pic>
        <p:nvPicPr>
          <p:cNvPr id="1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724025"/>
            <a:ext cx="5334000" cy="2857500"/>
          </a:xfrm>
          <a:prstGeom prst="rect">
            <a:avLst/>
          </a:prstGeom>
          <a:ln/>
        </p:spPr>
      </p:pic>
      <p:sp>
        <p:nvSpPr>
          <p:cNvPr id="114" name=""/>
          <p:cNvSpPr/>
          <p:nvPr/>
        </p:nvSpPr>
        <p:spPr>
          <a:xfrm rot="0" flipH="0" flipV="0">
            <a:off x="6324600" y="1200150"/>
            <a:ext cx="54864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515100" y="1390650"/>
            <a:ext cx="1466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5296D"/>
                </a:solidFill>
                <a:latin typeface="Noto Serif SC"/>
                <a:ea typeface="Noto Serif SC"/>
              </a:rPr>
              <a:t>核心要点</a:t>
            </a:r>
            <a:r>
              <a:rPr lang="en-US" sz="1125" b="1">
                <a:solidFill>
                  <a:srgbClr val="15296D"/>
                </a:solidFill>
                <a:latin typeface="Noto Serif SC"/>
                <a:ea typeface="Noto Serif SC"/>
              </a:rPr>
              <a:t xml:space="preserve"> · Key Points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11353800" y="1457325"/>
            <a:ext cx="2667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6515100" y="17430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5296D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562725" y="179070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Crimson Pro"/>
                <a:ea typeface="Crimson Pro"/>
              </a:rPr>
              <a:t>01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877050" y="1743075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E293B"/>
                </a:solidFill>
                <a:latin typeface="Sarasa Gothic SC"/>
                <a:ea typeface="Sarasa Gothic SC"/>
              </a:rPr>
              <a:t>递归的本质：滚动记忆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877050" y="1962150"/>
            <a:ext cx="47434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同一组参数在所有时间步复用；隐状态</a:t>
            </a:r>
            <a:r>
              <a:rPr lang="en-US" sz="975">
                <a:solidFill>
                  <a:srgbClr val="64748B"/>
                </a:solidFill>
                <a:latin typeface="Sarasa Gothic SC"/>
                <a:ea typeface="Sarasa Gothic SC"/>
              </a:rPr>
              <a:t xml:space="preserve"> hₜ </a:t>
            </a: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是序列的压缩记忆，随输入逐个时间步滚动更新。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515100" y="26193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5296D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553200" y="2667000"/>
            <a:ext cx="171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Crimson Pro"/>
                <a:ea typeface="Crimson Pro"/>
              </a:rPr>
              <a:t>02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877050" y="2619375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E293B"/>
                </a:solidFill>
                <a:latin typeface="Sarasa Gothic SC"/>
                <a:ea typeface="Sarasa Gothic SC"/>
              </a:rPr>
              <a:t>训练方式：</a:t>
            </a:r>
            <a:r>
              <a:rPr lang="en-US" sz="1238" b="1">
                <a:solidFill>
                  <a:srgbClr val="1E293B"/>
                </a:solidFill>
                <a:latin typeface="Sarasa Gothic SC"/>
                <a:ea typeface="Sarasa Gothic SC"/>
              </a:rPr>
              <a:t>BPTT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877050" y="2838450"/>
            <a:ext cx="47434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将网络沿时间展开为深层前馈图，用反向传播算梯度；时序依赖由此转化为链式求导。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6515100" y="32480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5296D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553200" y="3295650"/>
            <a:ext cx="171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Crimson Pro"/>
                <a:ea typeface="Crimson Pro"/>
              </a:rPr>
              <a:t>03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877050" y="3248025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E293B"/>
                </a:solidFill>
                <a:latin typeface="Sarasa Gothic SC"/>
                <a:ea typeface="Sarasa Gothic SC"/>
              </a:rPr>
              <a:t>瓶颈：长期依赖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877050" y="3467100"/>
            <a:ext cx="47434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梯度随时间步指数级消失或爆炸，远距离信息传不过去——这正是</a:t>
            </a:r>
            <a:r>
              <a:rPr lang="en-US" sz="975">
                <a:solidFill>
                  <a:srgbClr val="64748B"/>
                </a:solidFill>
                <a:latin typeface="Sarasa Gothic SC"/>
                <a:ea typeface="Sarasa Gothic SC"/>
              </a:rPr>
              <a:t xml:space="preserve"> LSTM </a:t>
            </a: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要解决的问题。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6543675" y="4143375"/>
            <a:ext cx="5105400" cy="676275"/>
          </a:xfrm>
          <a:prstGeom prst="roundRect">
            <a:avLst>
              <a:gd name="adj" fmla="val 8451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130" name=""/>
          <p:cNvSpPr/>
          <p:nvPr/>
        </p:nvSpPr>
        <p:spPr>
          <a:xfrm rot="0" flipH="0" flipV="0">
            <a:off x="6543675" y="4143375"/>
            <a:ext cx="5105400" cy="676275"/>
          </a:xfrm>
          <a:custGeom>
            <a:pathLst>
              <a:path w="536" h="71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68"/>
                </a:lnTo>
                <a:cubicBezTo>
                  <a:pt x="3" y="69"/>
                  <a:pt x="4" y="71"/>
                  <a:pt x="5" y="71"/>
                </a:cubicBezTo>
                <a:cubicBezTo>
                  <a:pt x="2" y="71"/>
                  <a:pt x="0" y="68"/>
                  <a:pt x="0" y="65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677025" y="4238625"/>
            <a:ext cx="48101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13" b="1">
                <a:solidFill>
                  <a:srgbClr val="EA580C"/>
                </a:solidFill>
                <a:latin typeface="Sarasa Gothic SC"/>
                <a:ea typeface="Sarasa Gothic SC"/>
              </a:rPr>
              <a:t>一句话本质：</a:t>
            </a:r>
            <a:r>
              <a:rPr lang="zh-CN" sz="1013">
                <a:solidFill>
                  <a:srgbClr val="1E293B"/>
                </a:solidFill>
                <a:latin typeface="Sarasa Gothic SC"/>
                <a:ea typeface="Sarasa Gothic SC"/>
              </a:rPr>
              <a:t>把序列「读」进一个滚动更新的隐状态，用同一个细胞反复处理每一步。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381000" y="5200650"/>
            <a:ext cx="11430000" cy="819150"/>
          </a:xfrm>
          <a:prstGeom prst="roundRect">
            <a:avLst>
              <a:gd name="adj" fmla="val 11628"/>
            </a:avLst>
          </a:prstGeom>
          <a:gradFill>
            <a:gsLst>
              <a:gs pos="0">
                <a:srgbClr val="15296D"/>
              </a:gs>
              <a:gs pos="55000">
                <a:srgbClr val="1E40AF"/>
              </a:gs>
              <a:gs pos="100000">
                <a:srgbClr val="2563EB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47700" y="5534025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F59E0B"/>
                </a:solidFill>
                <a:latin typeface="Crimson Pro"/>
                <a:ea typeface="Crimson Pro"/>
              </a:rPr>
              <a:t>FORMULA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476375" y="5467350"/>
            <a:ext cx="7210425" cy="2857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875" i="1">
                <a:solidFill>
                  <a:srgbClr val="FFFFFF"/>
                </a:solidFill>
                <a:latin typeface="Crimson Pro"/>
                <a:ea typeface="Crimson Pro"/>
              </a:rPr>
              <a:t>hₜ = tanh(W_h · hₜ₋₁ + W_x · xₜ + b)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686800" y="5400675"/>
            <a:ext cx="2857500" cy="428625"/>
          </a:xfrm>
          <a:prstGeom prst="rect"/>
        </p:spPr>
        <p:txBody>
          <a:bodyPr wrap="none" lIns="0" tIns="0" rIns="0" bIns="0"/>
          <a:p>
            <a:pPr algn="r"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>隐状态递推式</a:t>
            </a:r>
            <a:endParaRPr/>
          </a:p>
          <a:p>
            <a:pPr algn="r">
              <a:lnSpc>
                <a:spcPct val="150000"/>
              </a:lnSpc>
            </a:pPr>
            <a:r>
              <a:rPr lang="en-US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>W_x</a:t>
            </a:r>
            <a:r>
              <a:rPr lang="zh-CN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>：输入权重</a:t>
            </a:r>
            <a:r>
              <a:rPr lang="en-US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 xml:space="preserve"> · W_h</a:t>
            </a:r>
            <a:r>
              <a:rPr lang="zh-CN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>：递归权重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381000" y="6362700"/>
            <a:ext cx="11430000" cy="266700"/>
          </a:xfrm>
          <a:custGeom>
            <a:pathLst>
              <a:path w="1200" h="28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381000" y="6429375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Sarasa Gothic SC"/>
                <a:ea typeface="Sarasa Gothic SC"/>
              </a:rPr>
              <a:t>神经网络经典算法</a:t>
            </a:r>
            <a:r>
              <a:rPr lang="en-US" sz="900">
                <a:solidFill>
                  <a:srgbClr val="94A3B8"/>
                </a:solidFill>
                <a:latin typeface="Sarasa Gothic SC"/>
                <a:ea typeface="Sarasa Gothic SC"/>
              </a:rPr>
              <a:t xml:space="preserve"> · </a:t>
            </a:r>
            <a:r>
              <a:rPr lang="zh-CN" sz="900">
                <a:solidFill>
                  <a:srgbClr val="94A3B8"/>
                </a:solidFill>
                <a:latin typeface="Sarasa Gothic SC"/>
                <a:ea typeface="Sarasa Gothic SC"/>
              </a:rPr>
              <a:t>学术报告讲义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325225" y="642937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1E40AF"/>
                </a:solidFill>
                <a:latin typeface="Crimson Pro"/>
                <a:ea typeface="Crimson Pro"/>
              </a:rPr>
              <a:t>03 / 08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0" y="0"/>
            <a:ext cx="12192000" cy="114300"/>
          </a:xfrm>
          <a:prstGeom prst="rect">
            <a:avLst/>
          </a:prstGeom>
          <a:gradFill>
            <a:gsLst>
              <a:gs pos="0">
                <a:srgbClr val="2563EB"/>
              </a:gs>
              <a:gs pos="45000">
                <a:srgbClr val="3B82F6"/>
              </a:gs>
              <a:gs pos="100000">
                <a:srgbClr val="F59E0B"/>
              </a:gs>
            </a:gsLst>
            <a:lin ang="0" scaled="1"/>
          </a:gradFill>
          <a:ln/>
        </p:spPr>
        <p:txBody>
          <a:bodyPr/>
          <a:p/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0" name="" descr="&lt;Slide style={{&#10;    width: 1280,&#10;    height: 720,&#10;    position: 'relative',&#10;    background: '#F5F7FC',&#10;    fontFamily: 'Sarasa Gothic SC',&#10;    padding: 0,&#10;}}&gt;&#10;    {/* 顶部 12px 蓝→橙渐变顶栏 */}&#10;    &lt;Box style={{&#10;        position: 'absolute', top: 0, left: 0, width: 1280, height: 12,&#10;        background: 'linear-gradient(90deg, #2563EB 0%, #3B82F6 45%, #F59E0B 100%)',&#10;        zIndex: 20,&#10;    }} /&gt;&#10;&#10;    {/* 页眉 */}&#10;    &lt;Box style={{ position: 'absolute', top: 34, left: 40, width: 1200 }}&gt;&#10;        &lt;Box style={{ flexDirection: 'row', alignItems: 'center', gap: 10 }}&gt;&#10;            &lt;Box style={{ width: 8, height: 8, background: '#EA580C' }} /&gt;&#10;            &lt;Text style={{&#10;                fontSize: 13, letterSpacing: 3, color: '#EA580C',&#10;                fontFamily: 'Crimson Pro, serif', fontWeight: 'bold',&#10;            }}&gt;&#10;                PART 02 · METHODS&#10;            &lt;/Text&gt;&#10;            &lt;Text style={{&#10;                fontSize: 13, letterSpacing: 2, color: '#94A3B8',&#10;                fontFamily: 'Crimson Pro, serif',&#10;            }}&gt;&#10;                MODEL 02 / 04&#10;            &lt;/Text&gt;&#10;        &lt;/Box&gt;&#10;        &lt;Box style={{ flexDirection: 'row', alignItems: 'baseline', gap: 14, marginTop: 8 }}&gt;&#10;            &lt;Text style={{&#10;                fontSize: 30, fontWeight: 'bold', color: '#15296D',&#10;                fontFamily: 'Noto Serif SC', letterSpacing: 1,&#10;            }}&gt;&#10;                LSTM · 长短期记忆网络&#10;            &lt;/Text&gt;&#10;            &lt;Text style={{&#10;                fontSize: 16, fontStyle: 'italic', color: '#64748B',&#10;                fontFamily: 'Crimson Pro, serif',&#10;            }}&gt;&#10;                Long Short-Term Memory — Gated Cell State&#10;            &lt;/Text&gt;&#10;        &lt;/Box&gt;&#10;    &lt;/Box&gt;&#10;&#10;    {/* 左：架构图卡 */}&#10;    &lt;Box style={{&#10;        position: 'absolute', top: 126, left: 40, width: 600, height: 400,&#10;        background: '#FFFFFF', borderRadius: 12, border: '1px solid #E2E8F0', padding: 18,&#10;    }}&gt;&#10;        &lt;Box style={{ flexDirection: 'row', justifyContent: 'space-between', alignItems: 'center' }}&gt;&#10;            &lt;Text style={{ fontSize: 15, fontWeight: 'bold', color: '#15296D', fontFamily: 'Noto Serif SC' }}&gt;&#10;                架构图 · 三门一记忆&#10;            &lt;/Text&gt;&#10;            &lt;Text style={{ fontSize: 12, fontStyle: 'italic', color: '#94A3B8', fontFamily: 'Crimson Pro, serif' }}&gt;&#10;                Fig. 2 · One LSTM cell&#10;            &lt;/Text&gt;&#10;        &lt;/Box&gt;&#10;        &lt;Box style={{ width: '100%', height: 1, background: '#E2E8F0', marginTop: 8, marginBottom: 4 }} /&gt;&#10;        &lt;svg width='560' height='300' viewBox='0 0 560 300' style={{ display: 'block' }}&gt;&#10;            {/* 图例 */}&#10;            &lt;text x='280' y='20' fontFamily='Sarasa Gothic SC, sans-serif' fontSize='12.5' fill='#64748B' textAnchor='middle'&gt;f 遗忘门 · i 输入门 · g 候选态 · o 输出门&lt;/text&gt;&#10;&#10;            {/* 细胞状态高速公路底色带 */}&#10;            &lt;rect x='8' y='40' width='544' height='62' rx='10' fill='#F5F8FF' /&gt;&#10;            &lt;text x='280' y='56' fontFamily='Sarasa Gothic SC, sans-serif' fontSize='11.5' fill='#15296D' textAnchor='middle'&gt;细胞状态高速公路 · 加法更新，梯度可长程流动&lt;/text&gt;&#10;&#10;            {/* 细胞状态主干线 */}&#10;            &lt;text x='16' y='76' fontFamily='Crimson Pro, serif' fontSize='14' fontStyle='italic' fill='#15296D'&gt;Cₜ₋₁&lt;/text&gt;&#10;            &lt;line x1='60' y1='80' x2='133' y2='80' stroke='#1E40AF' strokeWidth='1.8' /&gt;&#10;            &lt;rect x='135' y='69' width='30' height='22' rx='5' fill='#FFFFFF' stroke='#EA580C' strokeWidth='1.8' /&gt;&#10;            &lt;text x='150' y='85' fontFamily='Crimson Pro, serif' fontSize='14' fill='#EA580C' textAnchor='middle'&gt;×&lt;/text&gt;&#10;            &lt;line x1='165' y1='80' x2='202' y2='80' stroke='#1E40AF' strokeWidth='1.8' /&gt;&#10;            &lt;rect x='204' y='69' width='32' height='22' rx='5' fill='#FFFFFF' stroke='#2563EB' strokeWidth='1.8' /&gt;&#10;            &lt;text x='220' y='85' fontFamily='Crimson Pro, serif' fontSize='14' fill='#2563EB' textAnchor='middle'&gt;+&lt;/text&gt;&#10;            &lt;line x1='236' y1='80' x2='280' y2='80' stroke='#1E40AF' strokeWidth='1.8' /&gt;&#10;            &lt;text x='258' y='62' fontFamily='Crimson Pro, serif' fontSize='13' fontStyle='italic' fill='#2563EB' textAnchor='middle'&gt;Cₜ&lt;/text&gt;&#10;            &lt;rect x='282' y='67' width='44' height='26' rx='6' fill='#EFF6FF' stroke='#2563EB' strokeWidth='1.5' /&gt;&#10;            &lt;text x='304' y='84' fontFamily='Crimson Pro, serif' fontSize='12.5' fill='#1E40AF' textAnchor='middle'&gt;tanh&lt;/text&gt;&#10;            &lt;line x1='326' y1='80' x2='362' y2='80' stroke='#1E40AF' strokeWidth='1.8' /&gt;&#10;            &lt;rect x='364' y='69' width='30' height='22' rx='5' fill='#FFFFFF' stroke='#EA580C' strokeWidth='1.8' /&gt;&#10;            &lt;text x='379' y='85' fontFamily='Crimson Pro, serif' fontSize='14' fill='#EA580C' textAnchor='middle'&gt;×&lt;/text&gt;&#10;            &lt;line x1='394' y1='80' x2='456' y2='80' stroke='#1E40AF' strokeWidth='1.8' /&gt;&#10;            &lt;polygon points='456,75 465,80 456,85' fill='#1E40AF' /&gt;&#10;            &lt;text x='474' y='76' fontFamily='Crimson Pro, serif' fontSize='15' fontStyle='italic' fill='#15296D'&gt;hₜ&lt;/text&gt;&#10;&#10;            {/* 四个门 */}&#10;            &lt;rect x='24' y='170' width='92' height='40' rx='8' fill='#EFF6FF' stroke='#2563EB' strokeWidth='1.5' /&gt;&#10;            &lt;text x='70' y='195' fontFamily='Crimson Pro, serif' fontSize='13.5' fill='#1E40AF' textAnchor='middle'&gt;σ fₜ&lt;/text&gt;&#10;            &lt;rect x='144' y='170' width='92' height='40' rx='8' fill='#EFF6FF' stroke='#2563EB' strokeWidth='1.5' /&gt;&#10;            &lt;text x='190' y='195' fontFamily='Crimson Pro, serif' fontSize='13.5' fill='#1E40AF' textAnchor='middle'&gt;σ iₜ&lt;/text&gt;&#10;            &lt;rect x='254' y='170' width='92' height='40' rx='8' fill='#EFF6FF' stroke='#2563EB' strokeWidth='1.5' /&gt;&#10;            &lt;text x='300' y='195' fontFamily='Crimson Pro, serif' fontSize='12.5' fill='#1E40AF' textAnchor='middle'&gt;tanh gₜ&lt;/text&gt;&#10;            &lt;rect x='384' y='170' width='92' height='40' rx='8' fill='#EFF6FF' stroke='#2563EB' strokeWidth='1.5' /&gt;&#10;            &lt;text x='430' y='195' fontFamily='Crimson Pro, serif' fontSize='13.5' fill='#1E40AF' textAnchor='middle'&gt;σ oₜ&lt;/text&gt;&#10;&#10;            {/* 门 → 高速公路（正交 + 标注） */}&#10;            &lt;path d='M70,170 V140 H150 V95' fill='none' stroke='#EA580C' strokeWidth='1.5' /&gt;&#10;            &lt;polygon points='146,95 150,87 154,95' fill='#EA580C' /&gt;&#10;            &lt;text x='78' y='122' fontFamily='Crimson Pro, serif' fontSize='11.5' fontStyle='italic' fill='#EA580C'&gt;fₜ × Cₜ₋₁&lt;/text&gt;&#10;            &lt;path d='M190,170 V120 H212 V95' fill='none' stroke='#2563EB' strokeWidth='1.5' /&gt;&#10;            &lt;polygon points='208,95 212,87 216,95' fill='#2563EB' /&gt;&#10;            &lt;text x='196' y='112' fontFamily='Crimson Pro, serif' fontSize='11.5' fontStyle='italic' fill='#2563EB'&gt;iₜ × gₜ&lt;/text&gt;&#10;            &lt;path d='M300,170 V140 H228 V95' fill='none' stroke='#2563EB' strokeWidth='1.5' /&gt;&#10;            &lt;polygon points='224,95 228,87 232,95' fill='#2563EB' /&gt;&#10;            &lt;text x='306' y='122' fontFamily='Crimson Pro, serif' fontSize='11.5' fontStyle='italic' fill='#2563EB'&gt;候选写入&lt;/text&gt;&#10;            &lt;path d='M430,170 V130 H379 V95' fill='none' stroke='#EA580C' strokeWidth='1.5' /&gt;&#10;            &lt;polygon points='375,95 379,87 383,95' fill='#EA580C' /&gt;&#10;            &lt;text x='438' y='122' fontFamily='Crimson Pro, serif' fontSize='11.5' fontStyle='italic' fill='#EA580C'&gt;oₜ × tanh(Cₜ)&lt;/text&gt;&#10;&#10;            {/* 拼接输入框 */}&#10;            &lt;rect x='180' y='246' width='200' height='32' rx='8' fill='#F1F5F9' stroke='#94A3B8' strokeWidth='1.2' /&gt;&#10;            &lt;text x='280' y='267' fontFamily='Crimson Pro, serif' fontSize='13.5' fill='#475569' textAnchor='middle'&gt;[ hₜ₋₁ , xₜ ]&lt;/text&gt;&#10;&#10;            {/* 输入 → 门（正交） */}&#10;            &lt;path d='M200,246 V236 H70 V212' fill='none' stroke='#94A3B8' strokeWidth='1.4' /&gt;&#10;            &lt;polygon points='66,212 70,204 74,212' fill='#94A3B8' /&gt;&#10;            &lt;path d='M240,246 V242 H190 V212' fill='none' stroke='#94A3B8' strokeWidth='1.4' /&gt;&#10;            &lt;polygon points='186,212 190,204 194,212' fill='#94A3B8' /&gt;&#10;            &lt;path d='M360,246 V236 H300 V212' fill='none' stroke='#94A3B8' strokeWidth='1.4' /&gt;&#10;            &lt;polygon points='296,212 300,204 304,212' fill='#94A3B8' /&gt;&#10;            &lt;path d='M370,246 V232 H430 V212' fill='none' stroke='#94A3B8' strokeWidth='1.4' /&gt;&#10;            &lt;polygon points='426,212 430,204 434,212' fill='#94A3B8' /&gt;&#10;&#10;            {/* 递归回边（虚线） */}&#10;            &lt;path d='M474,76 H520 V290 H182' fill='none' stroke='#EA580C' strokeWidth='1.4' strokeDasharray='5 4' /&gt;&#10;            &lt;polygon points='182,285 174,290 182,295' fill='#EA580C' /&gt;&#10;            &lt;text x='350' y='284' fontFamily='Sarasa Gothic SC, sans-serif' fontSize='11.5' fill='#EA580C' textAnchor='middle'&gt;hₜ 传入下一步时间步&lt;/text&gt;&#10;        &lt;/svg&gt;&#10;    &lt;/Box&gt;&#10;&#10;    {/* 右：核心要点面板 */}&#10;    &lt;Box style={{&#10;        position: 'absolute', top: 126, left: 664, width: 576, height: 400,&#10;        background: '#FFFFFF', borderRadius: 12, border: '1px solid #E2E8F0', padding: 20,&#10;        justifyContent: 'space-between',&#10;    }}&gt;&#10;        &lt;Box style={{ flexDirection: 'row', justifyContent: 'space-between', alignItems: 'center' }}&gt;&#10;            &lt;Text style={{ fontSize: 15, fontWeight: 'bold', color: '#15296D', fontFamily: 'Noto Serif SC' }}&gt;&#10;                核心要点 · Key Points&#10;            &lt;/Text&gt;&#10;            &lt;Box style={{ width: 28, height: 4, background: '#F59E0B', borderRadius: 2 }} /&gt;&#10;        &lt;/Box&gt;&#10;&#10;        &lt;Box style={{ flexDirection: 'row', gap: 12, alignItems: 'flex-start', marginTop: 12 }}&gt;&#10;            &lt;Box style={{ width: 26, height: 26, borderRadius: 6, background: '#15296D', alignItems: 'center', justifyContent: 'center' }}&gt;&#10;                &lt;Text style={{ fontSize: 13, color: '#FFFFFF', fontFamily: 'Crimson Pro, serif', fontWeight: 'bold' }}&gt;01&lt;/Text&gt;&#10;            &lt;/Box&gt;&#10;            &lt;Box style={{ flex: 1 }}&gt;&#10;                &lt;Text style={{ fontSize: 16.5, fontWeight: 'bold', color: '#1E293B' }}&gt;三门一记忆&lt;/Text&gt;&#10;                &lt;Text style={{ fontSize: 13, color: '#64748B', lineHeight: 1.6, marginTop: 3 }}&gt;&#10;                    遗忘门决定丢弃、输入门与候选态决定写入、输出门决定暴露；细胞状态 C 是一条穿越时间的加法高速公路。&#10;                &lt;/Text&gt;&#10;            &lt;/Box&gt;&#10;        &lt;/Box&gt;&#10;&#10;        &lt;Box style={{ flexDirection: 'row', gap: 12, alignItems: 'flex-start', marginTop: 12 }}&gt;&#10;            &lt;Box style={{ width: 26, height: 26, borderRadius: 6, background: '#15296D', alignItems: 'center', justifyContent: 'center' }}&gt;&#10;                &lt;Text style={{ fontSize: 13, color: '#FFFFFF', fontFamily: 'Crimson Pro, serif', fontWeight: 'bold' }}&gt;02&lt;/Text&gt;&#10;            &lt;/Box&gt;&#10;            &lt;Box style={{ flex: 1 }}&gt;&#10;                &lt;Text style={{ fontSize: 16.5, fontWeight: 'bold', color: '#1E293B' }}&gt;梯度高速路&lt;/Text&gt;&#10;                &lt;Text style={{ fontSize: 13, color: '#64748B', lineHeight: 1.6, marginTop: 3 }}&gt;&#10;                    C 的更新以加法为主，梯度可跨数百步流动而不衰减，RNN 的梯度消失被显著缓解。&#10;                &lt;/Text&gt;&#10;            &lt;/Box&gt;&#10;        &lt;/Box&gt;&#10;&#10;        &lt;Box style={{ flexDirection: 'row', gap: 12, alignItems: 'flex-start', marginTop: 12 }}&gt;&#10;            &lt;Box style={{ width: 26, height: 26, borderRadius: 6, background: '#15296D', alignItems: 'center', justifyContent: 'center' }}&gt;&#10;                &lt;Text style={{ fontSize: 13, color: '#FFFFFF', fontFamily: 'Crimson Pro, serif', fontWeight: 'bold' }}&gt;03&lt;/Text&gt;&#10;            &lt;/Box&gt;&#10;            &lt;Box style={{ flex: 1 }}&gt;&#10;                &lt;Text style={{ fontSize: 16.5, fontWeight: 'bold', color: '#1E293B' }}&gt;代价与遗产&lt;/Text&gt;&#10;                &lt;Text style={{ fontSize: 13, color: '#64748B', lineHeight: 1.6, marginTop: 3 }}&gt;&#10;                    参数量约为同规模 RNN 的 4 倍，且必须串行计算；门控思想此后启发了 GRU 与注意力中的各类门控。&#10;                &lt;/Text&gt;&#10;            &lt;/Box&gt;&#10;        &lt;/Box&gt;&#10;&#10;        &lt;Box style={{&#10;            background: '#FFF7ED', borderLeft: '3px solid #F59E0B', borderRadius: 6,&#10;            paddingTop: 10, paddingBottom: 10, paddingLeft: 14, paddingRight: 14, marginTop: 14,&#10;        }}&gt;&#10;            &lt;Text style={{ fontSize: 13.5, color: '#1E293B', lineHeight: 1.55 }}&gt;&#10;                &lt;span style={{ fontWeight: 'bold', color: '#EA580C' }}&gt;一句话本质：&lt;/span&gt;用可微分的「门」决定记忆的读写与遗忘，让长程信息活着穿过时间。&#10;            &lt;/Text&gt;&#10;        &lt;/Box&gt;&#10;    &lt;/Box&gt;&#10;&#10;    {/* 底部公式条 */}&#10;    &lt;Box style={{&#10;        position: 'absolute', top: 546, left: 40, width: 1200, height: 86,&#10;        background: 'linear-gradient(90deg, #15296D 0%, #1E40AF 55%, #2563EB 100%)',&#10;        borderRadius: 10, flexDirection: 'row', alignItems: 'center',&#10;        paddingLeft: 28, paddingRight: 28,&#10;    }}&gt;&#10;        &lt;Text style={{&#10;            fontSize: 13, color: '#F59E0B', fontFamily: 'Crimson Pro, serif',&#10;            fontWeight: 'bold', letterSpacing: 2,&#10;        }}&gt;&#10;            FORMULA&#10;        &lt;/Text&gt;&#10;        &lt;Box style={{ flex: 1, flexDirection: 'row', justifyContent: 'center', alignItems: 'center', gap: 40 }}&gt;&#10;            &lt;Text style={{&#10;                fontSize: 21, color: '#FFFFFF', fontFamily: 'Crimson Pro, serif', fontStyle: 'italic',&#10;            }}&gt;&#10;                fₜ = σ(W_f [hₜ₋₁, xₜ] + b_f)&#10;            &lt;/Text&gt;&#10;            &lt;Text style={{&#10;                fontSize: 21, color: '#FFFFFF', fontFamily: 'Crimson Pro, serif', fontStyle: 'italic',&#10;            }}&gt;&#10;                Cₜ = fₜ ⊙ Cₜ₋₁ + iₜ ⊙ tanh(W_C [hₜ₋₁, xₜ] + b_C)&#10;            &lt;/Text&gt;&#10;        &lt;/Box&gt;&#10;        &lt;Text style={{&#10;            fontSize: 12.5, color: 'rgba(255, 255, 255, 0.75)',&#10;            fontFamily: 'Sarasa Gothic SC', width: 300, textAlign: 'right', lineHeight: 1.5,&#10;        }}&gt;&#10;            遗忘门与细胞状态更新&lt;br /&gt;σ ∈ (0,1) 控制开度 · ⊙ 为逐元素乘&#10;        &lt;/Text&gt;&#10;    &lt;/Box&gt;&#10;&#10;    {/* 页脚 */}&#10;    &lt;Box style={{&#10;        position: 'absolute', top: 668, left: 40, width: 1200, height: 28,&#10;        flexDirection: 'row', justifyContent: 'space-between', alignItems: 'center',&#10;        borderTop: '1px solid #E2E8F0',&#10;    }}&gt;&#10;        &lt;Text style={{ fontSize: 12, color: '#94A3B8', fontFamily: 'Sarasa Gothic SC' }}&gt;&#10;            神经网络经典算法 · 学术报告讲义&#10;        &lt;/Text&gt;&#10;        &lt;Text style={{ fontSize: 13, color: '#1E40AF', fontFamily: 'Crimson Pro, serif', letterSpacing: 1 }}&gt;&#10;            04 / 08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381000" y="361950"/>
            <a:ext cx="76200" cy="762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52450" y="323850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EA580C"/>
                </a:solidFill>
                <a:latin typeface="Crimson Pro"/>
                <a:ea typeface="Crimson Pro"/>
              </a:rPr>
              <a:t>PART 02 · METHODS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2505075" y="323850"/>
            <a:ext cx="114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94A3B8"/>
                </a:solidFill>
                <a:latin typeface="Crimson Pro"/>
                <a:ea typeface="Crimson Pro"/>
              </a:rPr>
              <a:t>MODEL 02 / 04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81000" y="552450"/>
            <a:ext cx="3181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75">
                <a:solidFill>
                  <a:srgbClr val="15296D"/>
                </a:solidFill>
                <a:latin typeface="Noto Serif SC"/>
                <a:ea typeface="Noto Serif SC"/>
              </a:rPr>
              <a:t xml:space="preserve">LSTM · </a:t>
            </a:r>
            <a:r>
              <a:rPr lang="zh-CN" sz="2250" b="1" spc="75">
                <a:solidFill>
                  <a:srgbClr val="15296D"/>
                </a:solidFill>
                <a:latin typeface="Noto Serif SC"/>
                <a:ea typeface="Noto Serif SC"/>
              </a:rPr>
              <a:t>长短期记忆网络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3695700" y="552450"/>
            <a:ext cx="31146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i="1">
                <a:solidFill>
                  <a:srgbClr val="64748B"/>
                </a:solidFill>
                <a:latin typeface="Crimson Pro"/>
                <a:ea typeface="Crimson Pro"/>
              </a:rPr>
              <a:t>Long Short-Term Memory — Gated Cell State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381000" y="1200150"/>
            <a:ext cx="57150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52450" y="13716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5296D"/>
                </a:solidFill>
                <a:latin typeface="Noto Serif SC"/>
                <a:ea typeface="Noto Serif SC"/>
              </a:rPr>
              <a:t>架构图</a:t>
            </a:r>
            <a:r>
              <a:rPr lang="en-US" sz="1125" b="1">
                <a:solidFill>
                  <a:srgbClr val="15296D"/>
                </a:solidFill>
                <a:latin typeface="Noto Serif SC"/>
                <a:ea typeface="Noto Serif SC"/>
              </a:rPr>
              <a:t xml:space="preserve"> · </a:t>
            </a:r>
            <a:r>
              <a:rPr lang="zh-CN" sz="1125" b="1">
                <a:solidFill>
                  <a:srgbClr val="15296D"/>
                </a:solidFill>
                <a:latin typeface="Noto Serif SC"/>
                <a:ea typeface="Noto Serif SC"/>
              </a:rPr>
              <a:t>三门一记忆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800600" y="1390650"/>
            <a:ext cx="1123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i="1">
                <a:solidFill>
                  <a:srgbClr val="94A3B8"/>
                </a:solidFill>
                <a:latin typeface="Crimson Pro"/>
                <a:ea typeface="Crimson Pro"/>
              </a:rPr>
              <a:t>Fig. 2 · One LSTM cell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552450" y="1619250"/>
            <a:ext cx="53721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pic>
        <p:nvPicPr>
          <p:cNvPr id="1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2450" y="1666875"/>
            <a:ext cx="5334000" cy="2857500"/>
          </a:xfrm>
          <a:prstGeom prst="rect">
            <a:avLst/>
          </a:prstGeom>
          <a:ln/>
        </p:spPr>
      </p:pic>
      <p:sp>
        <p:nvSpPr>
          <p:cNvPr id="152" name=""/>
          <p:cNvSpPr/>
          <p:nvPr/>
        </p:nvSpPr>
        <p:spPr>
          <a:xfrm rot="0" flipH="0" flipV="0">
            <a:off x="6324600" y="1200150"/>
            <a:ext cx="54864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515100" y="1390650"/>
            <a:ext cx="1466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5296D"/>
                </a:solidFill>
                <a:latin typeface="Noto Serif SC"/>
                <a:ea typeface="Noto Serif SC"/>
              </a:rPr>
              <a:t>核心要点</a:t>
            </a:r>
            <a:r>
              <a:rPr lang="en-US" sz="1125" b="1">
                <a:solidFill>
                  <a:srgbClr val="15296D"/>
                </a:solidFill>
                <a:latin typeface="Noto Serif SC"/>
                <a:ea typeface="Noto Serif SC"/>
              </a:rPr>
              <a:t xml:space="preserve"> · Key Points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11353800" y="1457325"/>
            <a:ext cx="2667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6515100" y="18002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5296D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562725" y="184785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Crimson Pro"/>
                <a:ea typeface="Crimson Pro"/>
              </a:rPr>
              <a:t>01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877050" y="1800225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E293B"/>
                </a:solidFill>
                <a:latin typeface="Sarasa Gothic SC"/>
                <a:ea typeface="Sarasa Gothic SC"/>
              </a:rPr>
              <a:t>三门一记忆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877050" y="2019300"/>
            <a:ext cx="47434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遗忘门决定丢弃、输入门与候选态决定写入、输出门决定暴露；细胞状态</a:t>
            </a:r>
            <a:r>
              <a:rPr lang="en-US" sz="975">
                <a:solidFill>
                  <a:srgbClr val="64748B"/>
                </a:solidFill>
                <a:latin typeface="Sarasa Gothic SC"/>
                <a:ea typeface="Sarasa Gothic SC"/>
              </a:rPr>
              <a:t xml:space="preserve"> C </a:t>
            </a: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是一条穿越时间的加法高速公路。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515100" y="27336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5296D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553200" y="2781300"/>
            <a:ext cx="171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Crimson Pro"/>
                <a:ea typeface="Crimson Pro"/>
              </a:rPr>
              <a:t>02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877050" y="2733675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E293B"/>
                </a:solidFill>
                <a:latin typeface="Sarasa Gothic SC"/>
                <a:ea typeface="Sarasa Gothic SC"/>
              </a:rPr>
              <a:t>梯度高速路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877050" y="2952750"/>
            <a:ext cx="47434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64748B"/>
                </a:solidFill>
                <a:latin typeface="Sarasa Gothic SC"/>
                <a:ea typeface="Sarasa Gothic SC"/>
              </a:rPr>
              <a:t xml:space="preserve">C </a:t>
            </a: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的更新以加法为主，梯度可跨数百步流动而不衰减，</a:t>
            </a:r>
            <a:r>
              <a:rPr lang="en-US" sz="975">
                <a:solidFill>
                  <a:srgbClr val="64748B"/>
                </a:solidFill>
                <a:latin typeface="Sarasa Gothic SC"/>
                <a:ea typeface="Sarasa Gothic SC"/>
              </a:rPr>
              <a:t xml:space="preserve">RNN </a:t>
            </a: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的梯度消失被显著缓解。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515100" y="34290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5296D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553200" y="3476625"/>
            <a:ext cx="171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Crimson Pro"/>
                <a:ea typeface="Crimson Pro"/>
              </a:rPr>
              <a:t>03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877050" y="3429000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E293B"/>
                </a:solidFill>
                <a:latin typeface="Sarasa Gothic SC"/>
                <a:ea typeface="Sarasa Gothic SC"/>
              </a:rPr>
              <a:t>代价与遗产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877050" y="3648075"/>
            <a:ext cx="47434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参数量约为同规模</a:t>
            </a:r>
            <a:r>
              <a:rPr lang="en-US" sz="975">
                <a:solidFill>
                  <a:srgbClr val="64748B"/>
                </a:solidFill>
                <a:latin typeface="Sarasa Gothic SC"/>
                <a:ea typeface="Sarasa Gothic SC"/>
              </a:rPr>
              <a:t xml:space="preserve"> RNN </a:t>
            </a: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的</a:t>
            </a:r>
            <a:r>
              <a:rPr lang="en-US" sz="975">
                <a:solidFill>
                  <a:srgbClr val="64748B"/>
                </a:solidFill>
                <a:latin typeface="Sarasa Gothic SC"/>
                <a:ea typeface="Sarasa Gothic SC"/>
              </a:rPr>
              <a:t xml:space="preserve"> 4 </a:t>
            </a: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倍，且必须串行计算；门控思想此后启发了</a:t>
            </a:r>
            <a:r>
              <a:rPr lang="en-US" sz="975">
                <a:solidFill>
                  <a:srgbClr val="64748B"/>
                </a:solidFill>
                <a:latin typeface="Sarasa Gothic SC"/>
                <a:ea typeface="Sarasa Gothic SC"/>
              </a:rPr>
              <a:t xml:space="preserve"> GRU </a:t>
            </a: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与注意力中的各类门控。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6543675" y="4381500"/>
            <a:ext cx="5105400" cy="438150"/>
          </a:xfrm>
          <a:prstGeom prst="roundRect">
            <a:avLst>
              <a:gd name="adj" fmla="val 13043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6543675" y="4381500"/>
            <a:ext cx="5105400" cy="438150"/>
          </a:xfrm>
          <a:custGeom>
            <a:pathLst>
              <a:path w="536" h="4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43"/>
                </a:lnTo>
                <a:cubicBezTo>
                  <a:pt x="3" y="44"/>
                  <a:pt x="4" y="46"/>
                  <a:pt x="5" y="46"/>
                </a:cubicBezTo>
                <a:cubicBezTo>
                  <a:pt x="2" y="46"/>
                  <a:pt x="0" y="43"/>
                  <a:pt x="0" y="4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677025" y="4476750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13" b="1">
                <a:solidFill>
                  <a:srgbClr val="EA580C"/>
                </a:solidFill>
                <a:latin typeface="Sarasa Gothic SC"/>
                <a:ea typeface="Sarasa Gothic SC"/>
              </a:rPr>
              <a:t>一句话本质：</a:t>
            </a:r>
            <a:r>
              <a:rPr lang="zh-CN" sz="1013">
                <a:solidFill>
                  <a:srgbClr val="1E293B"/>
                </a:solidFill>
                <a:latin typeface="Sarasa Gothic SC"/>
                <a:ea typeface="Sarasa Gothic SC"/>
              </a:rPr>
              <a:t>用可微分的「门」决定记忆的读写与遗忘，让长程信息活着穿过时间。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381000" y="5200650"/>
            <a:ext cx="11430000" cy="819150"/>
          </a:xfrm>
          <a:prstGeom prst="roundRect">
            <a:avLst>
              <a:gd name="adj" fmla="val 11628"/>
            </a:avLst>
          </a:prstGeom>
          <a:gradFill>
            <a:gsLst>
              <a:gs pos="0">
                <a:srgbClr val="15296D"/>
              </a:gs>
              <a:gs pos="55000">
                <a:srgbClr val="1E40AF"/>
              </a:gs>
              <a:gs pos="100000">
                <a:srgbClr val="2563EB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47700" y="5534025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F59E0B"/>
                </a:solidFill>
                <a:latin typeface="Crimson Pro"/>
                <a:ea typeface="Crimson Pro"/>
              </a:rPr>
              <a:t>FORMULA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476375" y="5486400"/>
            <a:ext cx="2400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i="1">
                <a:solidFill>
                  <a:srgbClr val="FFFFFF"/>
                </a:solidFill>
                <a:latin typeface="Crimson Pro"/>
                <a:ea typeface="Crimson Pro"/>
              </a:rPr>
              <a:t>fₜ = σ(W_f [hₜ₋₁, xₜ] + b_f)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257675" y="5486400"/>
            <a:ext cx="4429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i="1">
                <a:solidFill>
                  <a:srgbClr val="FFFFFF"/>
                </a:solidFill>
                <a:latin typeface="Crimson Pro"/>
                <a:ea typeface="Crimson Pro"/>
              </a:rPr>
              <a:t>Cₜ = fₜ ⊙ Cₜ₋₁ + iₜ ⊙ tanh(W_C [hₜ₋₁, xₜ] + b_C)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686800" y="5400675"/>
            <a:ext cx="2857500" cy="428625"/>
          </a:xfrm>
          <a:prstGeom prst="rect"/>
        </p:spPr>
        <p:txBody>
          <a:bodyPr wrap="none" lIns="0" tIns="0" rIns="0" bIns="0"/>
          <a:p>
            <a:pPr algn="r"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>遗忘门与细胞状态更新</a:t>
            </a:r>
            <a:endParaRPr/>
          </a:p>
          <a:p>
            <a:pPr algn="r">
              <a:lnSpc>
                <a:spcPct val="150000"/>
              </a:lnSpc>
            </a:pPr>
            <a:r>
              <a:rPr lang="en-US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 xml:space="preserve">σ ∈ (0,1) </a:t>
            </a:r>
            <a:r>
              <a:rPr lang="zh-CN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>控制开度</a:t>
            </a:r>
            <a:r>
              <a:rPr lang="en-US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 xml:space="preserve"> · ⊙ </a:t>
            </a:r>
            <a:r>
              <a:rPr lang="zh-CN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>为逐元素乘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381000" y="6362700"/>
            <a:ext cx="11430000" cy="266700"/>
          </a:xfrm>
          <a:custGeom>
            <a:pathLst>
              <a:path w="1200" h="28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381000" y="6429375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Sarasa Gothic SC"/>
                <a:ea typeface="Sarasa Gothic SC"/>
              </a:rPr>
              <a:t>神经网络经典算法</a:t>
            </a:r>
            <a:r>
              <a:rPr lang="en-US" sz="900">
                <a:solidFill>
                  <a:srgbClr val="94A3B8"/>
                </a:solidFill>
                <a:latin typeface="Sarasa Gothic SC"/>
                <a:ea typeface="Sarasa Gothic SC"/>
              </a:rPr>
              <a:t xml:space="preserve"> · </a:t>
            </a:r>
            <a:r>
              <a:rPr lang="zh-CN" sz="900">
                <a:solidFill>
                  <a:srgbClr val="94A3B8"/>
                </a:solidFill>
                <a:latin typeface="Sarasa Gothic SC"/>
                <a:ea typeface="Sarasa Gothic SC"/>
              </a:rPr>
              <a:t>学术报告讲义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1325225" y="642937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1E40AF"/>
                </a:solidFill>
                <a:latin typeface="Crimson Pro"/>
                <a:ea typeface="Crimson Pro"/>
              </a:rPr>
              <a:t>04 / 08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0" y="0"/>
            <a:ext cx="12192000" cy="114300"/>
          </a:xfrm>
          <a:prstGeom prst="rect">
            <a:avLst/>
          </a:prstGeom>
          <a:gradFill>
            <a:gsLst>
              <a:gs pos="0">
                <a:srgbClr val="2563EB"/>
              </a:gs>
              <a:gs pos="45000">
                <a:srgbClr val="3B82F6"/>
              </a:gs>
              <a:gs pos="100000">
                <a:srgbClr val="F59E0B"/>
              </a:gs>
            </a:gsLst>
            <a:lin ang="0" scaled="1"/>
          </a:gradFill>
          <a:ln/>
        </p:spPr>
        <p:txBody>
          <a:bodyPr/>
          <a:p/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79" name="" descr="&lt;Slide style={{&#13;&#10;    width: 1280,&#13;&#10;    height: 720,&#13;&#10;    position: 'relative',&#13;&#10;    background: '#F5F7FC',&#13;&#10;    fontFamily: 'Sarasa Gothic SC',&#13;&#10;    padding: 0,&#13;&#10;}}&gt;&#13;&#10;    {/* 顶部 12px 蓝→橙渐变顶栏 */}&#13;&#10;    &lt;Box style={{&#13;&#10;        position: 'absolute', top: 0, left: 0, width: 1280, height: 12,&#13;&#10;        background: 'linear-gradient(90deg, #2563EB 0%, #3B82F6 45%, #F59E0B 100%)',&#13;&#10;        zIndex: 20,&#13;&#10;    }} /&gt;&#13;&#10;&#13;&#10;    {/* 页眉 */}&#13;&#10;    &lt;Box style={{ position: 'absolute', top: 34, left: 40, width: 1200 }}&gt;&#13;&#10;        &lt;Box style={{ flexDirection: 'row', alignItems: 'center', gap: 10 }}&gt;&#13;&#10;            &lt;Box style={{ width: 8, height: 8, background: '#EA580C' }} /&gt;&#13;&#10;            &lt;Text style={{&#13;&#10;                fontSize: 13, letterSpacing: 3, color: '#EA580C',&#13;&#10;                fontFamily: 'Crimson Pro, serif', fontWeight: 'bold',&#13;&#10;            }}&gt;&#13;&#10;                PART 02 · METHODS&#13;&#10;            &lt;/Text&gt;&#13;&#10;            &lt;Text style={{&#13;&#10;                fontSize: 13, letterSpacing: 2, color: '#94A3B8',&#13;&#10;                fontFamily: 'Crimson Pro, serif',&#13;&#10;            }}&gt;&#13;&#10;                MODEL 03 / 04&#13;&#10;            &lt;/Text&gt;&#13;&#10;        &lt;/Box&gt;&#13;&#10;        &lt;Box style={{ flexDirection: 'row', alignItems: 'baseline', gap: 14, marginTop: 8 }}&gt;&#13;&#10;            &lt;Text style={{&#13;&#10;                fontSize: 30, fontWeight: 'bold', color: '#15296D',&#13;&#10;                fontFamily: 'Noto Serif SC', letterSpacing: 1,&#13;&#10;            }}&gt;&#13;&#10;                CNN · 卷积神经网络&#13;&#10;            &lt;/Text&gt;&#13;&#10;            &lt;Text style={{&#13;&#10;                fontSize: 16, fontStyle: 'italic', color: '#64748B',&#13;&#10;                fontFamily: 'Crimson Pro, serif',&#13;&#10;            }}&gt;&#13;&#10;                Convolutional Neural Network — Local Receptive Fields&#13;&#10;            &lt;/Text&gt;&#13;&#10;        &lt;/Box&gt;&#13;&#10;    &lt;/Box&gt;&#13;&#10;&#13;&#10;    {/* 左：架构图卡 */}&#13;&#10;    &lt;Box style={{&#13;&#10;        position: 'absolute', top: 126, left: 40, width: 600, height: 400,&#13;&#10;        background: '#FFFFFF', borderRadius: 12, border: '1px solid #E2E8F0', padding: 18,&#13;&#10;    }}&gt;&#13;&#10;        &lt;Box style={{ flexDirection: 'row', justifyContent: 'space-between', alignItems: 'center' }}&gt;&#13;&#10;            &lt;Text style={{ fontSize: 15, fontWeight: 'bold', color: '#15296D', fontFamily: 'Noto Serif SC' }}&gt;&#13;&#10;                架构图 · 卷积金字塔&#13;&#10;            &lt;/Text&gt;&#13;&#10;            &lt;Text style={{ fontSize: 12, fontStyle: 'italic', color: '#94A3B8', fontFamily: 'Crimson Pro, serif' }}&gt;&#13;&#10;                Fig. 3 · LeNet-5 style hierarchy&#13;&#10;            &lt;/Text&gt;&#13;&#10;        &lt;/Box&gt;&#13;&#10;        &lt;Box style={{ width: '100%', height: 1, background: '#E2E8F0', marginTop: 8, marginBottom: 4 }} /&gt;&#13;&#10;        &lt;svg width='560' height='300' viewBox='0 0 560 300' style={{ display: 'block' }}&gt;&#13;&#10;            {/* 图内说明行 */}&#13;&#10;            &lt;text x='280' y='16' fontFamily='Sarasa Gothic SC, sans-serif' fontSize='12' fill='#64748B' textAnchor='middle'&gt;特征图逐层收缩 · 感受野逐层扩大 · 参数全程共享&lt;/text&gt;&#13;&#10;&#13;&#10;            {/* 输入特征图 32×32 */}&#13;&#10;            &lt;rect x='28' y='44' width='48' height='48' rx='4' fill='#F1F5F9' stroke='#94A3B8' strokeWidth='1.2' /&gt;&#13;&#10;            &lt;line x1='40' y1='44' x2='40' y2='92' stroke='#CBD5E1' strokeWidth='0.8' /&gt;&#13;&#10;            &lt;line x1='52' y1='44' x2='52' y2='92' stroke='#CBD5E1' strokeWidth='0.8' /&gt;&#13;&#10;            &lt;line x1='64' y1='44' x2='64' y2='92' stroke='#CBD5E1' strokeWidth='0.8' /&gt;&#13;&#10;            &lt;line x1='28' y1='56' x2='76' y2='56' stroke='#CBD5E1' strokeWidth='0.8' /&gt;&#13;&#10;            &lt;line x1='28' y1='68' x2='76' y2='68' stroke='#CBD5E1' strokeWidth='0.8' /&gt;&#13;&#10;            &lt;line x1='28' y1='80' x2='76' y2='80' stroke='#CBD5E1' strokeWidth='0.8' /&gt;&#13;&#10;&#13;&#10;            {/* Conv1 28×28 */}&#13;&#10;            &lt;rect x='106' y='48' width='40' height='40' rx='4' fill='#EFF6FF' stroke='#2563EB' strokeWidth='1.4' /&gt;&#13;&#10;            &lt;line x1='119' y1='48' x2='119' y2='88' stroke='#93C5FD' strokeWidth='0.8' /&gt;&#13;&#10;            &lt;line x1='133' y1='48' x2='133' y2='88' stroke='#93C5FD' strokeWidth='0.8' /&gt;&#13;&#10;            &lt;line x1='106' y1='61' x2='146' y2='61' stroke='#93C5FD' strokeWidth='0.8' /&gt;&#13;&#10;            &lt;line x1='106' y1='74' x2='146' y2='74' stroke='#93C5FD' strokeWidth='0.8' /&gt;&#13;&#10;&#13;&#10;            {/* Pool1 14×14 */}&#13;&#10;            &lt;rect x='185' y='53' width='30' height='30' rx='4' fill='#EFF6FF' stroke='#2563EB' strokeWidth='1.4' /&gt;&#13;&#10;            &lt;line x1='200' y1='53' x2='200' y2='83' stroke='#93C5FD' strokeWidth='0.8' /&gt;&#13;&#10;            &lt;line x1='185' y1='68' x2='215' y2='68' stroke='#93C5FD' strokeWidth='0.8' /&gt;&#13;&#10;&#13;&#10;            {/* Conv2 10×10 */}&#13;&#10;            &lt;rect x='262' y='56' width='24' height='24' rx='4' fill='#EFF6FF' stroke='#2563EB' strokeWidth='1.4' /&gt;&#13;&#10;            &lt;line x1='274' y1='56' x2='274' y2='80' stroke='#93C5FD' strokeWidth='0.8' /&gt;&#13;&#10;            &lt;line x1='262' y1='68' x2='286' y2='68' stroke='#93C5FD' strokeWidth='0.8' /&gt;&#13;&#10;&#13;&#10;            {/* Pool2 5×5 */}&#13;&#10;            &lt;rect x='339' y='59' width='18' height='18' rx='3' fill='#EFF6FF' stroke='#2563EB' strokeWidth='1.4' /&gt;&#13;&#10;            &lt;line x1='348' y1='59' x2='348' y2='77' stroke='#93C5FD' strokeWidth='0.8' /&gt;&#13;&#10;            &lt;line x1='339' y1='68' x2='357' y2='68' stroke='#93C5FD' strokeWidth='0.8' /&gt;&#13;&#10;&#13;&#10;            {/* FC */}&#13;&#10;            &lt;rect x='405' y='51' width='34' height='34' rx='8' fill='#FFF7ED' stroke='#EA580C' strokeWidth='1.4' /&gt;&#13;&#10;            &lt;text x='422' y='69' fontFamily='Crimson Pro, serif' fontSize='11' fill='#EA580C' textAnchor='middle'&gt;FC&lt;/text&gt;&#13;&#10;&#13;&#10;            {/* 输出 */}&#13;&#10;            &lt;rect x='479' y='51' width='34' height='34' rx='8' fill='#15296D' stroke='#15296D' strokeWidth='1.4' /&gt;&#13;&#10;            &lt;text x='496' y='70' fontFamily='Crimson Pro, serif' fontSize='14' fill='#FFFFFF' textAnchor='middle'&gt;ŷ&lt;/text&gt;&#13;&#10;&#13;&#10;            {/* 级联箭头 */}&#13;&#10;            &lt;line x1='76' y1='68' x2='102' y2='68' stroke='#1E40AF' strokeWidth='1.5' /&gt;&#13;&#10;            &lt;polygon points='102,63 111,68 102,73' fill='#1E40AF' /&gt;&#13;&#10;            &lt;line x1='146' y1='68' x2='181' y2='68' stroke='#1E40AF' strokeWidth='1.5' /&gt;&#13;&#10;            &lt;polygon points='181,63 190,68 181,73' fill='#1E40AF' /&gt;&#13;&#10;            &lt;line x1='215' y1='68' x2='258' y2='68' stroke='#1E40AF' strokeWidth='1.5' /&gt;&#13;&#10;            &lt;polygon points='258,63 267,68 258,73' fill='#1E40AF' /&gt;&#13;&#10;            &lt;line x1='286' y1='68' x2='335' y2='68' stroke='#1E40AF' strokeWidth='1.5' /&gt;&#13;&#10;            &lt;polygon points='335,63 344,68 335,73' fill='#1E40AF' /&gt;&#13;&#10;            &lt;line x1='357' y1='68' x2='401' y2='68' stroke='#1E40AF' strokeWidth='1.5' /&gt;&#13;&#10;            &lt;polygon points='401,63 410,68 401,73' fill='#1E40AF' /&gt;&#13;&#10;            &lt;line x1='439' y1='68' x2='475' y2='68' stroke='#1E40AF' strokeWidth='1.5' /&gt;&#13;&#10;            &lt;polygon points='475,63 484,68 475,73' fill='#1E40AF' /&gt;&#13;&#10;&#13;&#10;            {/* 操作标签 */}&#13;&#10;            &lt;text x='90' y='110' fontFamily='Crimson Pro, serif' fontSize='10.5' fill='#1E40AF' textAnchor='middle'&gt;Conv + ReLU&lt;/text&gt;&#13;&#10;            &lt;text x='164' y='110' fontFamily='Crimson Pro, serif' fontSize='10.5' fill='#1E40AF' textAnchor='middle'&gt;MaxPool&lt;/text&gt;&#13;&#10;            &lt;text x='238' y='110' fontFamily='Crimson Pro, serif' fontSize='10.5' fill='#1E40AF' textAnchor='middle'&gt;Conv + ReLU&lt;/text&gt;&#13;&#10;            &lt;text x='312' y='110' fontFamily='Crimson Pro, serif' fontSize='10.5' fill='#1E40AF' textAnchor='middle'&gt;MaxPool&lt;/text&gt;&#13;&#10;            &lt;text x='386' y='110' fontFamily='Crimson Pro, serif' fontSize='10.5' fill='#1E40AF' textAnchor='middle'&gt;Flatten&lt;/text&gt;&#13;&#10;            &lt;text x='460' y='110' fontFamily='Crimson Pro, serif' fontSize='10.5' fill='#1E40AF' textAnchor='middle'&gt;Softmax&lt;/text&gt;&#13;&#10;&#13;&#10;            {/* 尺寸标签 */}&#13;&#10;            &lt;text x='52' y='130' fontFamily='Crimson Pro, serif' fontSize='11' fill='#94A3B8' textAnchor='middle'&gt;32×32&lt;/text&gt;&#13;&#10;            &lt;text x='126' y='130' fontFamily='Crimson Pro, serif' fontSize='11' fill='#94A3B8' textAnchor='middle'&gt;28×28&lt;/text&gt;&#13;&#10;            &lt;text x='200' y='130' fontFamily='Crimson Pro, serif' fontSize='11' fill='#94A3B8' textAnchor='middle'&gt;14×14&lt;/text&gt;&#13;&#10;            &lt;text x='274' y='130' fontFamily='Crimson Pro, serif' fontSize='11' fill='#94A3B8' textAnchor='middle'&gt;10×10&lt;/text&gt;&#13;&#10;            &lt;text x='348' y='130' fontFamily='Crimson Pro, serif' fontSize='11' fill='#94A3B8' textAnchor='middle'&gt;5×5&lt;/text&gt;&#13;&#10;            &lt;text x='422' y='130' fontFamily='Crimson Pro, serif' fontSize='11' fill='#94A3B8' textAnchor='middle'&gt;120&lt;/text&gt;&#13;&#10;            &lt;text x='496' y='130' fontFamily='Crimson Pro, serif' fontSize='11' fill='#94A3B8' textAnchor='middle'&gt;10&lt;/text&gt;&#13;&#10;&#13;&#10;            {/* 阶段名 */}&#13;&#10;            &lt;text x='52' y='150' fontFamily='Sarasa Gothic SC, sans-serif' fontSize='11.5' fontWeight='bold' fill='#475569' textAnchor='middle'&gt;输入&lt;/text&gt;&#13;&#10;            &lt;text x='126' y='150' fontFamily='Crimson Pro, serif' fontSize='11.5' fill='#475569' textAnchor='middle'&gt;Conv1&lt;/text&gt;&#13;&#10;            &lt;text x='200' y='150' fontFamily='Crimson Pro, serif' fontSize='11.5' fill='#475569' textAnchor='middle'&gt;Pool1&lt;/text&gt;&#13;&#10;            &lt;text x='274' y='150' fontFamily='Crimson Pro, serif' fontSize='11.5' fill='#475569' textAnchor='middle'&gt;Conv2&lt;/text&gt;&#13;&#10;            &lt;text x='348' y='150' fontFamily='Crimson Pro, serif' fontSize='11.5' fill='#475569' textAnchor='middle'&gt;Pool2&lt;/text&gt;&#13;&#10;            &lt;text x='422' y='150' fontFamily='Crimson Pro, serif' fontSize='11.5' fill='#475569' textAnchor='middle'&gt;FC&lt;/text&gt;&#13;&#10;            &lt;text x='496' y='150' fontFamily='Sarasa Gothic SC, sans-serif' fontSize='11.5' fontWeight='bold' fill='#475569' textAnchor='middle'&gt;输出&lt;/text&gt;&#13;&#10;&#13;&#10;            {/* 分隔线 */}&#13;&#10;            &lt;line x1='20' y1='166' x2='540' y2='166' stroke='#E2E8F0' strokeWidth='1' /&gt;&#13;&#10;&#13;&#10;            {/* 左面板：卷积核 */}&#13;&#10;            &lt;rect x='20' y='178' width='250' height='104' rx='8' fill='#F8FAFC' stroke='#E2E8F0' strokeWidth='1' /&gt;&#13;&#10;            &lt;text x='34' y='200' fontFamily='Sarasa Gothic SC, sans-serif' fontSize='12.5' fontWeight='bold' fill='#15296D'&gt;卷积核 3×3 · 权重共享&lt;/text&gt;&#13;&#10;            &lt;rect x='112' y='214' width='17' height='17' fill='#DBEAFE' stroke='#2563EB' strokeWidth='0.8' /&gt;&#13;&#10;            &lt;rect x='129' y='214' width='17' height='17' fill='#BFDBFE' stroke='#2563EB' strokeWidth='0.8' /&gt;&#13;&#10;            &lt;rect x='146' y='214' width='17' height='17' fill='#DBEAFE' stroke='#2563EB' strokeWidth='0.8' /&gt;&#13;&#10;            &lt;rect x='112' y='231' width='17' height='17' fill='#BFDBFE' stroke='#2563EB' strokeWidth='0.8' /&gt;&#13;&#10;            &lt;rect x='129' y='231' width='17' height='17' fill='#60A5FA' stroke='#2563EB' strokeWidth='0.8' /&gt;&#13;&#10;            &lt;rect x='146' y='231' width='17' height='17' fill='#BFDBFE' stroke='#2563EB' strokeWidth='0.8' /&gt;&#13;&#10;            &lt;rect x='112' y='248' width='17' height='17' fill='#DBEAFE' stroke='#2563EB' strokeWidth='0.8' /&gt;&#13;&#10;            &lt;rect x='129' y='248' width='17' height='17' fill='#BFDBFE' stroke='#2563EB' strokeWidth='0.8' /&gt;&#13;&#10;            &lt;rect x='146' y='248' width='17' height='17' fill='#DBEAFE' stroke='#2563EB' strokeWidth='0.8' /&gt;&#13;&#10;            &lt;text x='174' y='226' fontFamily='Sarasa Gothic SC, sans-serif' fontSize='10.5' fill='#64748B'&gt;同一组参数 K&lt;/text&gt;&#13;&#10;            &lt;text x='174' y='242' fontFamily='Sarasa Gothic SC, sans-serif' fontSize='10.5' fill='#64748B'&gt;在整幅特征图上滑动&lt;/text&gt;&#13;&#10;            &lt;text x='174' y='258' fontFamily='Sarasa Gothic SC, sans-serif' fontSize='10.5' fill='#64748B'&gt;参数量与图幅无关&lt;/text&gt;&#13;&#10;            &lt;text x='34' y='274' fontFamily='Sarasa Gothic SC, sans-serif' fontSize='10.5' fill='#94A3B8'&gt;卷积核尺寸通常 3×3 / 5×5，逐层堆叠&lt;/text&gt;&#13;&#10;&#13;&#10;            {/* 右面板：层次特征 */}&#13;&#10;            &lt;rect x='290' y='178' width='250' height='104' rx='8' fill='#F8FAFC' stroke='#E2E8F0' strokeWidth='1' /&gt;&#13;&#10;            &lt;text x='304' y='200' fontFamily='Sarasa Gothic SC, sans-serif' fontSize='12.5' fontWeight='bold' fill='#15296D'&gt;层次特征逐级递进&lt;/text&gt;&#13;&#10;            &lt;rect x='304' y='214' width='48' height='22' rx='4' fill='#DBEAFE' /&gt;&#13;&#10;            &lt;text x='328' y='229' fontFamily='Sarasa Gothic SC, sans-serif' fontSize='11' fill='#1E293B' textAnchor='middle'&gt;边缘&lt;/text&gt;&#13;&#10;            &lt;line x1='352' y1='225' x2='358' y2='225' stroke='#94A3B8' strokeWidth='1.2' /&gt;&#13;&#10;            &lt;polygon points='358,221 364,225 358,229' fill='#94A3B8' /&gt;&#13;&#10;            &lt;rect x='366' y='214' width='48' height='22' rx='4' fill='#BFDBFE' /&gt;&#13;&#10;            &lt;text x='390' y='229' fontFamily='Sarasa Gothic SC, sans-serif' fontSize='11' fill='#1E293B' textAnchor='middle'&gt;纹理&lt;/text&gt;&#13;&#10;            &lt;line x1='414' y1='225' x2='420' y2='225' stroke='#94A3B8' strokeWidth='1.2' /&gt;&#13;&#10;            &lt;polygon points='420,221 426,225 420,229' fill='#94A3B8' /&gt;&#13;&#10;            &lt;rect x='428' y='214' width='48' height='22' rx='4' fill='#93C5FD' /&gt;&#13;&#10;            &lt;text x='452' y='229' fontFamily='Sarasa Gothic SC, sans-serif' fontSize='11' fill='#1E293B' textAnchor='middle'&gt;部件&lt;/text&gt;&#13;&#10;            &lt;line x1='476' y1='225' x2='482' y2='225' stroke='#94A3B8' strokeWidth='1.2' /&gt;&#13;&#10;            &lt;polygon points='482,221 488,225 482,229' fill='#94A3B8' /&gt;&#13;&#10;            &lt;rect x='490' y='214' width='44' height='22' rx='4' fill='#F59E0B' /&gt;&#13;&#10;            &lt;text x='512' y='229' fontFamily='Sarasa Gothic SC, sans-serif' fontSize='11' fill='#FFFFFF' textAnchor='middle'&gt;语义&lt;/text&gt;&#13;&#10;            &lt;text x='304' y='256' fontFamily='Sarasa Gothic SC, sans-serif' fontSize='10.5' fill='#64748B'&gt;感受野逐层扩大：局部统计 → 全局语义&lt;/text&gt;&#13;&#10;            &lt;text x='304' y='274' fontFamily='Sarasa Gothic SC, sans-serif' fontSize='10.5' fill='#94A3B8'&gt;深层特征图可直接用于分类与检测&lt;/text&gt;&#13;&#10;        &lt;/svg&gt;&#13;&#10;    &lt;/Box&gt;&#13;&#10;&#13;&#10;    {/* 右：核心要点面板 */}&#13;&#10;    &lt;Box style={{&#13;&#10;        position: 'absolute', top: 126, left: 664, width: 576, height: 400,&#13;&#10;        background: '#FFFFFF', borderRadius: 12, border: '1px solid #E2E8F0', padding: 20,&#13;&#10;        justifyContent: 'space-between',&#13;&#10;    }}&gt;&#13;&#10;        &lt;Box style={{ flexDirection: 'row', justifyContent: 'space-between', alignItems: 'center' }}&gt;&#13;&#10;            &lt;Text style={{ fontSize: 15, fontWeight: 'bold', color: '#15296D', fontFamily: 'Noto Serif SC' }}&gt;&#13;&#10;                核心要点 · Key Points&#13;&#10;            &lt;/Text&gt;&#13;&#10;            &lt;Box style={{ width: 28, height: 4, background: '#F59E0B', borderRadius: 2 }} /&gt;&#13;&#10;        &lt;/Box&gt;&#13;&#10;&#13;&#10;        &lt;Box style={{ flexDirection: 'row', gap: 12, alignItems: 'flex-start', marginTop: 12 }}&gt;&#13;&#10;            &lt;Box style={{ width: 26, height: 26, borderRadius: 6, background: '#15296D', alignItems: 'center', justifyContent: 'center' }}&gt;&#13;&#10;                &lt;Text style={{ fontSize: 13, color: '#FFFFFF', fontFamily: 'Crimson Pro, serif', fontWeight: 'bold' }}&gt;01&lt;/Text&gt;&#13;&#10;            &lt;/Box&gt;&#13;&#10;            &lt;Box style={{ flex: 1 }}&gt;&#13;&#10;                &lt;Text style={{ fontSize: 16.5, fontWeight: 'bold', color: '#1E293B' }}&gt;两个归纳偏置&lt;/Text&gt;&#13;&#10;                &lt;Text style={{ fontSize: 13, color: '#64748B', lineHeight: 1.6, marginTop: 3 }}&gt;&#13;&#10;                    局部感受野（只看邻域）与权重共享（同一卷积核扫全图）天然获得平移等变性，参数量远小于全连接。&#13;&#10;                &lt;/Text&gt;&#13;&#10;            &lt;/Box&gt;&#13;&#10;        &lt;/Box&gt;&#13;&#10;&#13;&#10;        &lt;Box style={{ flexDirection: 'row', gap: 12, alignItems: 'flex-start', marginTop: 12 }}&gt;&#13;&#10;            &lt;Box style={{ width: 26, height: 26, borderRadius: 6, background: '#15296D', alignItems: 'center', justifyContent: 'center' }}&gt;&#13;&#10;                &lt;Text style={{ fontSize: 13, color: '#FFFFFF', fontFamily: 'Crimson Pro, serif', fontWeight: 'bold' }}&gt;02&lt;/Text&gt;&#13;&#10;            &lt;/Box&gt;&#13;&#10;            &lt;Box style={{ flex: 1 }}&gt;&#13;&#10;                &lt;Text style={{ fontSize: 16.5, fontWeight: 'bold', color: '#1E293B' }}&gt;层次特征金字塔&lt;/Text&gt;&#13;&#10;                &lt;Text style={{ fontSize: 13, color: '#64748B', lineHeight: 1.6, marginTop: 3 }}&gt;&#13;&#10;                    浅层学边缘与纹理、中层学部件、深层学语义；池化逐层收缩分辨率，同时扩大感受野。&#13;&#10;                &lt;/Text&gt;&#13;&#10;            &lt;/Box&gt;&#13;&#10;        &lt;/Box&gt;&#13;&#10;&#13;&#10;        &lt;Box style={{ flexDirection: 'row', gap: 12, alignItems: 'flex-start', marginTop: 12 }}&gt;&#13;&#10;            &lt;Box style={{ width: 26, height: 26, borderRadius: 6, background: '#15296D', alignItems: 'center', justifyContent: 'center' }}&gt;&#13;&#10;                &lt;Text style={{ fontSize: 13, color: '#FFFFFF', fontFamily: 'Crimson Pro, serif', fontWeight: 'bold' }}&gt;03&lt;/Text&gt;&#13;&#10;            &lt;/Box&gt;&#13;&#10;            &lt;Box style={{ flex: 1 }}&gt;&#13;&#10;                &lt;Text style={{ fontSize: 16.5, fontWeight: 'bold', color: '#1E293B' }}&gt;里程碑意义&lt;/Text&gt;&#13;&#10;                &lt;Text style={{ fontSize: 13, color: '#64748B', lineHeight: 1.6, marginTop: 3 }}&gt;&#13;&#10;                    LeNet-5（1998）首次证明纯梯度训练的卷积网络可达实用的文档识别精度，奠定此后深度学习的范式。&#13;&#10;                &lt;/Text&gt;&#13;&#10;            &lt;/Box&gt;&#13;&#10;        &lt;/Box&gt;&#13;&#10;&#13;&#10;        &lt;Box style={{&#13;&#10;            background: '#FFF7ED', borderLeft: '3px solid #F59E0B', borderRadius: 6,&#13;&#10;            paddingTop: 10, paddingBottom: 10, paddingLeft: 14, paddingRight: 14, marginTop: 14,&#13;&#10;        }}&gt;&#13;&#10;            &lt;Text style={{ fontSize: 13.5, color: '#1E293B', lineHeight: 1.55 }}&gt;&#13;&#10;                &lt;span style={{ fontWeight: 'bold', color: '#EA580C' }}&gt;一句话本质：&lt;/span&gt;用局部共享的滤波器，把图像的统计结构逐层抽象成语义。&#13;&#10;            &lt;/Text&gt;&#13;&#10;        &lt;/Box&gt;&#13;&#10;    &lt;/Box&gt;&#13;&#10;&#13;&#10;    {/* 底部公式条 */}&#13;&#10;    &lt;Box style={{&#13;&#10;        position: 'absolute', top: 546, left: 40, width: 1200, height: 86,&#13;&#10;        background: 'linear-gradient(90deg, #15296D 0%, #1E40AF 55%, #2563EB 100%)',&#13;&#10;        borderRadius: 10, flexDirection: 'row', alignItems: 'center',&#13;&#10;        paddingLeft: 28, paddingRight: 28,&#13;&#10;    }}&gt;&#13;&#10;        &lt;Text style={{&#13;&#10;            fontSize: 13, color: '#F59E0B', fontFamily: 'Crimson Pro, serif',&#13;&#10;            fontWeight: 'bold', letterSpacing: 2,&#13;&#10;        }}&gt;&#13;&#10;            FORMULA&#13;&#10;        &lt;/Text&gt;&#13;&#10;        &lt;Text style={{&#13;&#10;            flex: 1, textAlign: 'center', fontSize: 24, color: '#FFFFFF',&#13;&#10;            fontFamily: 'Crimson Pro, serif', fontStyle: 'italic',&#13;&#10;        }}&gt;&#13;&#10;            y(i, j) = Σₘ Σₙ I(i + m, j + n) · K(m, n)&#13;&#10;        &lt;/Text&gt;&#13;&#10;        &lt;Text style={{&#13;&#10;            fontSize: 12.5, color: 'rgba(255, 255, 255, 0.75)',&#13;&#10;            fontFamily: 'Sarasa Gothic SC', width: 300, textAlign: 'right', lineHeight: 1.5,&#13;&#10;        }}&gt;&#13;&#10;            互相关（深度学习惯例）&lt;br /&gt;K：3×3 卷积核 · stride 控制滑幅&#13;&#10;        &lt;/Text&gt;&#13;&#10;    &lt;/Box&gt;&#13;&#10;&#13;&#10;    {/* 页脚 */}&#13;&#10;    &lt;Box style={{&#13;&#10;        position: 'absolute', top: 668, left: 40, width: 1200, height: 28,&#13;&#10;        flexDirection: 'row', justifyContent: 'space-between', alignItems: 'center',&#13;&#10;        borderTop: '1px solid #E2E8F0',&#13;&#10;    }}&gt;&#13;&#10;        &lt;Text style={{ fontSize: 12, color: '#94A3B8', fontFamily: 'Sarasa Gothic SC' }}&gt;&#13;&#10;            神经网络经典算法 · 学术报告讲义&#13;&#10;        &lt;/Text&gt;&#13;&#10;        &lt;Text style={{ fontSize: 13, color: '#1E40AF', fontFamily: 'Crimson Pro, serif', letterSpacing: 1 }}&gt;&#13;&#10;            05 / 08&#13;&#10;        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381000" y="361950"/>
            <a:ext cx="76200" cy="762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52450" y="323850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EA580C"/>
                </a:solidFill>
                <a:latin typeface="Crimson Pro"/>
                <a:ea typeface="Crimson Pro"/>
              </a:rPr>
              <a:t>PART 02 · METHODS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2505075" y="323850"/>
            <a:ext cx="114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94A3B8"/>
                </a:solidFill>
                <a:latin typeface="Crimson Pro"/>
                <a:ea typeface="Crimson Pro"/>
              </a:rPr>
              <a:t>MODEL 03 / 04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381000" y="552450"/>
            <a:ext cx="27336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75">
                <a:solidFill>
                  <a:srgbClr val="15296D"/>
                </a:solidFill>
                <a:latin typeface="Noto Serif SC"/>
                <a:ea typeface="Noto Serif SC"/>
              </a:rPr>
              <a:t xml:space="preserve">CNN · </a:t>
            </a:r>
            <a:r>
              <a:rPr lang="zh-CN" sz="2250" b="1" spc="75">
                <a:solidFill>
                  <a:srgbClr val="15296D"/>
                </a:solidFill>
                <a:latin typeface="Noto Serif SC"/>
                <a:ea typeface="Noto Serif SC"/>
              </a:rPr>
              <a:t>卷积神经网络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3248025" y="552450"/>
            <a:ext cx="38385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i="1">
                <a:solidFill>
                  <a:srgbClr val="64748B"/>
                </a:solidFill>
                <a:latin typeface="Crimson Pro"/>
                <a:ea typeface="Crimson Pro"/>
              </a:rPr>
              <a:t>Convolutional Neural Network — Local Receptive Fields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381000" y="1200150"/>
            <a:ext cx="57150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52450" y="13716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5296D"/>
                </a:solidFill>
                <a:latin typeface="Noto Serif SC"/>
                <a:ea typeface="Noto Serif SC"/>
              </a:rPr>
              <a:t>架构图</a:t>
            </a:r>
            <a:r>
              <a:rPr lang="en-US" sz="1125" b="1">
                <a:solidFill>
                  <a:srgbClr val="15296D"/>
                </a:solidFill>
                <a:latin typeface="Noto Serif SC"/>
                <a:ea typeface="Noto Serif SC"/>
              </a:rPr>
              <a:t xml:space="preserve"> · </a:t>
            </a:r>
            <a:r>
              <a:rPr lang="zh-CN" sz="1125" b="1">
                <a:solidFill>
                  <a:srgbClr val="15296D"/>
                </a:solidFill>
                <a:latin typeface="Noto Serif SC"/>
                <a:ea typeface="Noto Serif SC"/>
              </a:rPr>
              <a:t>卷积金字塔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333875" y="1390650"/>
            <a:ext cx="1590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i="1">
                <a:solidFill>
                  <a:srgbClr val="94A3B8"/>
                </a:solidFill>
                <a:latin typeface="Crimson Pro"/>
                <a:ea typeface="Crimson Pro"/>
              </a:rPr>
              <a:t>Fig. 3 · LeNet-5 style hierarchy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552450" y="1619250"/>
            <a:ext cx="53721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pic>
        <p:nvPicPr>
          <p:cNvPr id="1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2450" y="1666875"/>
            <a:ext cx="5334000" cy="2857500"/>
          </a:xfrm>
          <a:prstGeom prst="rect">
            <a:avLst/>
          </a:prstGeom>
          <a:ln/>
        </p:spPr>
      </p:pic>
      <p:sp>
        <p:nvSpPr>
          <p:cNvPr id="191" name=""/>
          <p:cNvSpPr/>
          <p:nvPr/>
        </p:nvSpPr>
        <p:spPr>
          <a:xfrm rot="0" flipH="0" flipV="0">
            <a:off x="6324600" y="1200150"/>
            <a:ext cx="54864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515100" y="1390650"/>
            <a:ext cx="1466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5296D"/>
                </a:solidFill>
                <a:latin typeface="Noto Serif SC"/>
                <a:ea typeface="Noto Serif SC"/>
              </a:rPr>
              <a:t>核心要点</a:t>
            </a:r>
            <a:r>
              <a:rPr lang="en-US" sz="1125" b="1">
                <a:solidFill>
                  <a:srgbClr val="15296D"/>
                </a:solidFill>
                <a:latin typeface="Noto Serif SC"/>
                <a:ea typeface="Noto Serif SC"/>
              </a:rPr>
              <a:t xml:space="preserve"> · Key Points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11353800" y="1457325"/>
            <a:ext cx="2667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6515100" y="17430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5296D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562725" y="179070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Crimson Pro"/>
                <a:ea typeface="Crimson Pro"/>
              </a:rPr>
              <a:t>01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877050" y="1743075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E293B"/>
                </a:solidFill>
                <a:latin typeface="Sarasa Gothic SC"/>
                <a:ea typeface="Sarasa Gothic SC"/>
              </a:rPr>
              <a:t>两个归纳偏置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877050" y="1962150"/>
            <a:ext cx="47434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局部感受野（只看邻域）与权重共享（同一卷积核扫全图）天然获得平移等变性，参数量远小于全连接。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6515100" y="26193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5296D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553200" y="2667000"/>
            <a:ext cx="171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Crimson Pro"/>
                <a:ea typeface="Crimson Pro"/>
              </a:rPr>
              <a:t>02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877050" y="2619375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E293B"/>
                </a:solidFill>
                <a:latin typeface="Sarasa Gothic SC"/>
                <a:ea typeface="Sarasa Gothic SC"/>
              </a:rPr>
              <a:t>层次特征金字塔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877050" y="2838450"/>
            <a:ext cx="47434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浅层学边缘与纹理、中层学部件、深层学语义；池化逐层收缩分辨率，同时扩大感受野。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6515100" y="34861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5296D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553200" y="3533775"/>
            <a:ext cx="171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Crimson Pro"/>
                <a:ea typeface="Crimson Pro"/>
              </a:rPr>
              <a:t>03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877050" y="3486150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E293B"/>
                </a:solidFill>
                <a:latin typeface="Sarasa Gothic SC"/>
                <a:ea typeface="Sarasa Gothic SC"/>
              </a:rPr>
              <a:t>里程碑意义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877050" y="3705225"/>
            <a:ext cx="47434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64748B"/>
                </a:solidFill>
                <a:latin typeface="Sarasa Gothic SC"/>
                <a:ea typeface="Sarasa Gothic SC"/>
              </a:rPr>
              <a:t>LeNet-5</a:t>
            </a: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（</a:t>
            </a:r>
            <a:r>
              <a:rPr lang="en-US" sz="975">
                <a:solidFill>
                  <a:srgbClr val="64748B"/>
                </a:solidFill>
                <a:latin typeface="Sarasa Gothic SC"/>
                <a:ea typeface="Sarasa Gothic SC"/>
              </a:rPr>
              <a:t>1998</a:t>
            </a: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）首次证明纯梯度训练的卷积网络可达实用的文档识别精度，奠定此后深度学习的范式。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6543675" y="4381500"/>
            <a:ext cx="5105400" cy="438150"/>
          </a:xfrm>
          <a:prstGeom prst="roundRect">
            <a:avLst>
              <a:gd name="adj" fmla="val 13043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207" name=""/>
          <p:cNvSpPr/>
          <p:nvPr/>
        </p:nvSpPr>
        <p:spPr>
          <a:xfrm rot="0" flipH="0" flipV="0">
            <a:off x="6543675" y="4381500"/>
            <a:ext cx="5105400" cy="438150"/>
          </a:xfrm>
          <a:custGeom>
            <a:pathLst>
              <a:path w="536" h="4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43"/>
                </a:lnTo>
                <a:cubicBezTo>
                  <a:pt x="3" y="44"/>
                  <a:pt x="4" y="46"/>
                  <a:pt x="5" y="46"/>
                </a:cubicBezTo>
                <a:cubicBezTo>
                  <a:pt x="2" y="46"/>
                  <a:pt x="0" y="43"/>
                  <a:pt x="0" y="4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677025" y="4476750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13" b="1">
                <a:solidFill>
                  <a:srgbClr val="EA580C"/>
                </a:solidFill>
                <a:latin typeface="Sarasa Gothic SC"/>
                <a:ea typeface="Sarasa Gothic SC"/>
              </a:rPr>
              <a:t>一句话本质：</a:t>
            </a:r>
            <a:r>
              <a:rPr lang="zh-CN" sz="1013">
                <a:solidFill>
                  <a:srgbClr val="1E293B"/>
                </a:solidFill>
                <a:latin typeface="Sarasa Gothic SC"/>
                <a:ea typeface="Sarasa Gothic SC"/>
              </a:rPr>
              <a:t>用局部共享的滤波器，把图像的统计结构逐层抽象成语义。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381000" y="5200650"/>
            <a:ext cx="11430000" cy="819150"/>
          </a:xfrm>
          <a:prstGeom prst="roundRect">
            <a:avLst>
              <a:gd name="adj" fmla="val 11628"/>
            </a:avLst>
          </a:prstGeom>
          <a:gradFill>
            <a:gsLst>
              <a:gs pos="0">
                <a:srgbClr val="15296D"/>
              </a:gs>
              <a:gs pos="55000">
                <a:srgbClr val="1E40AF"/>
              </a:gs>
              <a:gs pos="100000">
                <a:srgbClr val="2563EB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47700" y="5534025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F59E0B"/>
                </a:solidFill>
                <a:latin typeface="Crimson Pro"/>
                <a:ea typeface="Crimson Pro"/>
              </a:rPr>
              <a:t>FORMULA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476375" y="5476875"/>
            <a:ext cx="7210425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800" i="1">
                <a:solidFill>
                  <a:srgbClr val="FFFFFF"/>
                </a:solidFill>
                <a:latin typeface="Crimson Pro"/>
                <a:ea typeface="Crimson Pro"/>
              </a:rPr>
              <a:t>y(i, j) = Σₘ Σₙ I(i + m, j + n) · K(m, n)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686800" y="5400675"/>
            <a:ext cx="2857500" cy="428625"/>
          </a:xfrm>
          <a:prstGeom prst="rect"/>
        </p:spPr>
        <p:txBody>
          <a:bodyPr wrap="none" lIns="0" tIns="0" rIns="0" bIns="0"/>
          <a:p>
            <a:pPr algn="r"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>互相关（深度学习惯例）</a:t>
            </a:r>
            <a:endParaRPr/>
          </a:p>
          <a:p>
            <a:pPr algn="r">
              <a:lnSpc>
                <a:spcPct val="150000"/>
              </a:lnSpc>
            </a:pPr>
            <a:r>
              <a:rPr lang="en-US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>K</a:t>
            </a:r>
            <a:r>
              <a:rPr lang="zh-CN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>：</a:t>
            </a:r>
            <a:r>
              <a:rPr lang="en-US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 xml:space="preserve">3×3 </a:t>
            </a:r>
            <a:r>
              <a:rPr lang="zh-CN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>卷积核</a:t>
            </a:r>
            <a:r>
              <a:rPr lang="en-US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 xml:space="preserve"> · stride </a:t>
            </a:r>
            <a:r>
              <a:rPr lang="zh-CN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>控制滑幅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381000" y="6362700"/>
            <a:ext cx="11430000" cy="266700"/>
          </a:xfrm>
          <a:custGeom>
            <a:pathLst>
              <a:path w="1200" h="28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381000" y="6429375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Sarasa Gothic SC"/>
                <a:ea typeface="Sarasa Gothic SC"/>
              </a:rPr>
              <a:t>神经网络经典算法</a:t>
            </a:r>
            <a:r>
              <a:rPr lang="en-US" sz="900">
                <a:solidFill>
                  <a:srgbClr val="94A3B8"/>
                </a:solidFill>
                <a:latin typeface="Sarasa Gothic SC"/>
                <a:ea typeface="Sarasa Gothic SC"/>
              </a:rPr>
              <a:t xml:space="preserve"> · </a:t>
            </a:r>
            <a:r>
              <a:rPr lang="zh-CN" sz="900">
                <a:solidFill>
                  <a:srgbClr val="94A3B8"/>
                </a:solidFill>
                <a:latin typeface="Sarasa Gothic SC"/>
                <a:ea typeface="Sarasa Gothic SC"/>
              </a:rPr>
              <a:t>学术报告讲义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1334750" y="6429375"/>
            <a:ext cx="476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1E40AF"/>
                </a:solidFill>
                <a:latin typeface="Crimson Pro"/>
                <a:ea typeface="Crimson Pro"/>
              </a:rPr>
              <a:t>05 / 08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0" y="0"/>
            <a:ext cx="12192000" cy="114300"/>
          </a:xfrm>
          <a:prstGeom prst="rect">
            <a:avLst/>
          </a:prstGeom>
          <a:gradFill>
            <a:gsLst>
              <a:gs pos="0">
                <a:srgbClr val="2563EB"/>
              </a:gs>
              <a:gs pos="45000">
                <a:srgbClr val="3B82F6"/>
              </a:gs>
              <a:gs pos="100000">
                <a:srgbClr val="F59E0B"/>
              </a:gs>
            </a:gsLst>
            <a:lin ang="0" scaled="1"/>
          </a:gradFill>
          <a:ln/>
        </p:spPr>
        <p:txBody>
          <a:bodyPr/>
          <a:p/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17" name="" descr="&lt;Slide style={{&#13;&#10;    width: 1280,&#13;&#10;    height: 720,&#13;&#10;    position: 'relative',&#13;&#10;    background: '#F5F7FC',&#13;&#10;    fontFamily: 'Sarasa Gothic SC',&#13;&#10;    padding: 0,&#13;&#10;}}&gt;&#13;&#10;    {/* 顶部 12px 蓝→橙渐变顶栏 */}&#13;&#10;    &lt;Box style={{&#13;&#10;        position: 'absolute', top: 0, left: 0, width: 1280, height: 12,&#13;&#10;        background: 'linear-gradient(90deg, #2563EB 0%, #3B82F6 45%, #F59E0B 100%)',&#13;&#10;        zIndex: 20,&#13;&#10;    }} /&gt;&#13;&#10;&#13;&#10;    {/* 页眉 */}&#13;&#10;    &lt;Box style={{ position: 'absolute', top: 34, left: 40, width: 1200 }}&gt;&#13;&#10;        &lt;Box style={{ flexDirection: 'row', alignItems: 'center', gap: 10 }}&gt;&#13;&#10;            &lt;Box style={{ width: 8, height: 8, background: '#EA580C' }} /&gt;&#13;&#10;            &lt;Text style={{&#13;&#10;                fontSize: 13, letterSpacing: 3, color: '#EA580C',&#13;&#10;                fontFamily: 'Crimson Pro, serif', fontWeight: 'bold',&#13;&#10;            }}&gt;&#13;&#10;                PART 02 · METHODS&#13;&#10;            &lt;/Text&gt;&#13;&#10;            &lt;Text style={{&#13;&#10;                fontSize: 13, letterSpacing: 2, color: '#94A3B8',&#13;&#10;                fontFamily: 'Crimson Pro, serif',&#13;&#10;            }}&gt;&#13;&#10;                MODEL 04 / 04&#13;&#10;            &lt;/Text&gt;&#13;&#10;        &lt;/Box&gt;&#13;&#10;        &lt;Box style={{ flexDirection: 'row', alignItems: 'baseline', gap: 14, marginTop: 8 }}&gt;&#13;&#10;            &lt;Text style={{&#13;&#10;                fontSize: 30, fontWeight: 'bold', color: '#15296D',&#13;&#10;                fontFamily: 'Noto Serif SC', letterSpacing: 1,&#13;&#10;            }}&gt;&#13;&#10;                Transformer · 注意力架构&#13;&#10;            &lt;/Text&gt;&#13;&#10;            &lt;Text style={{&#13;&#10;                fontSize: 16, fontStyle: 'italic', color: '#64748B',&#13;&#10;                fontFamily: 'Crimson Pro, serif',&#13;&#10;            }}&gt;&#13;&#10;                Attention Is All You Need — Vaswani et al., 2017&#13;&#10;            &lt;/Text&gt;&#13;&#10;        &lt;/Box&gt;&#13;&#10;    &lt;/Box&gt;&#13;&#10;&#13;&#10;    {/* 左：架构图卡 */}&#13;&#10;    &lt;Box style={{&#13;&#10;        position: 'absolute', top: 126, left: 40, width: 600, height: 400,&#13;&#10;        background: '#FFFFFF', borderRadius: 12, border: '1px solid #E2E8F0', padding: 18,&#13;&#10;    }}&gt;&#13;&#10;        &lt;Box style={{ flexDirection: 'row', justifyContent: 'space-between', alignItems: 'center' }}&gt;&#13;&#10;            &lt;Text style={{ fontSize: 15, fontWeight: 'bold', color: '#15296D', fontFamily: 'Noto Serif SC' }}&gt;&#13;&#10;                架构图 · Encoder–Decoder&#13;&#10;            &lt;/Text&gt;&#13;&#10;            &lt;Text style={{ fontSize: 12, fontStyle: 'italic', color: '#94A3B8', fontFamily: 'Crimson Pro, serif' }}&gt;&#13;&#10;                Fig. 4 · Stacked attention blocks&#13;&#10;            &lt;/Text&gt;&#13;&#10;        &lt;/Box&gt;&#13;&#10;        &lt;Box style={{ width: '100%', height: 1, background: '#E2E8F0', marginTop: 8, marginBottom: 4 }} /&gt;&#13;&#10;        &lt;svg width='560' height='320' viewBox='0 0 560 320' style={{ display: 'block' }}&gt;&#13;&#10;            {/* 顶部连接：Encoder → Decoder */}&#13;&#10;            &lt;path d='M150,40 V22 H430 V40' fill='none' stroke='#EA580C' strokeWidth='1.6' /&gt;&#13;&#10;            &lt;polygon points='426,40 430,48 434,40' fill='#EA580C' /&gt;&#13;&#10;            &lt;text x='290' y='16' fontFamily='Sarasa Gothic SC, sans-serif' fontSize='11' fill='#EA580C' textAnchor='middle'&gt;Encoder Output → 作为 Decoder 的 K, V&lt;/text&gt;&#13;&#10;&#13;&#10;            {/* Encoder 块 */}&#13;&#10;            &lt;rect x='56' y='40' width='188' height='150' rx='10' fill='#FFFFFF' stroke='#1E40AF' strokeWidth='1.6' /&gt;&#13;&#10;            &lt;rect x='56' y='32' width='84' height='18' rx='4' fill='#15296D' /&gt;&#13;&#10;            &lt;text x='98' y='45' fontFamily='Crimson Pro, serif' fontSize='10.5' fill='#FFFFFF' textAnchor='middle'&gt;Encoder ×N&lt;/text&gt;&#13;&#10;            &lt;rect x='68' y='50' width='164' height='28' rx='6' fill='#EFF6FF' stroke='#3B82F6' strokeWidth='1.2' /&gt;&#13;&#10;            &lt;text x='150' y='68' fontFamily='Crimson Pro, serif' fontSize='11.5' fill='#1E40AF' textAnchor='middle'&gt;Multi-Head Attention&lt;/text&gt;&#13;&#10;            &#13;&#10;            &lt;rect x='68' y='84' width='164' height='20' rx='4' fill='#F8FAFC' stroke='#CBD5E1' strokeWidth='1' /&gt;&#13;&#10;            &lt;text x='150' y='98' fontFamily='Crimson Pro, serif' fontSize='10.5' fill='#64748B' textAnchor='middle'&gt;Add + Norm&lt;/text&gt;&#13;&#10;            &lt;rect x='68' y='110' width='164' height='28' rx='6' fill='#EFF6FF' stroke='#3B82F6' strokeWidth='1.2' /&gt;&#13;&#10;            &lt;text x='150' y='128' fontFamily='Crimson Pro, serif' fontSize='11.5' fill='#1E40AF' textAnchor='middle'&gt;Feed-Forward Network&lt;/text&gt;&#13;&#10;            &lt;rect x='68' y='144' width='164' height='20' rx='4' fill='#F8FAFC' stroke='#CBD5E1' strokeWidth='1' /&gt;&#13;&#10;            &lt;text x='150' y='158' fontFamily='Crimson Pro, serif' fontSize='10.5' fill='#64748B' textAnchor='middle'&gt;Add + Norm&lt;/text&gt;&#13;&#10;&#13;&#10;            {/* Decoder 块 */}&#13;&#10;            &lt;rect x='336' y='40' width='188' height='186' rx='10' fill='#FFFFFF' stroke='#1E40AF' strokeWidth='1.6' /&gt;&#13;&#10;            &lt;rect x='336' y='32' width='84' height='18' rx='4' fill='#15296D' /&gt;&#13;&#10;            &lt;text x='378' y='45' fontFamily='Crimson Pro, serif' fontSize='10.5' fill='#FFFFFF' textAnchor='middle'&gt;Decoder ×N&lt;/text&gt;&#13;&#10;            &lt;rect x='348' y='50' width='164' height='28' rx='6' fill='#EFF6FF' stroke='#3B82F6' strokeWidth='1.2' /&gt;&#13;&#10;            &lt;text x='430' y='68' fontFamily='Crimson Pro, serif' fontSize='11' fill='#1E40AF' textAnchor='middle'&gt;Masked Multi-Head Attn&lt;/text&gt;&#13;&#10;            &lt;rect x='348' y='84' width='164' height='20' rx='4' fill='#F8FAFC' stroke='#CBD5E1' strokeWidth='1' /&gt;&#13;&#10;            &lt;text x='430' y='98' fontFamily='Crimson Pro, serif' fontSize='10.5' fill='#64748B' textAnchor='middle'&gt;Add + Norm&lt;/text&gt;&#13;&#10;            &lt;rect x='348' y='110' width='164' height='28' rx='6' fill='#FFF7ED' stroke='#EA580C' strokeWidth='1.2' /&gt;&#13;&#10;            &lt;text x='430' y='128' fontFamily='Crimson Pro, serif' fontSize='11' fill='#EA580C' textAnchor='middle'&gt;Cross-Attention&lt;/text&gt;&#13;&#10;            &lt;rect x='348' y='144' width='164' height='20' rx='4' fill='#F8FAFC' stroke='#CBD5E1' strokeWidth='1' /&gt;&#13;&#10;            &lt;text x='430' y='158' fontFamily='Crimson Pro, serif' fontSize='10.5' fill='#64748B' textAnchor='middle'&gt;Add + Norm&lt;/text&gt;&#13;&#10;            &lt;rect x='348' y='160' width='164' height='28' rx='6' fill='#EFF6FF' stroke='#3B82F6' strokeWidth='1.2' /&gt;&#13;&#10;            &lt;text x='430' y='178' fontFamily='Crimson Pro, serif' fontSize='11.5' fill='#1E40AF' textAnchor='middle'&gt;Feed-Forward Network&lt;/text&gt;&#13;&#10;            &lt;rect x='348' y='194' width='164' height='20' rx='4' fill='#F8FAFC' stroke='#CBD5E1' strokeWidth='1' /&gt;&#13;&#10;            &lt;text x='430' y='208' fontFamily='Crimson Pro, serif' fontSize='10.5' fill='#64748B' textAnchor='middle'&gt;Add + Norm&lt;/text&gt;&#13;&#10;&#13;&#10;            {/* 输入 / 输出 */}&#13;&#10;            &lt;rect x='56' y='248' width='188' height='32' rx='8' fill='#F1F5F9' stroke='#94A3B8' strokeWidth='1.2' /&gt;&#13;&#10;            &lt;text x='150' y='268' fontFamily='Crimson Pro, serif' fontSize='11' fill='#475569' textAnchor='middle'&gt;Input Embedding + Pos. Enc.&lt;/text&gt;&#13;&#10;            &lt;line x1='150' y1='248' x2='150' y2='196' stroke='#94A3B8' strokeWidth='1.4' /&gt;&#13;&#10;            &lt;polygon points='146,196 150,188 154,196' fill='#94A3B8' /&gt;&#13;&#10;            &lt;rect x='336' y='248' width='188' height='32' rx='8' fill='#F1F5F9' stroke='#94A3B8' strokeWidth='1.2' /&gt;&#13;&#10;            &lt;text x='430' y='268' fontFamily='Crimson Pro, serif' fontSize='11' fill='#475569' textAnchor='middle'&gt;Output Embedding + Pos. Enc.&lt;/text&gt;&#13;&#10;            &lt;line x1='430' y1='248' x2='430' y2='232' stroke='#94A3B8' strokeWidth='1.4' /&gt;&#13;&#10;            &lt;polygon points='426,232 430,224 434,232' fill='#94A3B8' /&gt;&#13;&#10;&#13;&#10;            {/* 底部注释 */}&#13;&#10;            &lt;text x='16' y='306' fontFamily='Sarasa Gothic SC, sans-serif' fontSize='11' fill='#64748B'&gt;堆叠 N 个相同结构块（原论文 N = 6）&lt;/text&gt;&#13;&#10;            &lt;text x='544' y='306' fontFamily='Sarasa Gothic SC, sans-serif' fontSize='11' fill='#64748B' textAnchor='end'&gt;残差连接 + 层归一化环绕每个子层&lt;/text&gt;&#13;&#10;        &lt;/svg&gt;&#13;&#10;    &lt;/Box&gt;&#13;&#10;&#13;&#10;    {/* 右：核心要点面板 */}&#13;&#10;    &lt;Box style={{&#13;&#10;        position: 'absolute', top: 126, left: 664, width: 576, height: 400,&#13;&#10;        background: '#FFFFFF', borderRadius: 12, border: '1px solid #E2E8F0', padding: 20,&#13;&#10;        justifyContent: 'space-between',&#13;&#10;    }}&gt;&#13;&#10;        &lt;Box style={{ flexDirection: 'row', justifyContent: 'space-between', alignItems: 'center' }}&gt;&#13;&#10;            &lt;Text style={{ fontSize: 15, fontWeight: 'bold', color: '#15296D', fontFamily: 'Noto Serif SC' }}&gt;&#13;&#10;                核心要点 · Key Points&#13;&#10;            &lt;/Text&gt;&#13;&#10;            &lt;Box style={{ width: 28, height: 4, background: '#F59E0B', borderRadius: 2 }} /&gt;&#13;&#10;        &lt;/Box&gt;&#13;&#10;&#13;&#10;        &lt;Box style={{ flexDirection: 'row', gap: 12, alignItems: 'flex-start', marginTop: 12 }}&gt;&#13;&#10;            &lt;Box style={{ width: 26, height: 26, borderRadius: 6, background: '#15296D', alignItems: 'center', justifyContent: 'center' }}&gt;&#13;&#10;                &lt;Text style={{ fontSize: 13, color: '#FFFFFF', fontFamily: 'Crimson Pro, serif', fontWeight: 'bold' }}&gt;01&lt;/Text&gt;&#13;&#10;            &lt;/Box&gt;&#13;&#10;            &lt;Box style={{ flex: 1 }}&gt;&#13;&#10;                &lt;Text style={{ fontSize: 16.5, fontWeight: 'bold', color: '#1E293B' }}&gt;自注意力：全局直连&lt;/Text&gt;&#13;&#10;                &lt;Text style={{ fontSize: 13, color: '#64748B', lineHeight: 1.6, marginTop: 3 }}&gt;&#13;&#10;                    每个位置与所有位置直接交互，任意两点路径长度 O(1)；Q/K/V 三点积加权完成信息检索与聚合。&#13;&#10;                &lt;/Text&gt;&#13;&#10;            &lt;/Box&gt;&#13;&#10;        &lt;/Box&gt;&#13;&#10;&#13;&#10;        &lt;Box style={{ flexDirection: 'row', gap: 12, alignItems: 'flex-start', marginTop: 12 }}&gt;&#13;&#10;            &lt;Box style={{ width: 26, height: 26, borderRadius: 6, background: '#15296D', alignItems: 'center', justifyContent: 'center' }}&gt;&#13;&#10;                &lt;Text style={{ fontSize: 13, color: '#FFFFFF', fontFamily: 'Crimson Pro, serif', fontWeight: 'bold' }}&gt;02&lt;/Text&gt;&#13;&#10;            &lt;/Box&gt;&#13;&#10;            &lt;Box style={{ flex: 1 }}&gt;&#13;&#10;                &lt;Text style={{ fontSize: 16.5, fontWeight: 'bold', color: '#1E293B' }}&gt;位置编码与全并行&lt;/Text&gt;&#13;&#10;                &lt;Text style={{ fontSize: 13, color: '#64748B', lineHeight: 1.6, marginTop: 3 }}&gt;&#13;&#10;                    正弦或可学习位置编码注入顺序信息；无递归链，整条序列并行计算，训练效率远超 RNN/LSTM。&#13;&#10;                &lt;/Text&gt;&#13;&#10;            &lt;/Box&gt;&#13;&#10;        &lt;/Box&gt;&#13;&#10;&#13;&#10;        &lt;Box style={{ flexDirection: 'row', gap: 12, alignItems: 'flex-start', marginTop: 12 }}&gt;&#13;&#10;            &lt;Box style={{ width: 26, height: 26, borderRadius: 6, background: '#15296D', alignItems: 'center', justifyContent: 'center' }}&gt;&#13;&#10;                &lt;Text style={{ fontSize: 13, color: '#FFFFFF', fontFamily: 'Crimson Pro, serif', fontWeight: 'bold' }}&gt;03&lt;/Text&gt;&#13;&#10;            &lt;/Box&gt;&#13;&#10;            &lt;Box style={{ flex: 1 }}&gt;&#13;&#10;                &lt;Text style={{ fontSize: 16.5, fontWeight: 'bold', color: '#1E293B' }}&gt;复杂度与统治&lt;/Text&gt;&#13;&#10;                &lt;Text style={{ fontSize: 13, color: '#64748B', lineHeight: 1.6, marginTop: 3 }}&gt;&#13;&#10;                    注意力开销随序列长度平方增长 O(n²·d)；但凭借可扩展性成为 BERT、GPT 等大模型的共同底座。&#13;&#10;                &lt;/Text&gt;&#13;&#10;            &lt;/Box&gt;&#13;&#10;        &lt;/Box&gt;&#13;&#10;&#13;&#10;        &lt;Box style={{&#13;&#10;            background: '#FFF7ED', borderLeft: '3px solid #F59E0B', borderRadius: 6,&#13;&#10;            paddingTop: 10, paddingBottom: 10, paddingLeft: 14, paddingRight: 14, marginTop: 14,&#13;&#10;        }}&gt;&#13;&#10;            &lt;Text style={{ fontSize: 13.5, color: '#1E293B', lineHeight: 1.55 }}&gt;&#13;&#10;                &lt;span style={{ fontWeight: 'bold', color: '#EA580C' }}&gt;一句话本质：&lt;/span&gt;不要递归、不要卷积——让所有位置在每一层直接对话。&#13;&#10;            &lt;/Text&gt;&#13;&#10;        &lt;/Box&gt;&#13;&#10;    &lt;/Box&gt;&#13;&#10;&#13;&#10;    {/* 底部公式条 */}&#13;&#10;    &lt;Box style={{&#13;&#10;        position: 'absolute', top: 546, left: 40, width: 1200, height: 86,&#13;&#10;        background: 'linear-gradient(90deg, #15296D 0%, #1E40AF 55%, #2563EB 100%)',&#13;&#10;        borderRadius: 10, flexDirection: 'row', alignItems: 'center',&#13;&#10;        paddingLeft: 28, paddingRight: 28,&#13;&#10;    }}&gt;&#13;&#10;        &lt;Text style={{&#13;&#10;            fontSize: 13, color: '#F59E0B', fontFamily: 'Crimson Pro, serif',&#13;&#10;            fontWeight: 'bold', letterSpacing: 2,&#13;&#10;        }}&gt;&#13;&#10;            FORMULA&#13;&#10;        &lt;/Text&gt;&#13;&#10;        &lt;Text style={{&#13;&#10;            flex: 1, textAlign: 'center', fontSize: 24, color: '#FFFFFF',&#13;&#10;            fontFamily: 'Crimson Pro, serif', fontStyle: 'italic',&#13;&#10;        }}&gt;&#13;&#10;            Attention(Q, K, V) = softmax(QKᵀ / √dₖ) · V&#13;&#10;        &lt;/Text&gt;&#13;&#10;        &lt;Text style={{&#13;&#10;            fontSize: 12.5, color: 'rgba(255, 255, 255, 0.75)',&#13;&#10;            fontFamily: 'Sarasa Gothic SC', width: 300, textAlign: 'right', lineHeight: 1.5,&#13;&#10;        }}&gt;&#13;&#10;            缩放点积注意力&lt;br /&gt;√dₖ 防止内积过大使 softmax 饱和&#13;&#10;        &lt;/Text&gt;&#13;&#10;    &lt;/Box&gt;&#13;&#10;&#13;&#10;    {/* 页脚 */}&#13;&#10;    &lt;Box style={{&#13;&#10;        position: 'absolute', top: 668, left: 40, width: 1200, height: 28,&#13;&#10;        flexDirection: 'row', justifyContent: 'space-between', alignItems: 'center',&#13;&#10;        borderTop: '1px solid #E2E8F0',&#13;&#10;    }}&gt;&#13;&#10;        &lt;Text style={{ fontSize: 12, color: '#94A3B8', fontFamily: 'Sarasa Gothic SC' }}&gt;&#13;&#10;            神经网络经典算法 · 学术报告讲义&#13;&#10;        &lt;/Text&gt;&#13;&#10;        &lt;Text style={{ fontSize: 13, color: '#1E40AF', fontFamily: 'Crimson Pro, serif', letterSpacing: 1 }}&gt;&#13;&#10;            06 / 08&#13;&#10;        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381000" y="361950"/>
            <a:ext cx="76200" cy="762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52450" y="323850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EA580C"/>
                </a:solidFill>
                <a:latin typeface="Crimson Pro"/>
                <a:ea typeface="Crimson Pro"/>
              </a:rPr>
              <a:t>PART 02 · METHODS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2505075" y="323850"/>
            <a:ext cx="114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94A3B8"/>
                </a:solidFill>
                <a:latin typeface="Crimson Pro"/>
                <a:ea typeface="Crimson Pro"/>
              </a:rPr>
              <a:t>MODEL 04 / 04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381000" y="552450"/>
            <a:ext cx="36576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75">
                <a:solidFill>
                  <a:srgbClr val="15296D"/>
                </a:solidFill>
                <a:latin typeface="Noto Serif SC"/>
                <a:ea typeface="Noto Serif SC"/>
              </a:rPr>
              <a:t xml:space="preserve">Transformer · </a:t>
            </a:r>
            <a:r>
              <a:rPr lang="zh-CN" sz="2250" b="1" spc="75">
                <a:solidFill>
                  <a:srgbClr val="15296D"/>
                </a:solidFill>
                <a:latin typeface="Noto Serif SC"/>
                <a:ea typeface="Noto Serif SC"/>
              </a:rPr>
              <a:t>注意力架构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4171950" y="552450"/>
            <a:ext cx="3295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i="1">
                <a:solidFill>
                  <a:srgbClr val="64748B"/>
                </a:solidFill>
                <a:latin typeface="Crimson Pro"/>
                <a:ea typeface="Crimson Pro"/>
              </a:rPr>
              <a:t>Attention Is All You Need — Vaswani et al., 2017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381000" y="1200150"/>
            <a:ext cx="57150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52450" y="1371600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5296D"/>
                </a:solidFill>
                <a:latin typeface="Noto Serif SC"/>
                <a:ea typeface="Noto Serif SC"/>
              </a:rPr>
              <a:t>架构图</a:t>
            </a:r>
            <a:r>
              <a:rPr lang="en-US" sz="1125" b="1">
                <a:solidFill>
                  <a:srgbClr val="15296D"/>
                </a:solidFill>
                <a:latin typeface="Noto Serif SC"/>
                <a:ea typeface="Noto Serif SC"/>
              </a:rPr>
              <a:t xml:space="preserve"> · Encoder–Decoder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295775" y="1390650"/>
            <a:ext cx="1628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i="1">
                <a:solidFill>
                  <a:srgbClr val="94A3B8"/>
                </a:solidFill>
                <a:latin typeface="Crimson Pro"/>
                <a:ea typeface="Crimson Pro"/>
              </a:rPr>
              <a:t>Fig. 4 · Stacked attention blocks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552450" y="1619250"/>
            <a:ext cx="53721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pic>
        <p:nvPicPr>
          <p:cNvPr id="2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2450" y="1666875"/>
            <a:ext cx="5334000" cy="3048000"/>
          </a:xfrm>
          <a:prstGeom prst="rect">
            <a:avLst/>
          </a:prstGeom>
          <a:ln/>
        </p:spPr>
      </p:pic>
      <p:sp>
        <p:nvSpPr>
          <p:cNvPr id="229" name=""/>
          <p:cNvSpPr/>
          <p:nvPr/>
        </p:nvSpPr>
        <p:spPr>
          <a:xfrm rot="0" flipH="0" flipV="0">
            <a:off x="6324600" y="1200150"/>
            <a:ext cx="54864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515100" y="1390650"/>
            <a:ext cx="1466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5296D"/>
                </a:solidFill>
                <a:latin typeface="Noto Serif SC"/>
                <a:ea typeface="Noto Serif SC"/>
              </a:rPr>
              <a:t>核心要点</a:t>
            </a:r>
            <a:r>
              <a:rPr lang="en-US" sz="1125" b="1">
                <a:solidFill>
                  <a:srgbClr val="15296D"/>
                </a:solidFill>
                <a:latin typeface="Noto Serif SC"/>
                <a:ea typeface="Noto Serif SC"/>
              </a:rPr>
              <a:t xml:space="preserve"> · Key Points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11353800" y="1457325"/>
            <a:ext cx="2667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6515100" y="17430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5296D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562725" y="179070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Crimson Pro"/>
                <a:ea typeface="Crimson Pro"/>
              </a:rPr>
              <a:t>01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877050" y="1743075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E293B"/>
                </a:solidFill>
                <a:latin typeface="Sarasa Gothic SC"/>
                <a:ea typeface="Sarasa Gothic SC"/>
              </a:rPr>
              <a:t>自注意力：全局直连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877050" y="1962150"/>
            <a:ext cx="47434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每个位置与所有位置直接交互，任意两点路径长度</a:t>
            </a:r>
            <a:r>
              <a:rPr lang="en-US" sz="975">
                <a:solidFill>
                  <a:srgbClr val="64748B"/>
                </a:solidFill>
                <a:latin typeface="Sarasa Gothic SC"/>
                <a:ea typeface="Sarasa Gothic SC"/>
              </a:rPr>
              <a:t xml:space="preserve"> O(1)</a:t>
            </a: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；</a:t>
            </a:r>
            <a:r>
              <a:rPr lang="en-US" sz="975">
                <a:solidFill>
                  <a:srgbClr val="64748B"/>
                </a:solidFill>
                <a:latin typeface="Sarasa Gothic SC"/>
                <a:ea typeface="Sarasa Gothic SC"/>
              </a:rPr>
              <a:t xml:space="preserve">Q/K/V </a:t>
            </a: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三点积加权完成信息检索与聚合。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515100" y="26193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5296D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553200" y="2667000"/>
            <a:ext cx="171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Crimson Pro"/>
                <a:ea typeface="Crimson Pro"/>
              </a:rPr>
              <a:t>02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877050" y="2619375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E293B"/>
                </a:solidFill>
                <a:latin typeface="Sarasa Gothic SC"/>
                <a:ea typeface="Sarasa Gothic SC"/>
              </a:rPr>
              <a:t>位置编码与全并行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877050" y="2838450"/>
            <a:ext cx="47434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正弦或可学习位置编码注入顺序信息；无递归链，整条序列并行计算，训练效率远超</a:t>
            </a:r>
            <a:r>
              <a:rPr lang="en-US" sz="975">
                <a:solidFill>
                  <a:srgbClr val="64748B"/>
                </a:solidFill>
                <a:latin typeface="Sarasa Gothic SC"/>
                <a:ea typeface="Sarasa Gothic SC"/>
              </a:rPr>
              <a:t xml:space="preserve"> RNN/LSTM</a:t>
            </a: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。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515100" y="34861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5296D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553200" y="3533775"/>
            <a:ext cx="171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Crimson Pro"/>
                <a:ea typeface="Crimson Pro"/>
              </a:rPr>
              <a:t>03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877050" y="3486150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E293B"/>
                </a:solidFill>
                <a:latin typeface="Sarasa Gothic SC"/>
                <a:ea typeface="Sarasa Gothic SC"/>
              </a:rPr>
              <a:t>复杂度与统治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877050" y="3705225"/>
            <a:ext cx="47434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注意力开销随序列长度平方增长</a:t>
            </a:r>
            <a:r>
              <a:rPr lang="en-US" sz="975">
                <a:solidFill>
                  <a:srgbClr val="64748B"/>
                </a:solidFill>
                <a:latin typeface="Sarasa Gothic SC"/>
                <a:ea typeface="Sarasa Gothic SC"/>
              </a:rPr>
              <a:t xml:space="preserve"> O(n²·d)</a:t>
            </a: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；但凭借可扩展性成为</a:t>
            </a:r>
            <a:r>
              <a:rPr lang="en-US" sz="975">
                <a:solidFill>
                  <a:srgbClr val="64748B"/>
                </a:solidFill>
                <a:latin typeface="Sarasa Gothic SC"/>
                <a:ea typeface="Sarasa Gothic SC"/>
              </a:rPr>
              <a:t xml:space="preserve"> BERT</a:t>
            </a: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、</a:t>
            </a:r>
            <a:r>
              <a:rPr lang="en-US" sz="975">
                <a:solidFill>
                  <a:srgbClr val="64748B"/>
                </a:solidFill>
                <a:latin typeface="Sarasa Gothic SC"/>
                <a:ea typeface="Sarasa Gothic SC"/>
              </a:rPr>
              <a:t xml:space="preserve">GPT </a:t>
            </a:r>
            <a:r>
              <a:rPr lang="zh-CN" sz="975">
                <a:solidFill>
                  <a:srgbClr val="64748B"/>
                </a:solidFill>
                <a:latin typeface="Sarasa Gothic SC"/>
                <a:ea typeface="Sarasa Gothic SC"/>
              </a:rPr>
              <a:t>等大模型的共同底座。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543675" y="4381500"/>
            <a:ext cx="5105400" cy="438150"/>
          </a:xfrm>
          <a:prstGeom prst="roundRect">
            <a:avLst>
              <a:gd name="adj" fmla="val 13043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6543675" y="4381500"/>
            <a:ext cx="5105400" cy="438150"/>
          </a:xfrm>
          <a:custGeom>
            <a:pathLst>
              <a:path w="536" h="4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43"/>
                </a:lnTo>
                <a:cubicBezTo>
                  <a:pt x="3" y="44"/>
                  <a:pt x="4" y="46"/>
                  <a:pt x="5" y="46"/>
                </a:cubicBezTo>
                <a:cubicBezTo>
                  <a:pt x="2" y="46"/>
                  <a:pt x="0" y="43"/>
                  <a:pt x="0" y="4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677025" y="4476750"/>
            <a:ext cx="4810125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13" b="1">
                <a:solidFill>
                  <a:srgbClr val="EA580C"/>
                </a:solidFill>
                <a:latin typeface="Sarasa Gothic SC"/>
                <a:ea typeface="Sarasa Gothic SC"/>
              </a:rPr>
              <a:t>一句话本质：</a:t>
            </a:r>
            <a:r>
              <a:rPr lang="zh-CN" sz="1013">
                <a:solidFill>
                  <a:srgbClr val="1E293B"/>
                </a:solidFill>
                <a:latin typeface="Sarasa Gothic SC"/>
                <a:ea typeface="Sarasa Gothic SC"/>
              </a:rPr>
              <a:t>不要递归、不要卷积——让所有位置在每一层直接对话。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381000" y="5200650"/>
            <a:ext cx="11430000" cy="819150"/>
          </a:xfrm>
          <a:prstGeom prst="roundRect">
            <a:avLst>
              <a:gd name="adj" fmla="val 11628"/>
            </a:avLst>
          </a:prstGeom>
          <a:gradFill>
            <a:gsLst>
              <a:gs pos="0">
                <a:srgbClr val="15296D"/>
              </a:gs>
              <a:gs pos="55000">
                <a:srgbClr val="1E40AF"/>
              </a:gs>
              <a:gs pos="100000">
                <a:srgbClr val="2563EB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47700" y="5534025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F59E0B"/>
                </a:solidFill>
                <a:latin typeface="Crimson Pro"/>
                <a:ea typeface="Crimson Pro"/>
              </a:rPr>
              <a:t>FORMULA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1476375" y="5476875"/>
            <a:ext cx="7210425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800" i="1">
                <a:solidFill>
                  <a:srgbClr val="FFFFFF"/>
                </a:solidFill>
                <a:latin typeface="Crimson Pro"/>
                <a:ea typeface="Crimson Pro"/>
              </a:rPr>
              <a:t>Attention(Q, K, V) = softmax(QKᵀ / √dₖ) · V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686800" y="5400675"/>
            <a:ext cx="2857500" cy="428625"/>
          </a:xfrm>
          <a:prstGeom prst="rect"/>
        </p:spPr>
        <p:txBody>
          <a:bodyPr wrap="none" lIns="0" tIns="0" rIns="0" bIns="0"/>
          <a:p>
            <a:pPr algn="r"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>缩放点积注意力</a:t>
            </a:r>
            <a:endParaRPr/>
          </a:p>
          <a:p>
            <a:pPr algn="r">
              <a:lnSpc>
                <a:spcPct val="150000"/>
              </a:lnSpc>
            </a:pPr>
            <a:r>
              <a:rPr lang="en-US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 xml:space="preserve">√dₖ </a:t>
            </a:r>
            <a:r>
              <a:rPr lang="zh-CN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>防止内积过大使</a:t>
            </a:r>
            <a:r>
              <a:rPr lang="en-US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 xml:space="preserve"> softmax </a:t>
            </a:r>
            <a:r>
              <a:rPr lang="zh-CN" sz="938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>饱和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381000" y="6362700"/>
            <a:ext cx="11430000" cy="266700"/>
          </a:xfrm>
          <a:custGeom>
            <a:pathLst>
              <a:path w="1200" h="28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381000" y="6429375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Sarasa Gothic SC"/>
                <a:ea typeface="Sarasa Gothic SC"/>
              </a:rPr>
              <a:t>神经网络经典算法</a:t>
            </a:r>
            <a:r>
              <a:rPr lang="en-US" sz="900">
                <a:solidFill>
                  <a:srgbClr val="94A3B8"/>
                </a:solidFill>
                <a:latin typeface="Sarasa Gothic SC"/>
                <a:ea typeface="Sarasa Gothic SC"/>
              </a:rPr>
              <a:t xml:space="preserve"> · </a:t>
            </a:r>
            <a:r>
              <a:rPr lang="zh-CN" sz="900">
                <a:solidFill>
                  <a:srgbClr val="94A3B8"/>
                </a:solidFill>
                <a:latin typeface="Sarasa Gothic SC"/>
                <a:ea typeface="Sarasa Gothic SC"/>
              </a:rPr>
              <a:t>学术报告讲义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1325225" y="642937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1E40AF"/>
                </a:solidFill>
                <a:latin typeface="Crimson Pro"/>
                <a:ea typeface="Crimson Pro"/>
              </a:rPr>
              <a:t>06 / 08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0" y="0"/>
            <a:ext cx="12192000" cy="114300"/>
          </a:xfrm>
          <a:prstGeom prst="rect">
            <a:avLst/>
          </a:prstGeom>
          <a:gradFill>
            <a:gsLst>
              <a:gs pos="0">
                <a:srgbClr val="2563EB"/>
              </a:gs>
              <a:gs pos="45000">
                <a:srgbClr val="3B82F6"/>
              </a:gs>
              <a:gs pos="100000">
                <a:srgbClr val="F59E0B"/>
              </a:gs>
            </a:gsLst>
            <a:lin ang="0" scaled="1"/>
          </a:gradFill>
          <a:ln/>
        </p:spPr>
        <p:txBody>
          <a:bodyPr/>
          <a:p/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55" name="" descr="&lt;Slide style={{&#10;    width: 1280,&#10;    height: 720,&#10;    position: 'relative',&#10;    background: 'linear-gradient(135deg, #101F52 0%, #15296D 55%, #1E3A8A 100%)',&#10;    fontFamily: 'Sarasa Gothic SC',&#10;    padding: 0,&#10;}}&gt;&#10;    {/* 顶部 12px 蓝→橙渐变顶栏 */}&#10;    &lt;Box style={{&#10;        position: 'absolute', top: 0, left: 0, width: 1280, height: 12,&#10;        background: 'linear-gradient(90deg, #2563EB 0%, #3B82F6 45%, #F59E0B 100%)',&#10;        zIndex: 20,&#10;    }} /&gt;&#10;&#10;    {/* 页眉 */}&#10;    &lt;Box style={{ position: 'absolute', top: 36, left: 40, width: 1200 }}&gt;&#10;        &lt;Box style={{ flexDirection: 'row', alignItems: 'center', gap: 10 }}&gt;&#10;            &lt;Box style={{ width: 8, height: 8, background: '#F59E0B' }} /&gt;&#10;            &lt;Text style={{&#10;                fontSize: 13, letterSpacing: 3, color: '#F59E0B',&#10;                fontFamily: 'Crimson Pro, serif', fontWeight: 'bold',&#10;            }}&gt;&#10;                PART 03 · SUMMARY&#10;            &lt;/Text&gt;&#10;        &lt;/Box&gt;&#10;        &lt;Box style={{ flexDirection: 'row', alignItems: 'baseline', gap: 14, marginTop: 8 }}&gt;&#10;            &lt;Text style={{&#10;                fontSize: 30, fontWeight: 'bold', color: '#FFFFFF',&#10;                fontFamily: 'Noto Serif SC', letterSpacing: 1,&#10;            }}&gt;&#10;                对比总结 · 四种架构的取舍&#10;            &lt;/Text&gt;&#10;            &lt;Text style={{&#10;                fontSize: 16, fontStyle: 'italic', color: 'rgba(255, 255, 255, 0.70)',&#10;                fontFamily: 'Crimson Pro, serif',&#10;            }}&gt;&#10;                Trade-offs across Four Architectures&#10;            &lt;/Text&gt;&#10;        &lt;/Box&gt;&#10;    &lt;/Box&gt;&#10;&#10;    {/* 对比表 */}&#10;    &lt;Box style={{&#10;        position: 'absolute', top: 148, left: 40, width: 1200, height: 410,&#10;        borderRadius: 12, overflow: 'hidden',&#10;        border: '1px solid rgba(255, 255, 255, 0.16)',&#10;    }}&gt;&#10;        &lt;Table&#10;            style={{ width: '100%', height: '100%' }}&#10;            defaultTextStyle={{ fontSize: 14.5, textAlign: 'center', color: 'rgba(255, 255, 255, 0.88)' }}&#10;            defaultCellStyle={{&#10;                border: {&#10;                    left: { width: 1, color: 'rgba(255, 255, 255, 0.12)' },&#10;                    right: { width: 1, color: 'rgba(255, 255, 255, 0.12)' },&#10;                    top: { width: 1, color: 'rgba(255, 255, 255, 0.12)' },&#10;                    bottom: { width: 1, color: 'rgba(255, 255, 255, 0.12)' },&#10;                },&#10;            }}&#10;            cells={[&#10;                [&#10;                    { text: '维度 ＼ 模型', textStyle: { fontSize: 15.5, bold: true, color: '#FFFFFF' }, cellStyle: { background: { color: '#1E40AF' } } },&#10;                    { text: 'RNN', textStyle: { fontSize: 16, bold: true, color: '#FFFFFF' }, cellStyle: { background: { color: '#1E40AF' } } },&#10;                    { text: 'LSTM', textStyle: { fontSize: 16, bold: true, color: '#FFFFFF' }, cellStyle: { background: { color: '#1E40AF' } } },&#10;                    { text: 'CNN', textStyle: { fontSize: 16, bold: true, color: '#FFFFFF' }, cellStyle: { background: { color: '#1E40AF' } } },&#10;                    { text: 'Transformer', textStyle: { fontSize: 16, bold: true, color: '#FFFFFF' }, cellStyle: { background: { color: '#1E40AF' } } },&#10;                ],&#10;                [&#10;                    { text: '核心机制', textStyle: { bold: true, color: '#F59E0B' }, cellStyle: { background: { color: 'rgba(255,255,255,0.05)' } } },&#10;                    { text: '时间递归 · 隐状态', cellStyle: { background: { color: 'rgba(255,255,255,0.05)' } } },&#10;                    { text: '门控 · 细胞状态', cellStyle: { background: { color: 'rgba(255,255,255,0.05)' } } },&#10;                    { text: '局部卷积 · 池化', cellStyle: { background: { color: 'rgba(255,255,255,0.05)' } } },&#10;                    { text: '自注意力 Q·K·V', cellStyle: { background: { color: 'rgba(255,255,255,0.05)' } } },&#10;                ],&#10;                [&#10;                    { text: '连接方式', textStyle: { bold: true, color: '#F59E0B' } },&#10;                    { text: '逐步串行 · 链式依赖' },&#10;                    { text: '逐步串行 · 门控选通' },&#10;                    { text: '局部连接 · 层次堆叠' },&#10;                    { text: '全局直连 · 全并行' },&#10;                ],&#10;                [&#10;                    { text: '长程依赖', textStyle: { bold: true, color: '#F59E0B' }, cellStyle: { background: { color: 'rgba(255,255,255,0.05)' } } },&#10;                    { text: '弱 · 梯度消失', cellStyle: { background: { color: 'rgba(255,255,255,0.05)' } } },&#10;                    { text: '较强 · 数百步', cellStyle: { background: { color: 'rgba(255,255,255,0.05)' } } },&#10;                    { text: '中 · 靠深度堆叠', cellStyle: { background: { color: 'rgba(255,255,255,0.05)' } } },&#10;                    { text: '强 · 路径 O(1)', cellStyle: { background: { color: 'rgba(255,255,255,0.05)' } } },&#10;                ],&#10;                [&#10;                    { text: '计算特性', textStyle: { bold: true, color: '#F59E0B' } },&#10;                    { text: 'O(T·d²) · 串行' },&#10;                    { text: '参数 ×4 · 串行' },&#10;                    { text: '参数少 · 可并行' },&#10;                    { text: 'O(n²·d) · 平方增长' },&#10;                ],&#10;                [&#10;                    { text: '代表工作', textStyle: { bold: true, color: '#F59E0B' }, cellStyle: { background: { color: 'rgba(255,255,255,0.05)' } } },&#10;                    { text: 'Rumelhart 1986', cellStyle: { background: { color: 'rgba(255,255,255,0.05)' } } },&#10;                    { text: 'Hochreiter 1997', cellStyle: { background: { color: 'rgba(255,255,255,0.05)' } } },&#10;                    { text: 'LeCun 1998', cellStyle: { background: { color: 'rgba(255,255,255,0.05)' } } },&#10;                    { text: 'Vaswani 2017', cellStyle: { background: { color: 'rgba(255,255,255,0.05)' } } },&#10;                ],&#10;            ]}&#10;        /&gt;&#10;    &lt;/Box&gt;&#10;&#10;    {/* 底部结论条 */}&#10;    &lt;Box style={{&#10;        position: 'absolute', top: 578, left: 40, width: 1200, height: 72,&#10;        background: 'rgba(255, 255, 255, 0.08)', borderRadius: 8,&#10;        borderLeft: '4px solid #F59E0B',&#10;        justifyContent: 'center', paddingLeft: 18, paddingRight: 18,&#10;    }}&gt;&#10;        &lt;Text style={{ fontSize: 15.5, color: '#FFFFFF', lineHeight: 1.55 }}&gt;&#10;            &lt;span style={{ fontWeight: 'bold', color: '#F59E0B' }}&gt;结论：&lt;/span&gt;&#10;            没有普适最优的架构，只有与任务归纳偏置最匹配的架构——序列归纳偏 RNN / LSTM，网格局部性偏 CNN，&#10;            &lt;span style={{ fontWeight: 'bold' }}&gt;全局依赖与大规模训练偏 Transformer。&lt;/span&gt;&#10;        &lt;/Text&gt;&#10;    &lt;/Box&gt;&#10;&#10;    {/* 页脚 */}&#10;    &lt;Box style={{&#10;        position: 'absolute', top: 668, left: 40, width: 1200, height: 28,&#10;        flexDirection: 'row', justifyContent: 'space-between', alignItems: 'center',&#10;        borderTop: '1px solid rgba(255, 255, 255, 0.16)',&#10;    }}&gt;&#10;        &lt;Text style={{ fontSize: 12, color: 'rgba(255, 255, 255, 0.55)', fontFamily: 'Sarasa Gothic SC' }}&gt;&#10;            神经网络经典算法 · 学术报告讲义&#10;        &lt;/Text&gt;&#10;        &lt;Text style={{ fontSize: 13, color: 'rgba(255, 255, 255, 0.85)', fontFamily: 'Crimson Pro, serif', letterSpacing: 1 }}&gt;&#10;            07 / 08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01F52"/>
              </a:gs>
              <a:gs pos="55000">
                <a:srgbClr val="15296D"/>
              </a:gs>
              <a:gs pos="100000">
                <a:srgbClr val="1E3A8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381000" y="381000"/>
            <a:ext cx="76200" cy="76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52450" y="342900"/>
            <a:ext cx="1876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F59E0B"/>
                </a:solidFill>
                <a:latin typeface="Crimson Pro"/>
                <a:ea typeface="Crimson Pro"/>
              </a:rPr>
              <a:t>PART 03 · SUMMARY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381000" y="571500"/>
            <a:ext cx="35528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 spc="75">
                <a:solidFill>
                  <a:srgbClr val="FFFFFF"/>
                </a:solidFill>
                <a:latin typeface="Noto Serif SC"/>
                <a:ea typeface="Noto Serif SC"/>
              </a:rPr>
              <a:t>对比总结</a:t>
            </a:r>
            <a:r>
              <a:rPr lang="en-US" sz="2250" b="1" spc="75">
                <a:solidFill>
                  <a:srgbClr val="FFFFFF"/>
                </a:solidFill>
                <a:latin typeface="Noto Serif SC"/>
                <a:ea typeface="Noto Serif SC"/>
              </a:rPr>
              <a:t xml:space="preserve"> · </a:t>
            </a:r>
            <a:r>
              <a:rPr lang="zh-CN" sz="2250" b="1" spc="75">
                <a:solidFill>
                  <a:srgbClr val="FFFFFF"/>
                </a:solidFill>
                <a:latin typeface="Noto Serif SC"/>
                <a:ea typeface="Noto Serif SC"/>
              </a:rPr>
              <a:t>四种架构的取舍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4067175" y="571500"/>
            <a:ext cx="25146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i="1">
                <a:solidFill>
                  <a:srgbClr val="FFFFFF">
                    <a:alpha val="70000"/>
                  </a:srgbClr>
                </a:solidFill>
                <a:latin typeface="Crimson Pro"/>
                <a:ea typeface="Crimson Pro"/>
              </a:rPr>
              <a:t>Trade-offs across Four Architectures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381000" y="1409700"/>
            <a:ext cx="11430000" cy="3905250"/>
          </a:xfrm>
          <a:prstGeom prst="roundRect">
            <a:avLst>
              <a:gd name="adj" fmla="val 2927"/>
            </a:avLst>
          </a:prstGeom>
          <a:ln w="12700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p/>
        </p:txBody>
      </p:sp>
      <p:graphicFrame>
        <p:nvGraphicFramePr>
          <p:cNvPr id="262" name=""/>
          <p:cNvGraphicFramePr/>
          <p:nvPr/>
        </p:nvGraphicFramePr>
        <p:xfrm rot="0" flipH="0" flipV="0">
          <a:off x="381000" y="1409700"/>
          <a:ext cx="11430000" cy="3905250"/>
        </p:xfrm>
        <a:graphic>
          <a:graphicData uri="http://schemas.openxmlformats.org/drawingml/2006/table">
            <a:tbl>
              <a:tblGrid>
                <a:gridCol w="1719841">
                  <a:extLst>
                    <a:ext uri="{9D8B030D-6E8A-4147-A177-3AD203B41FA5}">
                      <a16:colId val="1"/>
                    </a:ext>
                  </a:extLst>
                </a:gridCol>
                <a:gridCol w="2467598">
                  <a:extLst>
                    <a:ext uri="{9D8B030D-6E8A-4147-A177-3AD203B41FA5}">
                      <a16:colId val="2"/>
                    </a:ext>
                  </a:extLst>
                </a:gridCol>
                <a:gridCol w="2467598">
                  <a:extLst>
                    <a:ext uri="{9D8B030D-6E8A-4147-A177-3AD203B41FA5}">
                      <a16:colId val="3"/>
                    </a:ext>
                  </a:extLst>
                </a:gridCol>
                <a:gridCol w="2467598">
                  <a:extLst>
                    <a:ext uri="{9D8B030D-6E8A-4147-A177-3AD203B41FA5}">
                      <a16:colId val="4"/>
                    </a:ext>
                  </a:extLst>
                </a:gridCol>
                <a:gridCol w="2307364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7031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 ＼ 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RNN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LSTM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CNN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Transformer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4041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59E0B"/>
                          </a:solidFill>
                          <a:latin typeface="Microsoft YaHei"/>
                          <a:ea typeface="Microsoft YaHei"/>
                        </a:rPr>
                        <a:t>核心机制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FFFFFF">
                              <a:alpha val="88000"/>
                            </a:srgbClr>
                          </a:solidFill>
                          <a:latin typeface="Microsoft YaHei"/>
                          <a:ea typeface="Microsoft YaHei"/>
                        </a:rPr>
                        <a:t>时间递归 · 隐状态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FFFFFF">
                              <a:alpha val="88000"/>
                            </a:srgbClr>
                          </a:solidFill>
                          <a:latin typeface="Microsoft YaHei"/>
                          <a:ea typeface="Microsoft YaHei"/>
                        </a:rPr>
                        <a:t>门控 · 细胞状态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FFFFFF">
                              <a:alpha val="88000"/>
                            </a:srgbClr>
                          </a:solidFill>
                          <a:latin typeface="Microsoft YaHei"/>
                          <a:ea typeface="Microsoft YaHei"/>
                        </a:rPr>
                        <a:t>局部卷积 · 池化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FFFFFF">
                              <a:alpha val="88000"/>
                            </a:srgbClr>
                          </a:solidFill>
                          <a:latin typeface="Microsoft YaHei"/>
                          <a:ea typeface="Microsoft YaHei"/>
                        </a:rPr>
                        <a:t>自注意力 Q·K·V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4041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59E0B"/>
                          </a:solidFill>
                          <a:latin typeface="Microsoft YaHei"/>
                          <a:ea typeface="Microsoft YaHei"/>
                        </a:rPr>
                        <a:t>连接方式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FFFFFF">
                              <a:alpha val="88000"/>
                            </a:srgbClr>
                          </a:solidFill>
                          <a:latin typeface="Microsoft YaHei"/>
                          <a:ea typeface="Microsoft YaHei"/>
                        </a:rPr>
                        <a:t>逐步串行 · 链式依赖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FFFFFF">
                              <a:alpha val="88000"/>
                            </a:srgbClr>
                          </a:solidFill>
                          <a:latin typeface="Microsoft YaHei"/>
                          <a:ea typeface="Microsoft YaHei"/>
                        </a:rPr>
                        <a:t>逐步串行 · 门控选通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FFFFFF">
                              <a:alpha val="88000"/>
                            </a:srgbClr>
                          </a:solidFill>
                          <a:latin typeface="Microsoft YaHei"/>
                          <a:ea typeface="Microsoft YaHei"/>
                        </a:rPr>
                        <a:t>局部连接 · 层次堆叠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FFFFFF">
                              <a:alpha val="88000"/>
                            </a:srgbClr>
                          </a:solidFill>
                          <a:latin typeface="Microsoft YaHei"/>
                          <a:ea typeface="Microsoft YaHei"/>
                        </a:rPr>
                        <a:t>全局直连 · 全并行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4041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59E0B"/>
                          </a:solidFill>
                          <a:latin typeface="Microsoft YaHei"/>
                          <a:ea typeface="Microsoft YaHei"/>
                        </a:rPr>
                        <a:t>长程依赖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FFFFFF">
                              <a:alpha val="88000"/>
                            </a:srgbClr>
                          </a:solidFill>
                          <a:latin typeface="Microsoft YaHei"/>
                          <a:ea typeface="Microsoft YaHei"/>
                        </a:rPr>
                        <a:t>弱 · 梯度消失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FFFFFF">
                              <a:alpha val="88000"/>
                            </a:srgbClr>
                          </a:solidFill>
                          <a:latin typeface="Microsoft YaHei"/>
                          <a:ea typeface="Microsoft YaHei"/>
                        </a:rPr>
                        <a:t>较强 · 数百步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FFFFFF">
                              <a:alpha val="88000"/>
                            </a:srgbClr>
                          </a:solidFill>
                          <a:latin typeface="Microsoft YaHei"/>
                          <a:ea typeface="Microsoft YaHei"/>
                        </a:rPr>
                        <a:t>中 · 靠深度堆叠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FFFFFF">
                              <a:alpha val="88000"/>
                            </a:srgbClr>
                          </a:solidFill>
                          <a:latin typeface="Microsoft YaHei"/>
                          <a:ea typeface="Microsoft YaHei"/>
                        </a:rPr>
                        <a:t>强 · 路径 O(1)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4041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59E0B"/>
                          </a:solidFill>
                          <a:latin typeface="Microsoft YaHei"/>
                          <a:ea typeface="Microsoft YaHei"/>
                        </a:rPr>
                        <a:t>计算特性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FFFFFF">
                              <a:alpha val="88000"/>
                            </a:srgbClr>
                          </a:solidFill>
                          <a:latin typeface="Microsoft YaHei"/>
                          <a:ea typeface="Microsoft YaHei"/>
                        </a:rPr>
                        <a:t>O(T·d²) · 串行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FFFFFF">
                              <a:alpha val="88000"/>
                            </a:srgbClr>
                          </a:solidFill>
                          <a:latin typeface="Microsoft YaHei"/>
                          <a:ea typeface="Microsoft YaHei"/>
                        </a:rPr>
                        <a:t>参数 ×4 · 串行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FFFFFF">
                              <a:alpha val="88000"/>
                            </a:srgbClr>
                          </a:solidFill>
                          <a:latin typeface="Microsoft YaHei"/>
                          <a:ea typeface="Microsoft YaHei"/>
                        </a:rPr>
                        <a:t>参数少 · 可并行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FFFFFF">
                              <a:alpha val="88000"/>
                            </a:srgbClr>
                          </a:solidFill>
                          <a:latin typeface="Microsoft YaHei"/>
                          <a:ea typeface="Microsoft YaHei"/>
                        </a:rPr>
                        <a:t>O(n²·d) · 平方增长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4041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59E0B"/>
                          </a:solidFill>
                          <a:latin typeface="Microsoft YaHei"/>
                          <a:ea typeface="Microsoft YaHei"/>
                        </a:rPr>
                        <a:t>代表工作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FFFFFF">
                              <a:alpha val="88000"/>
                            </a:srgbClr>
                          </a:solidFill>
                          <a:latin typeface="Microsoft YaHei"/>
                          <a:ea typeface="Microsoft YaHei"/>
                        </a:rPr>
                        <a:t>Rumelhart 1986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FFFFFF">
                              <a:alpha val="88000"/>
                            </a:srgbClr>
                          </a:solidFill>
                          <a:latin typeface="Microsoft YaHei"/>
                          <a:ea typeface="Microsoft YaHei"/>
                        </a:rPr>
                        <a:t>Hochreiter 1997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FFFFFF">
                              <a:alpha val="88000"/>
                            </a:srgbClr>
                          </a:solidFill>
                          <a:latin typeface="Microsoft YaHei"/>
                          <a:ea typeface="Microsoft YaHei"/>
                        </a:rPr>
                        <a:t>LeCun 1998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FFFFFF">
                              <a:alpha val="88000"/>
                            </a:srgbClr>
                          </a:solidFill>
                          <a:latin typeface="Microsoft YaHei"/>
                          <a:ea typeface="Microsoft YaHei"/>
                        </a:rPr>
                        <a:t>Vaswani 2017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263" name=""/>
          <p:cNvSpPr/>
          <p:nvPr/>
        </p:nvSpPr>
        <p:spPr>
          <a:xfrm rot="0" flipH="0" flipV="0">
            <a:off x="419100" y="5505450"/>
            <a:ext cx="11391900" cy="6858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419100" y="5505450"/>
            <a:ext cx="11391900" cy="685800"/>
          </a:xfrm>
          <a:custGeom>
            <a:pathLst>
              <a:path w="1196" h="7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8"/>
                </a:lnTo>
                <a:cubicBezTo>
                  <a:pt x="4" y="70"/>
                  <a:pt x="5" y="72"/>
                  <a:pt x="7" y="72"/>
                </a:cubicBezTo>
                <a:cubicBezTo>
                  <a:pt x="3" y="72"/>
                  <a:pt x="0" y="68"/>
                  <a:pt x="0" y="6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590550" y="5715000"/>
            <a:ext cx="11049000" cy="2762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63" b="1">
                <a:solidFill>
                  <a:srgbClr val="F59E0B"/>
                </a:solidFill>
                <a:latin typeface="Sarasa Gothic SC"/>
                <a:ea typeface="Sarasa Gothic SC"/>
              </a:rPr>
              <a:t>结论：</a:t>
            </a:r>
            <a:r>
              <a:rPr lang="zh-CN" sz="1163">
                <a:solidFill>
                  <a:srgbClr val="FFFFFF"/>
                </a:solidFill>
                <a:latin typeface="Sarasa Gothic SC"/>
                <a:ea typeface="Sarasa Gothic SC"/>
              </a:rPr>
              <a:t>没有普适最优的架构，只有与任务归纳偏置最匹配的架构——序列归纳偏</a:t>
            </a:r>
            <a:r>
              <a:rPr lang="en-US" sz="1163">
                <a:solidFill>
                  <a:srgbClr val="FFFFFF"/>
                </a:solidFill>
                <a:latin typeface="Sarasa Gothic SC"/>
                <a:ea typeface="Sarasa Gothic SC"/>
              </a:rPr>
              <a:t xml:space="preserve"> RNN / LSTM</a:t>
            </a:r>
            <a:r>
              <a:rPr lang="zh-CN" sz="1163">
                <a:solidFill>
                  <a:srgbClr val="FFFFFF"/>
                </a:solidFill>
                <a:latin typeface="Sarasa Gothic SC"/>
                <a:ea typeface="Sarasa Gothic SC"/>
              </a:rPr>
              <a:t>，网格局部性偏</a:t>
            </a:r>
            <a:r>
              <a:rPr lang="en-US" sz="1163">
                <a:solidFill>
                  <a:srgbClr val="FFFFFF"/>
                </a:solidFill>
                <a:latin typeface="Sarasa Gothic SC"/>
                <a:ea typeface="Sarasa Gothic SC"/>
              </a:rPr>
              <a:t xml:space="preserve"> CNN</a:t>
            </a:r>
            <a:r>
              <a:rPr lang="zh-CN" sz="1163">
                <a:solidFill>
                  <a:srgbClr val="FFFFFF"/>
                </a:solidFill>
                <a:latin typeface="Sarasa Gothic SC"/>
                <a:ea typeface="Sarasa Gothic SC"/>
              </a:rPr>
              <a:t>，</a:t>
            </a:r>
            <a:r>
              <a:rPr lang="zh-CN" sz="1163" b="1">
                <a:solidFill>
                  <a:srgbClr val="FFFFFF"/>
                </a:solidFill>
                <a:latin typeface="Sarasa Gothic SC"/>
                <a:ea typeface="Sarasa Gothic SC"/>
              </a:rPr>
              <a:t>全局依赖与大规模训练偏</a:t>
            </a:r>
            <a:r>
              <a:rPr lang="en-US" sz="1163" b="1">
                <a:solidFill>
                  <a:srgbClr val="FFFFFF"/>
                </a:solidFill>
                <a:latin typeface="Sarasa Gothic SC"/>
                <a:ea typeface="Sarasa Gothic SC"/>
              </a:rPr>
              <a:t xml:space="preserve"> Transformer</a:t>
            </a:r>
            <a:r>
              <a:rPr lang="zh-CN" sz="1163" b="1">
                <a:solidFill>
                  <a:srgbClr val="FFFFFF"/>
                </a:solidFill>
                <a:latin typeface="Sarasa Gothic SC"/>
                <a:ea typeface="Sarasa Gothic SC"/>
              </a:rPr>
              <a:t>。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381000" y="6362700"/>
            <a:ext cx="11430000" cy="266700"/>
          </a:xfrm>
          <a:custGeom>
            <a:pathLst>
              <a:path w="1200" h="28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381000" y="6429375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5000"/>
                  </a:srgbClr>
                </a:solidFill>
                <a:latin typeface="Sarasa Gothic SC"/>
                <a:ea typeface="Sarasa Gothic SC"/>
              </a:rPr>
              <a:t>神经网络经典算法</a:t>
            </a:r>
            <a:r>
              <a:rPr lang="en-US" sz="900">
                <a:solidFill>
                  <a:srgbClr val="FFFFFF">
                    <a:alpha val="55000"/>
                  </a:srgbClr>
                </a:solidFill>
                <a:latin typeface="Sarasa Gothic SC"/>
                <a:ea typeface="Sarasa Gothic SC"/>
              </a:rPr>
              <a:t xml:space="preserve"> · </a:t>
            </a:r>
            <a:r>
              <a:rPr lang="zh-CN" sz="900">
                <a:solidFill>
                  <a:srgbClr val="FFFFFF">
                    <a:alpha val="55000"/>
                  </a:srgbClr>
                </a:solidFill>
                <a:latin typeface="Sarasa Gothic SC"/>
                <a:ea typeface="Sarasa Gothic SC"/>
              </a:rPr>
              <a:t>学术报告讲义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1334750" y="6429375"/>
            <a:ext cx="476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FFFFFF">
                    <a:alpha val="85000"/>
                  </a:srgbClr>
                </a:solidFill>
                <a:latin typeface="Crimson Pro"/>
                <a:ea typeface="Crimson Pro"/>
              </a:rPr>
              <a:t>07 / 08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0" y="0"/>
            <a:ext cx="12192000" cy="114300"/>
          </a:xfrm>
          <a:prstGeom prst="rect">
            <a:avLst/>
          </a:prstGeom>
          <a:gradFill>
            <a:gsLst>
              <a:gs pos="0">
                <a:srgbClr val="2563EB"/>
              </a:gs>
              <a:gs pos="45000">
                <a:srgbClr val="3B82F6"/>
              </a:gs>
              <a:gs pos="100000">
                <a:srgbClr val="F59E0B"/>
              </a:gs>
            </a:gsLst>
            <a:lin ang="0" scaled="1"/>
          </a:gradFill>
          <a:ln/>
        </p:spPr>
        <p:txBody>
          <a:bodyPr/>
          <a:p/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70" name="" descr="&lt;Slide style={{&#10;    width: 1280,&#10;    height: 720,&#10;    position: 'relative',&#10;    overflow: 'hidden',&#10;    background: 'linear-gradient(120deg, #15296D 0%, #1E40AF 46%, #2563EB 100%)',&#10;    fontFamily: 'Sarasa Gothic SC',&#10;    padding: 0,&#10;}}&gt;&#10;    {/* 顶部 12px 蓝→橙渐变顶栏 */}&#10;    &lt;Box style={{&#10;        position: 'absolute', top: 0, left: 0, width: 1280, height: 12,&#10;        background: 'linear-gradient(90deg, #2563EB 0%, #3B82F6 45%, #F59E0B 100%)',&#10;        zIndex: 20,&#10;    }} /&gt;&#10;&#10;    {/* 右下装饰圆环 */}&#10;    &lt;Box style={{&#10;        position: 'absolute', right: 56, bottom: 40, width: 180, height: 180,&#10;        borderRadius: 90, border: '1px solid rgba(255, 255, 255, 0.10)', zIndex: 1,&#10;    }} /&gt;&#10;    &lt;Box style={{&#10;        position: 'absolute', right: 96, bottom: 80, width: 100, height: 100,&#10;        borderRadius: 50, border: '1px solid rgba(255, 255, 255, 0.08)', zIndex: 1,&#10;    }} /&gt;&#10;&#10;    {/* 左侧致谢文字 */}&#10;    &lt;Box style={{&#10;        position: 'absolute', top: 0, left: 72, width: 560, height: 720,&#10;        display: 'flex', flexDirection: 'column', justifyContent: 'center', zIndex: 5,&#10;    }}&gt;&#10;        &lt;Box style={{ flexDirection: 'row', alignItems: 'center', gap: 10 }}&gt;&#10;            &lt;Box style={{ width: 8, height: 8, borderRadius: 4, background: '#F59E0B' }} /&gt;&#10;            &lt;Text style={{&#10;                fontSize: 14, letterSpacing: 3, color: 'rgba(255, 255, 255, 0.78)',&#10;                fontFamily: 'Crimson Pro, serif', fontWeight: 'bold',&#10;            }}&gt;&#10;                THANKS · 致谢&#10;            &lt;/Text&gt;&#10;        &lt;/Box&gt;&#10;&#10;        &lt;Text style={{&#10;            fontSize: 62, fontWeight: 'bold', color: '#FFFFFF',&#10;            fontFamily: 'Noto Serif SC', letterSpacing: 8, marginTop: 20,&#10;        }}&gt;&#10;            谢谢观看&#10;        &lt;/Text&gt;&#10;&#10;        &lt;Text style={{&#10;            fontSize: 24, fontStyle: 'italic', color: 'rgba(255, 255, 255, 0.85)',&#10;            fontFamily: 'Crimson Pro, serif', marginTop: 12, letterSpacing: 1,&#10;        }}&gt;&#10;            Thank You for Watching&#10;        &lt;/Text&gt;&#10;&#10;        &lt;Box style={{&#10;            width: 64, height: 4, background: '#F59E0B', borderRadius: 2, marginTop: 22,&#10;        }} /&gt;&#10;&#10;        &lt;Text style={{&#10;            fontSize: 16, color: 'rgba(255, 255, 255, 0.75)', lineHeight: 1.7,&#10;            fontFamily: 'Sarasa Gothic SC', marginTop: 18,&#10;        }}&gt;&#10;            四种架构，一条主线：归纳偏置的迁移仍在继续。&lt;br /&gt;&#10;            欢迎提问与讨论 · Q &amp;amp; A&#10;        &lt;/Text&gt;&#10;&#10;        &lt;Box style={{&#10;            flexDirection: 'row', alignItems: 'center', gap: 16, marginTop: 30,&#10;        }}&gt;&#10;            &lt;Text style={{&#10;                fontSize: 14, color: 'rgba(255, 255, 255, 0.66)',&#10;                fontFamily: 'Crimson Pro, serif', letterSpacing: 2,&#10;            }}&gt;&#10;                2026.10&#10;            &lt;/Text&gt;&#10;            &lt;Box style={{ width: 1, height: 14, background: 'rgba(255, 255, 255, 0.35)' }} /&gt;&#10;            &lt;Text style={{&#10;                fontSize: 13, color: 'rgba(255, 255, 255, 0.55)', fontFamily: 'Sarasa Gothic SC',&#10;            }}&gt;&#10;                公式与史实均引自各架构原始论文&#10;            &lt;/Text&gt;&#10;        &lt;/Box&gt;&#10;    &lt;/Box&gt;&#10;&#10;    {/* 右侧四模型回顾 2×2 */}&#10;    &lt;Box style={{&#10;        position: 'absolute', top: 178, left: 672, width: 536, height: 364,&#10;        flexDirection: 'row', flexWrap: 'wrap', gap: 36, zIndex: 5,&#10;    }}&gt;&#10;        &lt;Box style={{&#10;            width: 250, height: 164, borderRadius: 12,&#10;            background: 'rgba(255, 255, 255, 0.08)',&#10;            border: '1px solid rgba(255, 255, 255, 0.25)',&#10;            padding: 20, justifyContent: 'space-between',&#10;        }}&gt;&#10;            &lt;Box&gt;&#10;                &lt;Text style={{ fontSize: 20, fontWeight: 'bold', color: '#FFFFFF', fontFamily: 'Crimson Pro, serif' }}&gt;RNN&lt;/Text&gt;&#10;                &lt;Text style={{ fontSize: 13, color: 'rgba(255,255,255,0.72)', fontFamily: 'Sarasa Gothic SC', marginTop: 2 }}&gt;循环神经网络 · 1986&lt;/Text&gt;&#10;            &lt;/Box&gt;&#10;            &lt;Text style={{ fontSize: 13.5, color: 'rgba(255,255,255,0.85)', fontFamily: 'Sarasa Gothic SC', lineHeight: 1.6 }}&gt;&#10;                滚动隐状态读序列&#10;            &lt;/Text&gt;&#10;        &lt;/Box&gt;&#10;&#10;        &lt;Box style={{&#10;            width: 250, height: 164, borderRadius: 12,&#10;            background: 'rgba(255, 255, 255, 0.08)',&#10;            border: '1px solid rgba(255, 255, 255, 0.25)',&#10;            padding: 20, justifyContent: 'space-between',&#10;        }}&gt;&#10;            &lt;Box&gt;&#10;                &lt;Text style={{ fontSize: 20, fontWeight: 'bold', color: '#FFFFFF', fontFamily: 'Crimson Pro, serif' }}&gt;LSTM&lt;/Text&gt;&#10;                &lt;Text style={{ fontSize: 13, color: 'rgba(255,255,255,0.72)', fontFamily: 'Sarasa Gothic SC', marginTop: 2 }}&gt;长短期记忆 · 1997&lt;/Text&gt;&#10;            &lt;/Box&gt;&#10;            &lt;Text style={{ fontSize: 13.5, color: 'rgba(255,255,255,0.85)', fontFamily: 'Sarasa Gothic SC', lineHeight: 1.6 }}&gt;&#10;                门控守护长程信息&#10;            &lt;/Text&gt;&#10;        &lt;/Box&gt;&#10;&#10;        &lt;Box style={{&#10;            width: 250, height: 164, borderRadius: 12,&#10;            background: 'rgba(255, 255, 255, 0.08)',&#10;            border: '1px solid rgba(255, 255, 255, 0.25)',&#10;            padding: 20, justifyContent: 'space-between',&#10;        }}&gt;&#10;            &lt;Box&gt;&#10;                &lt;Text style={{ fontSize: 20, fontWeight: 'bold', color: '#FFFFFF', fontFamily: 'Crimson Pro, serif' }}&gt;CNN&lt;/Text&gt;&#10;                &lt;Text style={{ fontSize: 13, color: 'rgba(255,255,255,0.72)', fontFamily: 'Sarasa Gothic SC', marginTop: 2 }}&gt;卷积神经网络 · 1998&lt;/Text&gt;&#10;            &lt;/Box&gt;&#10;            &lt;Text style={{ fontSize: 13.5, color: 'rgba(255,255,255,0.85)', fontFamily: 'Sarasa Gothic SC', lineHeight: 1.6 }}&gt;&#10;                局部共享层次抽象&#10;            &lt;/Text&gt;&#10;        &lt;/Box&gt;&#10;&#10;        &lt;Box style={{&#10;            width: 250, height: 164, borderRadius: 12,&#10;            background: 'rgba(255, 255, 255, 0.08)',&#10;            border: '1px solid rgba(255, 255, 255, 0.25)',&#10;            padding: 20, justifyContent: 'space-between',&#10;        }}&gt;&#10;            &lt;Box&gt;&#10;                &lt;Text style={{ fontSize: 20, fontWeight: 'bold', color: '#FFFFFF', fontFamily: 'Crimson Pro, serif' }}&gt;Transformer&lt;/Text&gt;&#10;                &lt;Text style={{ fontSize: 13, color: 'rgba(255,255,255,0.72)', fontFamily: 'Sarasa Gothic SC', marginTop: 2 }}&gt;注意力架构 · 2017&lt;/Text&gt;&#10;            &lt;/Box&gt;&#10;            &lt;Text style={{ fontSize: 13.5, color: 'rgba(255,255,255,0.85)', fontFamily: 'Sarasa Gothic SC', lineHeight: 1.6 }}&gt;&#10;                全局直连并行训练&#10;            &lt;/Text&gt;&#10;        &lt;/Box&gt;&#10;    &lt;/Box&gt;&#10;&#10;    {/* 页脚 */}&#10;    &lt;Box style={{&#10;        position: 'absolute', top: 668, left: 40, width: 1200, height: 28,&#10;        flexDirection: 'row', justifyContent: 'space-between', alignItems: 'center',&#10;        borderTop: '1px solid rgba(255, 255, 255, 0.16)', zIndex: 5,&#10;    }}&gt;&#10;        &lt;Text style={{ fontSize: 12, color: 'rgba(255, 255, 255, 0.55)', fontFamily: 'Sarasa Gothic SC' }}&gt;&#10;            神经网络经典算法 · 学术报告讲义&#10;        &lt;/Text&gt;&#10;        &lt;Text style={{ fontSize: 13, color: 'rgba(255, 255, 255, 0.85)', fontFamily: 'Crimson Pro, serif', letterSpacing: 1 }}&gt;&#10;            08 / 08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296D"/>
              </a:gs>
              <a:gs pos="46000">
                <a:srgbClr val="1E40AF"/>
              </a:gs>
              <a:gs pos="100000">
                <a:srgbClr val="2563EB"/>
              </a:gs>
            </a:gsLst>
            <a:lin ang="1800000" scaled="1"/>
          </a:gradFill>
          <a:ln/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9944100" y="4762500"/>
            <a:ext cx="1714500" cy="17145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10325100" y="5143500"/>
            <a:ext cx="952500" cy="9525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685800" y="2000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57250" y="1952625"/>
            <a:ext cx="132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FFFFFF">
                    <a:alpha val="78000"/>
                  </a:srgbClr>
                </a:solidFill>
                <a:latin typeface="Crimson Pro"/>
                <a:ea typeface="Crimson Pro"/>
              </a:rPr>
              <a:t xml:space="preserve">THANKS · </a:t>
            </a:r>
            <a:r>
              <a:rPr lang="zh-CN" sz="1050" b="1" spc="225">
                <a:solidFill>
                  <a:srgbClr val="FFFFFF">
                    <a:alpha val="78000"/>
                  </a:srgbClr>
                </a:solidFill>
                <a:latin typeface="Crimson Pro"/>
                <a:ea typeface="Crimson Pro"/>
              </a:rPr>
              <a:t>致谢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85800" y="2305050"/>
            <a:ext cx="53340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 spc="600">
                <a:solidFill>
                  <a:srgbClr val="FFFFFF"/>
                </a:solidFill>
                <a:latin typeface="Noto Serif SC"/>
                <a:ea typeface="Noto Serif SC"/>
              </a:rPr>
              <a:t>谢谢观看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85800" y="3133725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i="1" spc="75">
                <a:solidFill>
                  <a:srgbClr val="FFFFFF">
                    <a:alpha val="85000"/>
                  </a:srgbClr>
                </a:solidFill>
                <a:latin typeface="Crimson Pro"/>
                <a:ea typeface="Crimson Pro"/>
              </a:rPr>
              <a:t>Thank You for Watching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85800" y="361950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85800" y="3829050"/>
            <a:ext cx="533400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>四种架构，一条主线：归纳偏置的迁移仍在继续。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>欢迎提问与讨论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arasa Gothic SC"/>
                <a:ea typeface="Sarasa Gothic SC"/>
              </a:rPr>
              <a:t xml:space="preserve"> · Q &amp; A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685800" y="4743450"/>
            <a:ext cx="619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FFFFFF">
                    <a:alpha val="66000"/>
                  </a:srgbClr>
                </a:solidFill>
                <a:latin typeface="Crimson Pro"/>
                <a:ea typeface="Crimson Pro"/>
              </a:rPr>
              <a:t>2026.10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1457325" y="4762500"/>
            <a:ext cx="9525" cy="1333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619250" y="4752975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55000"/>
                  </a:srgbClr>
                </a:solidFill>
                <a:latin typeface="Sarasa Gothic SC"/>
                <a:ea typeface="Sarasa Gothic SC"/>
              </a:rPr>
              <a:t>公式与史实均引自各架构原始论文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6400800" y="1695450"/>
            <a:ext cx="2381250" cy="1562100"/>
          </a:xfrm>
          <a:prstGeom prst="roundRect">
            <a:avLst>
              <a:gd name="adj" fmla="val 731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591300" y="1885950"/>
            <a:ext cx="2000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Crimson Pro"/>
                <a:ea typeface="Crimson Pro"/>
              </a:rPr>
              <a:t>RNN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591300" y="2133600"/>
            <a:ext cx="2000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2000"/>
                  </a:srgbClr>
                </a:solidFill>
                <a:latin typeface="Sarasa Gothic SC"/>
                <a:ea typeface="Sarasa Gothic SC"/>
              </a:rPr>
              <a:t>循环神经网络</a:t>
            </a:r>
            <a:r>
              <a:rPr lang="en-US" sz="975">
                <a:solidFill>
                  <a:srgbClr val="FFFFFF">
                    <a:alpha val="72000"/>
                  </a:srgbClr>
                </a:solidFill>
                <a:latin typeface="Sarasa Gothic SC"/>
                <a:ea typeface="Sarasa Gothic SC"/>
              </a:rPr>
              <a:t xml:space="preserve"> · 1986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591300" y="2819400"/>
            <a:ext cx="20002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FFFFFF">
                    <a:alpha val="85000"/>
                  </a:srgbClr>
                </a:solidFill>
                <a:latin typeface="Sarasa Gothic SC"/>
                <a:ea typeface="Sarasa Gothic SC"/>
              </a:rPr>
              <a:t>滚动隐状态读序列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9124950" y="1695450"/>
            <a:ext cx="2381250" cy="1562100"/>
          </a:xfrm>
          <a:prstGeom prst="roundRect">
            <a:avLst>
              <a:gd name="adj" fmla="val 731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315450" y="1885950"/>
            <a:ext cx="2000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Crimson Pro"/>
                <a:ea typeface="Crimson Pro"/>
              </a:rPr>
              <a:t>LSTM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9315450" y="2133600"/>
            <a:ext cx="2000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2000"/>
                  </a:srgbClr>
                </a:solidFill>
                <a:latin typeface="Sarasa Gothic SC"/>
                <a:ea typeface="Sarasa Gothic SC"/>
              </a:rPr>
              <a:t>长短期记忆</a:t>
            </a:r>
            <a:r>
              <a:rPr lang="en-US" sz="975">
                <a:solidFill>
                  <a:srgbClr val="FFFFFF">
                    <a:alpha val="72000"/>
                  </a:srgbClr>
                </a:solidFill>
                <a:latin typeface="Sarasa Gothic SC"/>
                <a:ea typeface="Sarasa Gothic SC"/>
              </a:rPr>
              <a:t xml:space="preserve"> · 1997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9315450" y="2819400"/>
            <a:ext cx="20002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FFFFFF">
                    <a:alpha val="85000"/>
                  </a:srgbClr>
                </a:solidFill>
                <a:latin typeface="Sarasa Gothic SC"/>
                <a:ea typeface="Sarasa Gothic SC"/>
              </a:rPr>
              <a:t>门控守护长程信息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6400800" y="3600450"/>
            <a:ext cx="2381250" cy="1562100"/>
          </a:xfrm>
          <a:prstGeom prst="roundRect">
            <a:avLst>
              <a:gd name="adj" fmla="val 731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591300" y="3790950"/>
            <a:ext cx="2000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Crimson Pro"/>
                <a:ea typeface="Crimson Pro"/>
              </a:rPr>
              <a:t>CNN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591300" y="4038600"/>
            <a:ext cx="2000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2000"/>
                  </a:srgbClr>
                </a:solidFill>
                <a:latin typeface="Sarasa Gothic SC"/>
                <a:ea typeface="Sarasa Gothic SC"/>
              </a:rPr>
              <a:t>卷积神经网络</a:t>
            </a:r>
            <a:r>
              <a:rPr lang="en-US" sz="975">
                <a:solidFill>
                  <a:srgbClr val="FFFFFF">
                    <a:alpha val="72000"/>
                  </a:srgbClr>
                </a:solidFill>
                <a:latin typeface="Sarasa Gothic SC"/>
                <a:ea typeface="Sarasa Gothic SC"/>
              </a:rPr>
              <a:t xml:space="preserve"> · 1998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591300" y="4724400"/>
            <a:ext cx="20002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FFFFFF">
                    <a:alpha val="85000"/>
                  </a:srgbClr>
                </a:solidFill>
                <a:latin typeface="Sarasa Gothic SC"/>
                <a:ea typeface="Sarasa Gothic SC"/>
              </a:rPr>
              <a:t>局部共享层次抽象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9124950" y="3600450"/>
            <a:ext cx="2381250" cy="1562100"/>
          </a:xfrm>
          <a:prstGeom prst="roundRect">
            <a:avLst>
              <a:gd name="adj" fmla="val 731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9315450" y="3790950"/>
            <a:ext cx="2000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Crimson Pro"/>
                <a:ea typeface="Crimson Pro"/>
              </a:rPr>
              <a:t>Transformer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9315450" y="4038600"/>
            <a:ext cx="2000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2000"/>
                  </a:srgbClr>
                </a:solidFill>
                <a:latin typeface="Sarasa Gothic SC"/>
                <a:ea typeface="Sarasa Gothic SC"/>
              </a:rPr>
              <a:t>注意力架构</a:t>
            </a:r>
            <a:r>
              <a:rPr lang="en-US" sz="975">
                <a:solidFill>
                  <a:srgbClr val="FFFFFF">
                    <a:alpha val="72000"/>
                  </a:srgbClr>
                </a:solidFill>
                <a:latin typeface="Sarasa Gothic SC"/>
                <a:ea typeface="Sarasa Gothic SC"/>
              </a:rPr>
              <a:t xml:space="preserve"> · 2017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9315450" y="4724400"/>
            <a:ext cx="20002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FFFFFF">
                    <a:alpha val="85000"/>
                  </a:srgbClr>
                </a:solidFill>
                <a:latin typeface="Sarasa Gothic SC"/>
                <a:ea typeface="Sarasa Gothic SC"/>
              </a:rPr>
              <a:t>全局直连并行训练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381000" y="6362700"/>
            <a:ext cx="11430000" cy="266700"/>
          </a:xfrm>
          <a:custGeom>
            <a:pathLst>
              <a:path w="1200" h="28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381000" y="6429375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5000"/>
                  </a:srgbClr>
                </a:solidFill>
                <a:latin typeface="Sarasa Gothic SC"/>
                <a:ea typeface="Sarasa Gothic SC"/>
              </a:rPr>
              <a:t>神经网络经典算法</a:t>
            </a:r>
            <a:r>
              <a:rPr lang="en-US" sz="900">
                <a:solidFill>
                  <a:srgbClr val="FFFFFF">
                    <a:alpha val="55000"/>
                  </a:srgbClr>
                </a:solidFill>
                <a:latin typeface="Sarasa Gothic SC"/>
                <a:ea typeface="Sarasa Gothic SC"/>
              </a:rPr>
              <a:t xml:space="preserve"> · </a:t>
            </a:r>
            <a:r>
              <a:rPr lang="zh-CN" sz="900">
                <a:solidFill>
                  <a:srgbClr val="FFFFFF">
                    <a:alpha val="55000"/>
                  </a:srgbClr>
                </a:solidFill>
                <a:latin typeface="Sarasa Gothic SC"/>
                <a:ea typeface="Sarasa Gothic SC"/>
              </a:rPr>
              <a:t>学术报告讲义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1325225" y="642937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FFFFFF">
                    <a:alpha val="85000"/>
                  </a:srgbClr>
                </a:solidFill>
                <a:latin typeface="Crimson Pro"/>
                <a:ea typeface="Crimson Pro"/>
              </a:rPr>
              <a:t>08 / 08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0" y="0"/>
            <a:ext cx="12192000" cy="114300"/>
          </a:xfrm>
          <a:prstGeom prst="rect">
            <a:avLst/>
          </a:prstGeom>
          <a:gradFill>
            <a:gsLst>
              <a:gs pos="0">
                <a:srgbClr val="2563EB"/>
              </a:gs>
              <a:gs pos="45000">
                <a:srgbClr val="3B82F6"/>
              </a:gs>
              <a:gs pos="100000">
                <a:srgbClr val="F59E0B"/>
              </a:gs>
            </a:gsLst>
            <a:lin ang="0" scaled="1"/>
          </a:gra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2026-10-21T01:08:08Z</dcterms:created>
  <dcterms:modified xsi:type="dcterms:W3CDTF">2026-10-21T01:08:08Z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{"AIGC":{"Label":"1","ContentProducer":"00119111010856365494821B355","ProduceID":"01a15a0cc5857d10bac8ca6d6accdae1","ReservedCode1":"","ContentPropagator":"00119111010856365494821B355","PropagateID":"01a15a0cc5857d10bac8ca6d6accdae1","ReservedCode2":""}}</vt:lpwstr>
  </property>
</Properties>
</file>